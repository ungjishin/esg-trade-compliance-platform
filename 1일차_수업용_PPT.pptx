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288" y="-5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65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찬우 윤" userId="dd58743bea86fe39" providerId="LiveId" clId="{B9AD6FE2-235B-4688-AE4E-4152D3D2DB21}"/>
    <pc:docChg chg="undo custSel modSld">
      <pc:chgData name="찬우 윤" userId="dd58743bea86fe39" providerId="LiveId" clId="{B9AD6FE2-235B-4688-AE4E-4152D3D2DB21}" dt="2026-09-15T03:05:06.965" v="105" actId="1036"/>
      <pc:docMkLst>
        <pc:docMk/>
      </pc:docMkLst>
      <pc:sldChg chg="modSp mod">
        <pc:chgData name="찬우 윤" userId="dd58743bea86fe39" providerId="LiveId" clId="{B9AD6FE2-235B-4688-AE4E-4152D3D2DB21}" dt="2026-09-15T03:05:06.965" v="105" actId="1036"/>
        <pc:sldMkLst>
          <pc:docMk/>
          <pc:sldMk cId="0" sldId="256"/>
        </pc:sldMkLst>
        <pc:spChg chg="mod">
          <ac:chgData name="찬우 윤" userId="dd58743bea86fe39" providerId="LiveId" clId="{B9AD6FE2-235B-4688-AE4E-4152D3D2DB21}" dt="2026-09-15T03:05:06.965" v="105" actId="1036"/>
          <ac:spMkLst>
            <pc:docMk/>
            <pc:sldMk cId="0" sldId="256"/>
            <ac:spMk id="2" creationId="{00000000-0000-0000-0000-000000000000}"/>
          </ac:spMkLst>
        </pc:spChg>
      </pc:sldChg>
      <pc:sldChg chg="modSp mod">
        <pc:chgData name="찬우 윤" userId="dd58743bea86fe39" providerId="LiveId" clId="{B9AD6FE2-235B-4688-AE4E-4152D3D2DB21}" dt="2026-09-14T09:31:41.317" v="0" actId="255"/>
        <pc:sldMkLst>
          <pc:docMk/>
          <pc:sldMk cId="0" sldId="258"/>
        </pc:sldMkLst>
        <pc:spChg chg="mod">
          <ac:chgData name="찬우 윤" userId="dd58743bea86fe39" providerId="LiveId" clId="{B9AD6FE2-235B-4688-AE4E-4152D3D2DB21}" dt="2026-09-14T09:31:41.317" v="0" actId="255"/>
          <ac:spMkLst>
            <pc:docMk/>
            <pc:sldMk cId="0" sldId="258"/>
            <ac:spMk id="6" creationId="{00000000-0000-0000-0000-000000000000}"/>
          </ac:spMkLst>
        </pc:spChg>
      </pc:sldChg>
      <pc:sldChg chg="modSp mod">
        <pc:chgData name="찬우 윤" userId="dd58743bea86fe39" providerId="LiveId" clId="{B9AD6FE2-235B-4688-AE4E-4152D3D2DB21}" dt="2026-09-14T10:53:37.914" v="1" actId="255"/>
        <pc:sldMkLst>
          <pc:docMk/>
          <pc:sldMk cId="0" sldId="259"/>
        </pc:sldMkLst>
        <pc:spChg chg="mod">
          <ac:chgData name="찬우 윤" userId="dd58743bea86fe39" providerId="LiveId" clId="{B9AD6FE2-235B-4688-AE4E-4152D3D2DB21}" dt="2026-09-14T10:53:37.914" v="1" actId="255"/>
          <ac:spMkLst>
            <pc:docMk/>
            <pc:sldMk cId="0" sldId="259"/>
            <ac:spMk id="6" creationId="{00000000-0000-0000-0000-000000000000}"/>
          </ac:spMkLst>
        </pc:spChg>
      </pc:sldChg>
      <pc:sldChg chg="modSp mod">
        <pc:chgData name="찬우 윤" userId="dd58743bea86fe39" providerId="LiveId" clId="{B9AD6FE2-235B-4688-AE4E-4152D3D2DB21}" dt="2026-09-14T13:01:57.932" v="102" actId="2710"/>
        <pc:sldMkLst>
          <pc:docMk/>
          <pc:sldMk cId="0" sldId="262"/>
        </pc:sldMkLst>
        <pc:spChg chg="mod">
          <ac:chgData name="찬우 윤" userId="dd58743bea86fe39" providerId="LiveId" clId="{B9AD6FE2-235B-4688-AE4E-4152D3D2DB21}" dt="2026-09-14T13:01:57.932" v="102" actId="2710"/>
          <ac:spMkLst>
            <pc:docMk/>
            <pc:sldMk cId="0" sldId="262"/>
            <ac:spMk id="6" creationId="{00000000-0000-0000-0000-000000000000}"/>
          </ac:spMkLst>
        </pc:spChg>
      </pc:sldChg>
      <pc:sldChg chg="modSp mod">
        <pc:chgData name="찬우 윤" userId="dd58743bea86fe39" providerId="LiveId" clId="{B9AD6FE2-235B-4688-AE4E-4152D3D2DB21}" dt="2026-09-14T13:02:17.988" v="103" actId="2710"/>
        <pc:sldMkLst>
          <pc:docMk/>
          <pc:sldMk cId="0" sldId="264"/>
        </pc:sldMkLst>
        <pc:spChg chg="mod">
          <ac:chgData name="찬우 윤" userId="dd58743bea86fe39" providerId="LiveId" clId="{B9AD6FE2-235B-4688-AE4E-4152D3D2DB21}" dt="2026-09-14T13:02:17.988" v="103" actId="2710"/>
          <ac:spMkLst>
            <pc:docMk/>
            <pc:sldMk cId="0" sldId="264"/>
            <ac:spMk id="6" creationId="{00000000-0000-0000-0000-000000000000}"/>
          </ac:spMkLst>
        </pc:spChg>
      </pc:sldChg>
      <pc:sldChg chg="modSp mod">
        <pc:chgData name="찬우 윤" userId="dd58743bea86fe39" providerId="LiveId" clId="{B9AD6FE2-235B-4688-AE4E-4152D3D2DB21}" dt="2026-09-14T11:02:51.737" v="3" actId="1076"/>
        <pc:sldMkLst>
          <pc:docMk/>
          <pc:sldMk cId="0" sldId="267"/>
        </pc:sldMkLst>
        <pc:spChg chg="mod">
          <ac:chgData name="찬우 윤" userId="dd58743bea86fe39" providerId="LiveId" clId="{B9AD6FE2-235B-4688-AE4E-4152D3D2DB21}" dt="2026-09-14T11:02:51.737" v="3" actId="1076"/>
          <ac:spMkLst>
            <pc:docMk/>
            <pc:sldMk cId="0" sldId="267"/>
            <ac:spMk id="6" creationId="{00000000-0000-0000-0000-000000000000}"/>
          </ac:spMkLst>
        </pc:spChg>
      </pc:sldChg>
      <pc:sldChg chg="modSp mod">
        <pc:chgData name="찬우 윤" userId="dd58743bea86fe39" providerId="LiveId" clId="{B9AD6FE2-235B-4688-AE4E-4152D3D2DB21}" dt="2026-09-14T11:11:30.477" v="4" actId="2710"/>
        <pc:sldMkLst>
          <pc:docMk/>
          <pc:sldMk cId="0" sldId="269"/>
        </pc:sldMkLst>
        <pc:spChg chg="mod">
          <ac:chgData name="찬우 윤" userId="dd58743bea86fe39" providerId="LiveId" clId="{B9AD6FE2-235B-4688-AE4E-4152D3D2DB21}" dt="2026-09-14T11:11:30.477" v="4" actId="2710"/>
          <ac:spMkLst>
            <pc:docMk/>
            <pc:sldMk cId="0" sldId="269"/>
            <ac:spMk id="5" creationId="{00000000-0000-0000-0000-000000000000}"/>
          </ac:spMkLst>
        </pc:spChg>
      </pc:sldChg>
      <pc:sldChg chg="modSp mod">
        <pc:chgData name="찬우 윤" userId="dd58743bea86fe39" providerId="LiveId" clId="{B9AD6FE2-235B-4688-AE4E-4152D3D2DB21}" dt="2026-09-14T11:13:15.052" v="6" actId="2710"/>
        <pc:sldMkLst>
          <pc:docMk/>
          <pc:sldMk cId="0" sldId="270"/>
        </pc:sldMkLst>
        <pc:spChg chg="mod">
          <ac:chgData name="찬우 윤" userId="dd58743bea86fe39" providerId="LiveId" clId="{B9AD6FE2-235B-4688-AE4E-4152D3D2DB21}" dt="2026-09-14T11:13:15.052" v="6" actId="2710"/>
          <ac:spMkLst>
            <pc:docMk/>
            <pc:sldMk cId="0" sldId="270"/>
            <ac:spMk id="6" creationId="{00000000-0000-0000-0000-000000000000}"/>
          </ac:spMkLst>
        </pc:spChg>
      </pc:sldChg>
      <pc:sldChg chg="modSp mod">
        <pc:chgData name="찬우 윤" userId="dd58743bea86fe39" providerId="LiveId" clId="{B9AD6FE2-235B-4688-AE4E-4152D3D2DB21}" dt="2026-09-14T11:50:53.561" v="85" actId="20577"/>
        <pc:sldMkLst>
          <pc:docMk/>
          <pc:sldMk cId="0" sldId="272"/>
        </pc:sldMkLst>
        <pc:spChg chg="mod">
          <ac:chgData name="찬우 윤" userId="dd58743bea86fe39" providerId="LiveId" clId="{B9AD6FE2-235B-4688-AE4E-4152D3D2DB21}" dt="2026-09-14T11:50:53.561" v="85" actId="20577"/>
          <ac:spMkLst>
            <pc:docMk/>
            <pc:sldMk cId="0" sldId="272"/>
            <ac:spMk id="5" creationId="{00000000-0000-0000-0000-000000000000}"/>
          </ac:spMkLst>
        </pc:spChg>
      </pc:sldChg>
      <pc:sldChg chg="modSp mod">
        <pc:chgData name="찬우 윤" userId="dd58743bea86fe39" providerId="LiveId" clId="{B9AD6FE2-235B-4688-AE4E-4152D3D2DB21}" dt="2026-09-14T11:45:14.630" v="8" actId="2710"/>
        <pc:sldMkLst>
          <pc:docMk/>
          <pc:sldMk cId="0" sldId="273"/>
        </pc:sldMkLst>
        <pc:spChg chg="mod">
          <ac:chgData name="찬우 윤" userId="dd58743bea86fe39" providerId="LiveId" clId="{B9AD6FE2-235B-4688-AE4E-4152D3D2DB21}" dt="2026-09-14T11:45:14.630" v="8" actId="2710"/>
          <ac:spMkLst>
            <pc:docMk/>
            <pc:sldMk cId="0" sldId="273"/>
            <ac:spMk id="5" creationId="{00000000-0000-0000-0000-000000000000}"/>
          </ac:spMkLst>
        </pc:spChg>
      </pc:sldChg>
      <pc:sldChg chg="modSp mod">
        <pc:chgData name="찬우 윤" userId="dd58743bea86fe39" providerId="LiveId" clId="{B9AD6FE2-235B-4688-AE4E-4152D3D2DB21}" dt="2026-09-14T11:45:23.726" v="9" actId="2710"/>
        <pc:sldMkLst>
          <pc:docMk/>
          <pc:sldMk cId="0" sldId="274"/>
        </pc:sldMkLst>
        <pc:spChg chg="mod">
          <ac:chgData name="찬우 윤" userId="dd58743bea86fe39" providerId="LiveId" clId="{B9AD6FE2-235B-4688-AE4E-4152D3D2DB21}" dt="2026-09-14T11:45:23.726" v="9" actId="2710"/>
          <ac:spMkLst>
            <pc:docMk/>
            <pc:sldMk cId="0" sldId="274"/>
            <ac:spMk id="5" creationId="{00000000-0000-0000-0000-000000000000}"/>
          </ac:spMkLst>
        </pc:spChg>
      </pc:sldChg>
      <pc:sldChg chg="modSp mod">
        <pc:chgData name="찬우 윤" userId="dd58743bea86fe39" providerId="LiveId" clId="{B9AD6FE2-235B-4688-AE4E-4152D3D2DB21}" dt="2026-09-14T12:08:58.860" v="86" actId="14734"/>
        <pc:sldMkLst>
          <pc:docMk/>
          <pc:sldMk cId="0" sldId="278"/>
        </pc:sldMkLst>
        <pc:graphicFrameChg chg="modGraphic">
          <ac:chgData name="찬우 윤" userId="dd58743bea86fe39" providerId="LiveId" clId="{B9AD6FE2-235B-4688-AE4E-4152D3D2DB21}" dt="2026-09-14T12:08:58.860" v="86" actId="14734"/>
          <ac:graphicFrameMkLst>
            <pc:docMk/>
            <pc:sldMk cId="0" sldId="278"/>
            <ac:graphicFrameMk id="24" creationId="{00000000-0000-0000-0000-000000000000}"/>
          </ac:graphicFrameMkLst>
        </pc:graphicFrameChg>
      </pc:sldChg>
      <pc:sldChg chg="modSp mod">
        <pc:chgData name="찬우 윤" userId="dd58743bea86fe39" providerId="LiveId" clId="{B9AD6FE2-235B-4688-AE4E-4152D3D2DB21}" dt="2026-09-14T12:10:24.911" v="87" actId="2710"/>
        <pc:sldMkLst>
          <pc:docMk/>
          <pc:sldMk cId="0" sldId="279"/>
        </pc:sldMkLst>
        <pc:spChg chg="mod">
          <ac:chgData name="찬우 윤" userId="dd58743bea86fe39" providerId="LiveId" clId="{B9AD6FE2-235B-4688-AE4E-4152D3D2DB21}" dt="2026-09-14T12:10:24.911" v="87" actId="2710"/>
          <ac:spMkLst>
            <pc:docMk/>
            <pc:sldMk cId="0" sldId="279"/>
            <ac:spMk id="5" creationId="{00000000-0000-0000-0000-000000000000}"/>
          </ac:spMkLst>
        </pc:spChg>
      </pc:sldChg>
      <pc:sldChg chg="modSp mod">
        <pc:chgData name="찬우 윤" userId="dd58743bea86fe39" providerId="LiveId" clId="{B9AD6FE2-235B-4688-AE4E-4152D3D2DB21}" dt="2026-09-14T12:34:48.687" v="88" actId="2710"/>
        <pc:sldMkLst>
          <pc:docMk/>
          <pc:sldMk cId="0" sldId="281"/>
        </pc:sldMkLst>
        <pc:spChg chg="mod">
          <ac:chgData name="찬우 윤" userId="dd58743bea86fe39" providerId="LiveId" clId="{B9AD6FE2-235B-4688-AE4E-4152D3D2DB21}" dt="2026-09-14T12:34:48.687" v="88" actId="2710"/>
          <ac:spMkLst>
            <pc:docMk/>
            <pc:sldMk cId="0" sldId="281"/>
            <ac:spMk id="8" creationId="{00000000-0000-0000-0000-000000000000}"/>
          </ac:spMkLst>
        </pc:spChg>
      </pc:sldChg>
      <pc:sldChg chg="modSp mod">
        <pc:chgData name="찬우 윤" userId="dd58743bea86fe39" providerId="LiveId" clId="{B9AD6FE2-235B-4688-AE4E-4152D3D2DB21}" dt="2026-09-14T12:35:03.967" v="90" actId="2710"/>
        <pc:sldMkLst>
          <pc:docMk/>
          <pc:sldMk cId="0" sldId="282"/>
        </pc:sldMkLst>
        <pc:spChg chg="mod">
          <ac:chgData name="찬우 윤" userId="dd58743bea86fe39" providerId="LiveId" clId="{B9AD6FE2-235B-4688-AE4E-4152D3D2DB21}" dt="2026-09-14T12:34:59.608" v="89" actId="2710"/>
          <ac:spMkLst>
            <pc:docMk/>
            <pc:sldMk cId="0" sldId="282"/>
            <ac:spMk id="8" creationId="{00000000-0000-0000-0000-000000000000}"/>
          </ac:spMkLst>
        </pc:spChg>
        <pc:spChg chg="mod">
          <ac:chgData name="찬우 윤" userId="dd58743bea86fe39" providerId="LiveId" clId="{B9AD6FE2-235B-4688-AE4E-4152D3D2DB21}" dt="2026-09-14T12:35:03.967" v="90" actId="2710"/>
          <ac:spMkLst>
            <pc:docMk/>
            <pc:sldMk cId="0" sldId="282"/>
            <ac:spMk id="12" creationId="{00000000-0000-0000-0000-000000000000}"/>
          </ac:spMkLst>
        </pc:spChg>
      </pc:sldChg>
      <pc:sldChg chg="modSp mod">
        <pc:chgData name="찬우 윤" userId="dd58743bea86fe39" providerId="LiveId" clId="{B9AD6FE2-235B-4688-AE4E-4152D3D2DB21}" dt="2026-09-14T12:42:19.217" v="92" actId="2710"/>
        <pc:sldMkLst>
          <pc:docMk/>
          <pc:sldMk cId="0" sldId="283"/>
        </pc:sldMkLst>
        <pc:spChg chg="mod">
          <ac:chgData name="찬우 윤" userId="dd58743bea86fe39" providerId="LiveId" clId="{B9AD6FE2-235B-4688-AE4E-4152D3D2DB21}" dt="2026-09-14T12:42:09.502" v="91" actId="2710"/>
          <ac:spMkLst>
            <pc:docMk/>
            <pc:sldMk cId="0" sldId="283"/>
            <ac:spMk id="7" creationId="{00000000-0000-0000-0000-000000000000}"/>
          </ac:spMkLst>
        </pc:spChg>
        <pc:spChg chg="mod">
          <ac:chgData name="찬우 윤" userId="dd58743bea86fe39" providerId="LiveId" clId="{B9AD6FE2-235B-4688-AE4E-4152D3D2DB21}" dt="2026-09-14T12:42:19.217" v="92" actId="2710"/>
          <ac:spMkLst>
            <pc:docMk/>
            <pc:sldMk cId="0" sldId="283"/>
            <ac:spMk id="8" creationId="{00000000-0000-0000-0000-000000000000}"/>
          </ac:spMkLst>
        </pc:spChg>
      </pc:sldChg>
      <pc:sldChg chg="modSp mod">
        <pc:chgData name="찬우 윤" userId="dd58743bea86fe39" providerId="LiveId" clId="{B9AD6FE2-235B-4688-AE4E-4152D3D2DB21}" dt="2026-09-14T12:51:27.099" v="93" actId="2710"/>
        <pc:sldMkLst>
          <pc:docMk/>
          <pc:sldMk cId="0" sldId="287"/>
        </pc:sldMkLst>
        <pc:spChg chg="mod">
          <ac:chgData name="찬우 윤" userId="dd58743bea86fe39" providerId="LiveId" clId="{B9AD6FE2-235B-4688-AE4E-4152D3D2DB21}" dt="2026-09-14T12:51:27.099" v="93" actId="2710"/>
          <ac:spMkLst>
            <pc:docMk/>
            <pc:sldMk cId="0" sldId="287"/>
            <ac:spMk id="6" creationId="{00000000-0000-0000-0000-000000000000}"/>
          </ac:spMkLst>
        </pc:spChg>
      </pc:sldChg>
      <pc:sldChg chg="modSp mod">
        <pc:chgData name="찬우 윤" userId="dd58743bea86fe39" providerId="LiveId" clId="{B9AD6FE2-235B-4688-AE4E-4152D3D2DB21}" dt="2026-09-14T12:54:38.777" v="94" actId="2710"/>
        <pc:sldMkLst>
          <pc:docMk/>
          <pc:sldMk cId="0" sldId="290"/>
        </pc:sldMkLst>
        <pc:spChg chg="mod">
          <ac:chgData name="찬우 윤" userId="dd58743bea86fe39" providerId="LiveId" clId="{B9AD6FE2-235B-4688-AE4E-4152D3D2DB21}" dt="2026-09-14T12:54:38.777" v="94" actId="2710"/>
          <ac:spMkLst>
            <pc:docMk/>
            <pc:sldMk cId="0" sldId="290"/>
            <ac:spMk id="5" creationId="{00000000-0000-0000-0000-000000000000}"/>
          </ac:spMkLst>
        </pc:spChg>
      </pc:sldChg>
      <pc:sldChg chg="modSp mod">
        <pc:chgData name="찬우 윤" userId="dd58743bea86fe39" providerId="LiveId" clId="{B9AD6FE2-235B-4688-AE4E-4152D3D2DB21}" dt="2026-09-14T12:54:50.801" v="95" actId="2710"/>
        <pc:sldMkLst>
          <pc:docMk/>
          <pc:sldMk cId="0" sldId="291"/>
        </pc:sldMkLst>
        <pc:spChg chg="mod">
          <ac:chgData name="찬우 윤" userId="dd58743bea86fe39" providerId="LiveId" clId="{B9AD6FE2-235B-4688-AE4E-4152D3D2DB21}" dt="2026-09-14T12:54:50.801" v="95" actId="2710"/>
          <ac:spMkLst>
            <pc:docMk/>
            <pc:sldMk cId="0" sldId="291"/>
            <ac:spMk id="5" creationId="{00000000-0000-0000-0000-000000000000}"/>
          </ac:spMkLst>
        </pc:spChg>
      </pc:sldChg>
      <pc:sldChg chg="modSp mod">
        <pc:chgData name="찬우 윤" userId="dd58743bea86fe39" providerId="LiveId" clId="{B9AD6FE2-235B-4688-AE4E-4152D3D2DB21}" dt="2026-09-14T12:55:02.433" v="96" actId="2710"/>
        <pc:sldMkLst>
          <pc:docMk/>
          <pc:sldMk cId="0" sldId="292"/>
        </pc:sldMkLst>
        <pc:spChg chg="mod">
          <ac:chgData name="찬우 윤" userId="dd58743bea86fe39" providerId="LiveId" clId="{B9AD6FE2-235B-4688-AE4E-4152D3D2DB21}" dt="2026-09-14T12:55:02.433" v="96" actId="2710"/>
          <ac:spMkLst>
            <pc:docMk/>
            <pc:sldMk cId="0" sldId="292"/>
            <ac:spMk id="5" creationId="{00000000-0000-0000-0000-000000000000}"/>
          </ac:spMkLst>
        </pc:spChg>
      </pc:sldChg>
      <pc:sldChg chg="modSp mod">
        <pc:chgData name="찬우 윤" userId="dd58743bea86fe39" providerId="LiveId" clId="{B9AD6FE2-235B-4688-AE4E-4152D3D2DB21}" dt="2026-09-14T12:55:09.522" v="97" actId="2710"/>
        <pc:sldMkLst>
          <pc:docMk/>
          <pc:sldMk cId="0" sldId="293"/>
        </pc:sldMkLst>
        <pc:spChg chg="mod">
          <ac:chgData name="찬우 윤" userId="dd58743bea86fe39" providerId="LiveId" clId="{B9AD6FE2-235B-4688-AE4E-4152D3D2DB21}" dt="2026-09-14T12:55:09.522" v="97" actId="2710"/>
          <ac:spMkLst>
            <pc:docMk/>
            <pc:sldMk cId="0" sldId="293"/>
            <ac:spMk id="5" creationId="{00000000-0000-0000-0000-000000000000}"/>
          </ac:spMkLst>
        </pc:spChg>
      </pc:sldChg>
      <pc:sldChg chg="modSp mod">
        <pc:chgData name="찬우 윤" userId="dd58743bea86fe39" providerId="LiveId" clId="{B9AD6FE2-235B-4688-AE4E-4152D3D2DB21}" dt="2026-09-14T12:55:23.846" v="98" actId="2710"/>
        <pc:sldMkLst>
          <pc:docMk/>
          <pc:sldMk cId="0" sldId="294"/>
        </pc:sldMkLst>
        <pc:spChg chg="mod">
          <ac:chgData name="찬우 윤" userId="dd58743bea86fe39" providerId="LiveId" clId="{B9AD6FE2-235B-4688-AE4E-4152D3D2DB21}" dt="2026-09-14T12:55:23.846" v="98" actId="2710"/>
          <ac:spMkLst>
            <pc:docMk/>
            <pc:sldMk cId="0" sldId="294"/>
            <ac:spMk id="5" creationId="{00000000-0000-0000-0000-000000000000}"/>
          </ac:spMkLst>
        </pc:spChg>
      </pc:sldChg>
      <pc:sldChg chg="modSp mod">
        <pc:chgData name="찬우 윤" userId="dd58743bea86fe39" providerId="LiveId" clId="{B9AD6FE2-235B-4688-AE4E-4152D3D2DB21}" dt="2026-09-14T12:55:30.552" v="99" actId="2710"/>
        <pc:sldMkLst>
          <pc:docMk/>
          <pc:sldMk cId="0" sldId="295"/>
        </pc:sldMkLst>
        <pc:spChg chg="mod">
          <ac:chgData name="찬우 윤" userId="dd58743bea86fe39" providerId="LiveId" clId="{B9AD6FE2-235B-4688-AE4E-4152D3D2DB21}" dt="2026-09-14T12:55:30.552" v="99" actId="2710"/>
          <ac:spMkLst>
            <pc:docMk/>
            <pc:sldMk cId="0" sldId="295"/>
            <ac:spMk id="6" creationId="{00000000-0000-0000-0000-000000000000}"/>
          </ac:spMkLst>
        </pc:spChg>
      </pc:sldChg>
      <pc:sldChg chg="modSp mod">
        <pc:chgData name="찬우 윤" userId="dd58743bea86fe39" providerId="LiveId" clId="{B9AD6FE2-235B-4688-AE4E-4152D3D2DB21}" dt="2026-09-14T12:55:43.916" v="100" actId="2710"/>
        <pc:sldMkLst>
          <pc:docMk/>
          <pc:sldMk cId="0" sldId="298"/>
        </pc:sldMkLst>
        <pc:spChg chg="mod">
          <ac:chgData name="찬우 윤" userId="dd58743bea86fe39" providerId="LiveId" clId="{B9AD6FE2-235B-4688-AE4E-4152D3D2DB21}" dt="2026-09-14T12:55:43.916" v="100" actId="2710"/>
          <ac:spMkLst>
            <pc:docMk/>
            <pc:sldMk cId="0" sldId="298"/>
            <ac:spMk id="5" creationId="{00000000-0000-0000-0000-000000000000}"/>
          </ac:spMkLst>
        </pc:spChg>
      </pc:sldChg>
      <pc:sldChg chg="modSp mod">
        <pc:chgData name="찬우 윤" userId="dd58743bea86fe39" providerId="LiveId" clId="{B9AD6FE2-235B-4688-AE4E-4152D3D2DB21}" dt="2026-09-14T12:55:56.104" v="101" actId="2710"/>
        <pc:sldMkLst>
          <pc:docMk/>
          <pc:sldMk cId="0" sldId="301"/>
        </pc:sldMkLst>
        <pc:spChg chg="mod">
          <ac:chgData name="찬우 윤" userId="dd58743bea86fe39" providerId="LiveId" clId="{B9AD6FE2-235B-4688-AE4E-4152D3D2DB21}" dt="2026-09-14T12:55:56.104" v="101" actId="2710"/>
          <ac:spMkLst>
            <pc:docMk/>
            <pc:sldMk cId="0" sldId="301"/>
            <ac:spMk id="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70728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1084"/>
            <a:ext cx="12191695" cy="68580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9265615" y="-1463040"/>
            <a:ext cx="3840480" cy="3840480"/>
          </a:xfrm>
          <a:prstGeom prst="ellipse">
            <a:avLst/>
          </a:prstGeom>
          <a:solidFill>
            <a:srgbClr val="1320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0728655" y="4663440"/>
            <a:ext cx="2743200" cy="2743200"/>
          </a:xfrm>
          <a:prstGeom prst="ellipse">
            <a:avLst/>
          </a:prstGeom>
          <a:solidFill>
            <a:srgbClr val="3E5C86">
              <a:alpha val="4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8E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생성형 AI 기반 무역 컴플라이언스 및 관세·ESG 리스크 최적화 과정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9875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1일차. 생성형 AI 컴플라이언스 활용 및</a:t>
            </a:r>
            <a:endParaRPr lang="en-US" sz="3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글로벌 규제 데이터 탐색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548640" y="361188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8EEF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CoT 프롬프트로 규제 원문을 해석하고, Orange3로 자동화 에이전트를 조립한다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4709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7E3F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이론 강의 + 실습 가이드 · 수업용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6080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C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교 육 교 재  ·  수업용 강의자료(PPT)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480560"/>
            <a:ext cx="4023360" cy="4023360"/>
          </a:xfrm>
          <a:prstGeom prst="ellipse">
            <a:avLst/>
          </a:prstGeom>
          <a:solidFill>
            <a:srgbClr val="1320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9997135" y="-1828800"/>
            <a:ext cx="3291840" cy="3291840"/>
          </a:xfrm>
          <a:prstGeom prst="ellipse">
            <a:avLst/>
          </a:prstGeom>
          <a:solidFill>
            <a:srgbClr val="3E5C86">
              <a:alpha val="4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8E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0장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288036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교육과정 개요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4160520"/>
            <a:ext cx="9875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EEF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배경·목표·현장조사 요약 및 설계 주안점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생성형 AI 기반 무역 컴플라이언스 및 관세·ESG 리스크 최적화 과정  ·  1일차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/home/claude/day1_ppt/icons/glo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41" y="530901"/>
            <a:ext cx="419527" cy="4195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3891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8E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0.1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714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교육과정 배경 및 목적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1536192"/>
            <a:ext cx="11094415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3341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EU 탄소국경조정제도(CBAM)와 공급망 실사·ESG 공시 의무화 등 글로벌 통상 규제가 빠르게 고도화되면서, 방대한 규제 텍스트·통관 서류를 신속·정확히 처리하는 역량이 요구됨</a:t>
            </a:r>
            <a:endParaRPr lang="en-US" sz="20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3341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생성형 AI를 활용해 HS Code·EU CBAM 등 파편화된 글로벌 규제 텍스트를 신속히 압축·자산화하고, 서류 검증 시간을 획기적으로 단축하는 실무 역량 배양이 목적</a:t>
            </a:r>
            <a:endParaRPr lang="en-US" sz="2000" dirty="0"/>
          </a:p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2000" b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6일 48시간 과정 수료 시 도달 목표</a:t>
            </a:r>
            <a:endParaRPr lang="en-US" sz="20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2000" dirty="0">
                <a:solidFill>
                  <a:srgbClr val="3341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통관 서류 오기를 AI로 교차 검증하는 파이프라인을 스스로 구축하고, 글로벌 표준 양식의 ESG 실사 보고서를 자동 생성할 수 있는 수준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생성형 AI 기반 무역 컴플라이언스 및 관세·ESG 리스크 최적화 과정  ·  1일차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/home/claude/day1_ppt/icons/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41" y="530901"/>
            <a:ext cx="419527" cy="4195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3891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8E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0.2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714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교육목표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1536192"/>
            <a:ext cx="11094415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dirty="0">
                <a:solidFill>
                  <a:srgbClr val="3341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관세청 품목분류(HS Code), EU CBAM 등 파편화된 글로벌 규제 텍스트를 AI로 신속 압축·자산화한다</a:t>
            </a:r>
            <a:endParaRPr lang="en-US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dirty="0">
                <a:solidFill>
                  <a:srgbClr val="3341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기술적 세관 심사 등 돌발 시나리오에 대응하는 SOP(표준운영절차)를 수립하고, 서류 검증 시간 80% 단축 등 정량적 KPI를 반영한 실무 솔루션 도입 기획안을 마련한다</a:t>
            </a:r>
            <a:endParaRPr lang="en-US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dirty="0">
                <a:solidFill>
                  <a:srgbClr val="3341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통관 서류(Invoice, Packing List 등) 간의 오기를 AI 검증으로 교차 검증하는 파이프라인을 구축하고, 글로벌 표준 양식의 ESG 실사 보고서 자동 생성 역량을 갖춘다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생성형 AI 기반 무역 컴플라이언스 및 관세·ESG 리스크 최적화 과정  ·  1일차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/home/claude/day1_ppt/icons/bar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41" y="530901"/>
            <a:ext cx="419527" cy="4195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3891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8E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0.3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714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산업현장조사 요약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3515258" cy="4343400"/>
          </a:xfrm>
          <a:prstGeom prst="roundRect">
            <a:avLst>
              <a:gd name="adj" fmla="val 2081"/>
            </a:avLst>
          </a:prstGeom>
          <a:solidFill>
            <a:srgbClr val="E8EE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3515258" cy="566928"/>
          </a:xfrm>
          <a:prstGeom prst="roundRect">
            <a:avLst>
              <a:gd name="adj" fmla="val 12903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713232" y="1600200"/>
            <a:ext cx="318607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8E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①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13232" y="2313432"/>
            <a:ext cx="318607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글로벌 통상규제 고도화 및 ESG 의무화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13232" y="2971800"/>
            <a:ext cx="3186074" cy="2807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41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EU CSRD 발효로 대기업 공급망 내 중소·중견기업까지 Scope 3 데이터 확보 요구 확산. 철강·알루미늄 등 6대 품목 수출기업의 탄소 배출량 보고·인증서 구매 부담 발생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338218" y="1600200"/>
            <a:ext cx="3515258" cy="4343400"/>
          </a:xfrm>
          <a:prstGeom prst="roundRect">
            <a:avLst>
              <a:gd name="adj" fmla="val 2081"/>
            </a:avLst>
          </a:prstGeom>
          <a:solidFill>
            <a:srgbClr val="E8EE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4338218" y="1600200"/>
            <a:ext cx="3515258" cy="566928"/>
          </a:xfrm>
          <a:prstGeom prst="roundRect">
            <a:avLst>
              <a:gd name="adj" fmla="val 12903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4502810" y="1600200"/>
            <a:ext cx="318607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8E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②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502810" y="2313432"/>
            <a:ext cx="318607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세관 행정의 디지털 전환(DX)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502810" y="2971800"/>
            <a:ext cx="3186074" cy="2807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41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AI·챗봇 데이터를 연계해 HS Code를 실시간 매칭하는 방향으로 세관 행정 전환. 규제 모니터링 실시간화·정형화, EU 표준 포맷 자료생성 체계 요구(레그테크 중심 대응)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8127797" y="1600200"/>
            <a:ext cx="3515258" cy="4343400"/>
          </a:xfrm>
          <a:prstGeom prst="roundRect">
            <a:avLst>
              <a:gd name="adj" fmla="val 2081"/>
            </a:avLst>
          </a:prstGeom>
          <a:solidFill>
            <a:srgbClr val="E8EE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4"/>
          <p:cNvSpPr/>
          <p:nvPr/>
        </p:nvSpPr>
        <p:spPr>
          <a:xfrm>
            <a:off x="8127797" y="1600200"/>
            <a:ext cx="3515258" cy="566928"/>
          </a:xfrm>
          <a:prstGeom prst="roundRect">
            <a:avLst>
              <a:gd name="adj" fmla="val 12903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/>
          <p:nvPr/>
        </p:nvSpPr>
        <p:spPr>
          <a:xfrm>
            <a:off x="8292389" y="1600200"/>
            <a:ext cx="318607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8E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③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8292389" y="2313432"/>
            <a:ext cx="318607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인력 공백 및 'AI Reviewer' 필요성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292389" y="2971800"/>
            <a:ext cx="3186074" cy="2807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41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무역·AI 융합 인력(약 1.2만 명) 부족, 중소기업 79%가 교육 지원 요구. EU AI Act 준수 위해 AI 생성 문서의 무결성을 최종 검증·법적 책임을 지는 'AI Reviewer' 역량 필수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생성형 AI 기반 무역 컴플라이언스 및 관세·ESG 리스크 최적화 과정  ·  1일차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/home/claude/day1_ppt/icons/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41" y="530901"/>
            <a:ext cx="419527" cy="4195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3891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8E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0.4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714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기업수요조사 요약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3515258" cy="4343400"/>
          </a:xfrm>
          <a:prstGeom prst="roundRect">
            <a:avLst>
              <a:gd name="adj" fmla="val 2081"/>
            </a:avLst>
          </a:prstGeom>
          <a:solidFill>
            <a:srgbClr val="E8EE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3515258" cy="566928"/>
          </a:xfrm>
          <a:prstGeom prst="roundRect">
            <a:avLst>
              <a:gd name="adj" fmla="val 12903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713232" y="1600200"/>
            <a:ext cx="318607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8E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①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13232" y="2313432"/>
            <a:ext cx="318607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기술적 도구 선호도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13232" y="2971800"/>
            <a:ext cx="3186074" cy="2807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41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생성형 AI 도입 기업 중 81.6%가 사용 경험 보유. 방대한 무역 법령·관세 규정·ESG 가이드라인 등 비정형 데이터 분석·리스크 추출에 최적화된 도구 사용을 희망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338218" y="1600200"/>
            <a:ext cx="3515258" cy="4343400"/>
          </a:xfrm>
          <a:prstGeom prst="roundRect">
            <a:avLst>
              <a:gd name="adj" fmla="val 2081"/>
            </a:avLst>
          </a:prstGeom>
          <a:solidFill>
            <a:srgbClr val="E8EE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4338218" y="1600200"/>
            <a:ext cx="3515258" cy="566928"/>
          </a:xfrm>
          <a:prstGeom prst="roundRect">
            <a:avLst>
              <a:gd name="adj" fmla="val 12903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4502810" y="1600200"/>
            <a:ext cx="318607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8E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②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502810" y="2313432"/>
            <a:ext cx="318607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교육 대상 및 리스크 교육수요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502810" y="2971800"/>
            <a:ext cx="3186074" cy="2807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41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교육 대상(31.9%) 및 리스크 관리(26.8%) 교육 수요가 가장 높음. 글로벌 규제가 기업 생존과 직결된 전략 리스크로 인식되고 있음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8127797" y="1600200"/>
            <a:ext cx="3515258" cy="4343400"/>
          </a:xfrm>
          <a:prstGeom prst="roundRect">
            <a:avLst>
              <a:gd name="adj" fmla="val 2081"/>
            </a:avLst>
          </a:prstGeom>
          <a:solidFill>
            <a:srgbClr val="E8EE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4"/>
          <p:cNvSpPr/>
          <p:nvPr/>
        </p:nvSpPr>
        <p:spPr>
          <a:xfrm>
            <a:off x="8127797" y="1600200"/>
            <a:ext cx="3515258" cy="566928"/>
          </a:xfrm>
          <a:prstGeom prst="roundRect">
            <a:avLst>
              <a:gd name="adj" fmla="val 12903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/>
          <p:nvPr/>
        </p:nvSpPr>
        <p:spPr>
          <a:xfrm>
            <a:off x="8292389" y="1600200"/>
            <a:ext cx="318607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8E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③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8292389" y="2313432"/>
            <a:ext cx="318607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교육 설계·운영 이슈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292389" y="2971800"/>
            <a:ext cx="3186074" cy="2807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41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업체별 평균 3.0명 참여 예상 → 소규모 단위의 자사 데이터 실습 과업 중심 Task-based 설계 필요. 현업 인력 부재(30.2%) 최소화 위해 '평일 오후(49.2%)' 시간대로 운영 배치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생성형 AI 기반 무역 컴플라이언스 및 관세·ESG 리스크 최적화 과정  ·  1일차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/home/claude/day1_ppt/icons/too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41" y="530901"/>
            <a:ext cx="419527" cy="4195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3891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8E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0.5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714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교육과정 설계 주안점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1536192"/>
            <a:ext cx="11094415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200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b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저코드·무코드 설계</a:t>
            </a:r>
            <a:endParaRPr lang="en-US" sz="1600" dirty="0"/>
          </a:p>
          <a:p>
            <a:pPr marL="0" indent="0">
              <a:lnSpc>
                <a:spcPct val="200000"/>
              </a:lnSpc>
              <a:spcAft>
                <a:spcPts val="1400"/>
              </a:spcAft>
              <a:buNone/>
            </a:pPr>
            <a:r>
              <a:rPr lang="en-US" sz="1400" dirty="0">
                <a:solidFill>
                  <a:srgbClr val="3341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비전공자 재직자를 위해 파이썬 코딩 대신 챗GPT 대화(프롬프트)와 마우스 클릭형 AI 도구(Orange3 등)를 활용</a:t>
            </a:r>
            <a:endParaRPr lang="en-US" sz="1600" dirty="0"/>
          </a:p>
          <a:p>
            <a:pPr marL="228600" indent="-228600">
              <a:lnSpc>
                <a:spcPct val="200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b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정량 성과 중심 설계</a:t>
            </a:r>
            <a:endParaRPr lang="en-US" sz="1600" dirty="0"/>
          </a:p>
          <a:p>
            <a:pPr marL="0" indent="0">
              <a:lnSpc>
                <a:spcPct val="200000"/>
              </a:lnSpc>
              <a:spcAft>
                <a:spcPts val="1400"/>
              </a:spcAft>
              <a:buNone/>
            </a:pPr>
            <a:r>
              <a:rPr lang="en-US" sz="1400" dirty="0">
                <a:solidFill>
                  <a:srgbClr val="3341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단순 학습에 그치지 않고 '서류 검증 시간 80% 단축' 등 정량적 성과 지표(KPI)와 비용 절감액을 계산하여, 사내 보고가 가능한 최종 기획서 작성 능력을 배양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5440680"/>
            <a:ext cx="11094415" cy="868680"/>
          </a:xfrm>
          <a:prstGeom prst="roundRect">
            <a:avLst>
              <a:gd name="adj" fmla="val 8421"/>
            </a:avLst>
          </a:prstGeom>
          <a:solidFill>
            <a:srgbClr val="FBEED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713232" y="5596128"/>
            <a:ext cx="548640" cy="548640"/>
          </a:xfrm>
          <a:prstGeom prst="ellipse">
            <a:avLst/>
          </a:prstGeom>
          <a:solidFill>
            <a:srgbClr val="D98E2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1" descr="/home/claude/day1_ppt/icons/alert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" y="5667451"/>
            <a:ext cx="405994" cy="40599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5513832"/>
            <a:ext cx="1004285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 설계 원칙은 1일차부터 6일차까지 전 과정에 일관되게 적용된다 — 오늘의 Orange3 실습(1.7 Step6)이 바로 그 첫 사례다.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생성형 AI 기반 무역 컴플라이언스 및 관세·ESG 리스크 최적화 과정  ·  1일차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480560"/>
            <a:ext cx="4023360" cy="4023360"/>
          </a:xfrm>
          <a:prstGeom prst="ellipse">
            <a:avLst/>
          </a:prstGeom>
          <a:solidFill>
            <a:srgbClr val="1320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9997135" y="-1828800"/>
            <a:ext cx="3291840" cy="3291840"/>
          </a:xfrm>
          <a:prstGeom prst="ellipse">
            <a:avLst/>
          </a:prstGeom>
          <a:solidFill>
            <a:srgbClr val="3E5C86">
              <a:alpha val="4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8E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1일차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288036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생성형 AI 컴플라이언스 활용 및</a:t>
            </a:r>
            <a:endParaRPr lang="en-US" sz="3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글로벌 규제 데이터 탐색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4160520"/>
            <a:ext cx="9875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EEF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이론 강의(1.3) → 실습 개요·데이터·설계(1.4~1.6) → 단계별 실습(1.7~1.10)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생성형 AI 기반 무역 컴플라이언스 및 관세·ESG 리스크 최적화 과정  ·  1일차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/home/claude/day1_ppt/icons/fl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41" y="530901"/>
            <a:ext cx="419527" cy="4195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3891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8E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1.1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714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수업 개요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1536192"/>
            <a:ext cx="11094415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200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b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수업목표</a:t>
            </a:r>
            <a:endParaRPr lang="en-US" sz="1600" dirty="0"/>
          </a:p>
          <a:p>
            <a:pPr marL="0" indent="0">
              <a:lnSpc>
                <a:spcPct val="200000"/>
              </a:lnSpc>
              <a:spcAft>
                <a:spcPts val="1400"/>
              </a:spcAft>
              <a:buNone/>
            </a:pPr>
            <a:r>
              <a:rPr lang="en-US" sz="1400" dirty="0">
                <a:solidFill>
                  <a:srgbClr val="3341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생성형 AI를 활용한 글로벌 통상 규제 해석 및 ESG 가이드라인 스크리닝 원리를 이해한다</a:t>
            </a:r>
            <a:endParaRPr lang="en-US" sz="1600" dirty="0"/>
          </a:p>
          <a:p>
            <a:pPr marL="228600" indent="-228600">
              <a:lnSpc>
                <a:spcPct val="200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b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성취기준</a:t>
            </a:r>
            <a:endParaRPr lang="en-US" sz="1600" dirty="0"/>
          </a:p>
          <a:p>
            <a:pPr marL="0" indent="0">
              <a:lnSpc>
                <a:spcPct val="200000"/>
              </a:lnSpc>
              <a:spcAft>
                <a:spcPts val="1400"/>
              </a:spcAft>
              <a:buNone/>
            </a:pPr>
            <a:r>
              <a:rPr lang="en-US" sz="1400" dirty="0">
                <a:solidFill>
                  <a:srgbClr val="3341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해외 관세법 원문에 CoT(논리적 구조화) 프롬프트를 적용하여 규정 요약본을 도출할 수 있다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5440680"/>
            <a:ext cx="11094415" cy="868680"/>
          </a:xfrm>
          <a:prstGeom prst="roundRect">
            <a:avLst>
              <a:gd name="adj" fmla="val 8421"/>
            </a:avLst>
          </a:prstGeom>
          <a:solidFill>
            <a:srgbClr val="FBEED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713232" y="5596128"/>
            <a:ext cx="548640" cy="548640"/>
          </a:xfrm>
          <a:prstGeom prst="ellipse">
            <a:avLst/>
          </a:prstGeom>
          <a:solidFill>
            <a:srgbClr val="D98E2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1" descr="/home/claude/day1_ppt/icons/alert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" y="5667451"/>
            <a:ext cx="405994" cy="40599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5513832"/>
            <a:ext cx="1004285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오늘 하루는 '이론(원리 이해) → 실습(직접 CoT 적용) → 자동화(Orange3 에이전트 빌드)' 3단 구조로 진행된다.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생성형 AI 기반 무역 컴플라이언스 및 관세·ESG 리스크 최적화 과정  ·  1일차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/home/claude/day1_ppt/icons/bookOp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41" y="530901"/>
            <a:ext cx="419527" cy="4195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3891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8E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1.2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714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사전 학습 — 오늘의 핵심 용어 (1/2)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36192"/>
          <a:ext cx="11094415" cy="3200400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59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용어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설명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CBAM (탄소국경조정제도)</a:t>
                      </a:r>
                      <a:endParaRPr lang="en-US" sz="13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EU가 역외에서 수입되는 고탄소 품목에 대해 EU 역내 탄소가격 수준에 맞춰 인증서 구매를 요구하는 제도</a:t>
                      </a:r>
                      <a:endParaRPr lang="en-US" sz="13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Scope 1·2·3</a:t>
                      </a:r>
                      <a:endParaRPr lang="en-US" sz="13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온실가스 배출 범위 구분. Scope1=직접배출, Scope2=간접(에너지)배출, Scope3=공급망 전반(협력사 포함) 배출</a:t>
                      </a:r>
                      <a:endParaRPr lang="en-US" sz="13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CSDDD</a:t>
                      </a:r>
                      <a:endParaRPr lang="en-US" sz="13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EU 기업지속가능성실사지침. 공급망 인권·환경 리스크에 대한 기업 실사 의무를 규정</a:t>
                      </a:r>
                      <a:endParaRPr lang="en-US" sz="13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LLM (대규모 언어모델)</a:t>
                      </a:r>
                      <a:endParaRPr lang="en-US" sz="13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방대한 텍스트를 학습해 자연어를 이해·생성하는 AI 모델. ChatGPT, Claude, Gemini 등의 근간 기술</a:t>
                      </a:r>
                      <a:endParaRPr lang="en-US" sz="13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생성형 AI 기반 무역 컴플라이언스 및 관세·ESG 리스크 최적화 과정  ·  1일차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/home/claude/day1_ppt/icons/bookOp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41" y="530901"/>
            <a:ext cx="419527" cy="4195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3891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8E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1.2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714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사전 학습 — 오늘의 핵심 용어 (2/2)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36192"/>
          <a:ext cx="11094415" cy="3200400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59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용어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설명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프롬프트(Prompt)</a:t>
                      </a:r>
                      <a:endParaRPr lang="en-US" sz="13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AI에게 입력하는 지시문. 결과 품질은 프롬프트의 구체성과 구조화 수준에 크게 좌우됨</a:t>
                      </a:r>
                      <a:endParaRPr lang="en-US" sz="13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CoT (Chain of Thought)</a:t>
                      </a:r>
                      <a:endParaRPr lang="en-US" sz="13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AI에게 결론만이 아니라 사고의 단계를 순서대로 지시하는 프롬프트 기법</a:t>
                      </a:r>
                      <a:endParaRPr lang="en-US" sz="13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할루시네이션(Hallucination)</a:t>
                      </a:r>
                      <a:endParaRPr lang="en-US" sz="13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AI가 근거 없는 내용을 사실처럼 생성하는 현상. 규제·법령 실무에서는 반드시 원문 대조로 검증 필요</a:t>
                      </a:r>
                      <a:endParaRPr lang="en-US" sz="13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레그테크(RegTech)</a:t>
                      </a:r>
                      <a:endParaRPr lang="en-US" sz="13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Regulatory + Technology. 규제 준수 업무를 기술로 자동화·효율화하는 분야</a:t>
                      </a:r>
                      <a:endParaRPr lang="en-US" sz="13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생성형 AI 기반 무역 컴플라이언스 및 관세·ESG 리스크 최적화 과정  ·  1일차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/home/claude/day1_ppt/icons/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41" y="530901"/>
            <a:ext cx="419527" cy="4195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3891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8E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1.3.1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714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무역 컴플라이언스란 — 문제 대응이 아닌 사전 관리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5364328" cy="1600200"/>
          </a:xfrm>
          <a:prstGeom prst="roundRect">
            <a:avLst>
              <a:gd name="adj" fmla="val 4571"/>
            </a:avLst>
          </a:prstGeom>
          <a:solidFill>
            <a:srgbClr val="E8EEF7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364328" cy="457200"/>
          </a:xfrm>
          <a:prstGeom prst="roundRect">
            <a:avLst>
              <a:gd name="adj" fmla="val 16000"/>
            </a:avLst>
          </a:prstGeom>
          <a:solidFill>
            <a:srgbClr val="6B7A9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731520" y="1554480"/>
            <a:ext cx="4998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문제 (트러블)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49808" y="2121408"/>
            <a:ext cx="496199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3341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이미 일이 터진 상태 — 통관 보류, 벌금 부과, 계약 파기 등 결과가 발생한 이후의 상황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278728" y="1554480"/>
            <a:ext cx="5364328" cy="1600200"/>
          </a:xfrm>
          <a:prstGeom prst="roundRect">
            <a:avLst>
              <a:gd name="adj" fmla="val 4571"/>
            </a:avLst>
          </a:prstGeom>
          <a:solidFill>
            <a:srgbClr val="E8EE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6278728" y="1554480"/>
            <a:ext cx="5364328" cy="457200"/>
          </a:xfrm>
          <a:prstGeom prst="roundRect">
            <a:avLst>
              <a:gd name="adj" fmla="val 16000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6461608" y="1554480"/>
            <a:ext cx="4998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8E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컴플라이언스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479896" y="2121408"/>
            <a:ext cx="496199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3341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문제가 터지기 전에, 지켜야 할 규제를 제대로 준수하고 있는지 미리 점검·관리하는 활동 자체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548640" y="3355848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6B7A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즉 컴플라이언스는 '문제 자체'가 아니라 '문제가 안 생기게 하는 관리 체계'이며, 이어지는 UFLPA·CBAM·HS코드 사례(1.3.9)는 이를 소홀히 했을 때 실제로 어떤 문제가 터지는지 보여주는 결과물이다.</a:t>
            </a:r>
            <a:endParaRPr lang="en-US" sz="12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950208"/>
          <a:ext cx="11094415" cy="22860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107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유형</a:t>
                      </a:r>
                      <a:endParaRPr lang="en-US" sz="13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예시</a:t>
                      </a:r>
                      <a:endParaRPr lang="en-US" sz="13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성격</a:t>
                      </a:r>
                      <a:endParaRPr lang="en-US" sz="13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관세·통관 규정 준수</a:t>
                      </a:r>
                      <a:endParaRPr lang="en-US" sz="12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HS Code 정확한 분류, 원산지증명</a:t>
                      </a:r>
                      <a:endParaRPr lang="en-US" sz="12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"맞게 신고했는가"</a:t>
                      </a:r>
                      <a:endParaRPr lang="en-US" sz="12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무역 제재·수출통제</a:t>
                      </a:r>
                      <a:endParaRPr lang="en-US" sz="12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UFLPA, 대북제재, 전략물자 수출허가</a:t>
                      </a:r>
                      <a:endParaRPr lang="en-US" sz="12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"거래 자체가 금지된 대상인가"</a:t>
                      </a:r>
                      <a:endParaRPr lang="en-US" sz="12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환경·ESG 규제</a:t>
                      </a:r>
                      <a:endParaRPr lang="en-US" sz="12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CBAM, CSRD, 공급망실사(CSDDD)</a:t>
                      </a:r>
                      <a:endParaRPr lang="en-US" sz="12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"환경·인권 기준을 지켰는가"</a:t>
                      </a:r>
                      <a:endParaRPr lang="en-US" sz="12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계약·상거래 규정</a:t>
                      </a:r>
                      <a:endParaRPr lang="en-US" sz="12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인코텀즈, 무역결제조건</a:t>
                      </a:r>
                      <a:endParaRPr lang="en-US" sz="12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"거래 조건을 제대로 이행했는가"</a:t>
                      </a:r>
                      <a:endParaRPr lang="en-US" sz="12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" name="Text 12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생성형 AI 기반 무역 컴플라이언스 및 관세·ESG 리스크 최적화 과정  ·  1일차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/home/claude/day1_ppt/icons/trending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41" y="530901"/>
            <a:ext cx="419527" cy="4195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02920"/>
            <a:ext cx="102714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무역 컴플라이언스 AI 트렌드 및 성공 사례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11094415" cy="3200400"/>
          </a:xfrm>
          <a:prstGeom prst="roundRect">
            <a:avLst>
              <a:gd name="adj" fmla="val 2857"/>
            </a:avLst>
          </a:prstGeom>
          <a:solidFill>
            <a:srgbClr val="E8EE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960120" y="1856232"/>
            <a:ext cx="102714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8E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성공 사례 · B사 (중견 정밀부품 수출기업)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60120" y="2286000"/>
            <a:ext cx="10271455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50" i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매 분기 EU 바이어 ESG 실사 질의서(약 40개 문항)에 담당자 1인이 근거자료를 수작업으로 찾아 답변, 매번 2주 이상 소요. AI 요약·매칭 프롬프트 도입 후 문항별 근거 초안을 AI가 먼저 생성 → 담당자는 검수만 수행. 답변 준비기간 2주 → 3일로 단축, 기한 초과 페널티를 피할 수 있었다.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548640" y="502920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본 과정이 지향하는 목표가 바로 이 사례의 구조 — '초안은 AI가, 최종 확인은 사람이'.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생성형 AI 기반 무역 컴플라이언스 및 관세·ESG 리스크 최적화 과정  ·  1일차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/home/claude/day1_ppt/icons/z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41" y="530901"/>
            <a:ext cx="419527" cy="4195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02920"/>
            <a:ext cx="102714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업계 트렌드 요약 &amp; 왜 지금 AI 도입이 가속화되는가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536192"/>
            <a:ext cx="11094415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3341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규제 대응이 '사후 대응'에서 'AI 기반 상시 모니터링 및 사전 스크리닝'으로 전환되는 추세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3341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과태료·거래선 페널티 등 재무적 손실 예방이 AI 도입의 1차 목표이며, 인력 효율화는 부수적 효과</a:t>
            </a:r>
            <a:endParaRPr lang="en-US" sz="1600" dirty="0"/>
          </a:p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600" b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가속화 근본 원인</a:t>
            </a:r>
            <a:endParaRPr lang="en-US" sz="1600" dirty="0"/>
          </a:p>
          <a:p>
            <a:pPr marL="0" indent="0">
              <a:lnSpc>
                <a:spcPct val="200000"/>
              </a:lnSpc>
              <a:spcAft>
                <a:spcPts val="1400"/>
              </a:spcAft>
              <a:buNone/>
            </a:pPr>
            <a:r>
              <a:rPr lang="en-US" sz="1400" dirty="0">
                <a:solidFill>
                  <a:srgbClr val="3341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규제량이 사람의 처리 속도보다 빠르게 늘어나기 때문 — CBAM, CSDDD, CSRD, 배터리 규정 등이 짧은 기간 내 잇따라 발효되고, 제도마다 수십~수백 페이지 가이드라인·수시 개정 Q&amp;A가 뒤따름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5440680"/>
            <a:ext cx="11094415" cy="868680"/>
          </a:xfrm>
          <a:prstGeom prst="roundRect">
            <a:avLst>
              <a:gd name="adj" fmla="val 8421"/>
            </a:avLst>
          </a:prstGeom>
          <a:solidFill>
            <a:srgbClr val="FBEED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713232" y="5596128"/>
            <a:ext cx="548640" cy="548640"/>
          </a:xfrm>
          <a:prstGeom prst="ellipse">
            <a:avLst/>
          </a:prstGeom>
          <a:solidFill>
            <a:srgbClr val="D98E2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1" descr="/home/claude/day1_ppt/icons/alert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" y="5667451"/>
            <a:ext cx="405994" cy="40599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17320" y="5513832"/>
            <a:ext cx="1004285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AI는 '읽고 판단하는' 병목을 줄이는 역할일 뿐, 정책 결정이나 최종 책임까지 대신하지 않는다 (1.3.7 검증 원칙과 직결).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생성형 AI 기반 무역 컴플라이언스 및 관세·ESG 리스크 최적화 과정  ·  1일차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/home/claude/day1_ppt/icons/glo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41" y="530901"/>
            <a:ext cx="419527" cy="4195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3891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8E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1.3.2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714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글로벌 통상 규제 환경 이해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1536192"/>
            <a:ext cx="11094415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200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b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EU CBAM</a:t>
            </a:r>
            <a:endParaRPr lang="en-US" sz="1600" dirty="0"/>
          </a:p>
          <a:p>
            <a:pPr marL="0" indent="0">
              <a:lnSpc>
                <a:spcPct val="200000"/>
              </a:lnSpc>
              <a:spcAft>
                <a:spcPts val="1400"/>
              </a:spcAft>
              <a:buNone/>
            </a:pPr>
            <a:r>
              <a:rPr lang="en-US" sz="1400" dirty="0">
                <a:solidFill>
                  <a:srgbClr val="3341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철강·알루미늄·시멘트·비료·전력·수소 등 6대 고탄소 품목 대상, 수입품의 내재 배출량(embedded emissions)에 대해 인증서 구매를 요구</a:t>
            </a:r>
            <a:endParaRPr lang="en-US" sz="1600" dirty="0"/>
          </a:p>
          <a:p>
            <a:pPr marL="228600" indent="-228600">
              <a:lnSpc>
                <a:spcPct val="200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b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CSDDD + 공급망실사법</a:t>
            </a:r>
            <a:endParaRPr lang="en-US" sz="1600" dirty="0"/>
          </a:p>
          <a:p>
            <a:pPr marL="0" indent="0">
              <a:lnSpc>
                <a:spcPct val="200000"/>
              </a:lnSpc>
              <a:spcAft>
                <a:spcPts val="1400"/>
              </a:spcAft>
              <a:buNone/>
            </a:pPr>
            <a:r>
              <a:rPr lang="en-US" sz="1400" dirty="0">
                <a:solidFill>
                  <a:srgbClr val="3341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대기업뿐 아니라 협력사인 중소·중견기업까지 Scope 3(공급망 전반) 탄소 배출 데이터를 이력 관리해야 하는 상황으로 확대</a:t>
            </a:r>
            <a:endParaRPr lang="en-US" sz="1600" dirty="0"/>
          </a:p>
          <a:p>
            <a:pPr marL="228600" indent="-228600">
              <a:lnSpc>
                <a:spcPct val="200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3341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이러한 규제는 각기 다른 언어·형식의 방대한 원문 텍스트(가이드라인, 시행령, Q&amp;A)로 공개되며, 실무자가 전부 읽고 해석하는 데는 현실적 한계가 있음 → 생성형 AI 기반 텍스트 요약·구조화로 해결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생성형 AI 기반 무역 컴플라이언스 및 관세·ESG 리스크 최적화 과정  ·  1일차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/home/claude/day1_ppt/icons/c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41" y="530901"/>
            <a:ext cx="419527" cy="4195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02920"/>
            <a:ext cx="102714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규제 확산 흐름 (참고 타임라인)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828800"/>
            <a:ext cx="2602154" cy="2834640"/>
          </a:xfrm>
          <a:prstGeom prst="roundRect">
            <a:avLst>
              <a:gd name="adj" fmla="val 2811"/>
            </a:avLst>
          </a:prstGeom>
          <a:solidFill>
            <a:srgbClr val="E8EE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1593685" y="1572768"/>
            <a:ext cx="512064" cy="512064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1593685" y="157276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76656" y="2212848"/>
            <a:ext cx="234612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도입기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76656" y="2907792"/>
            <a:ext cx="2346122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41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CBAM 전환기간 시작(보고의무만 발생) → 6대 품목 수입기업 분기별 배출량 보고 의무 발생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3150794" y="292608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A93"/>
                </a:solidFill>
              </a:rPr>
              <a:t>→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3379394" y="1828800"/>
            <a:ext cx="2602154" cy="2834640"/>
          </a:xfrm>
          <a:prstGeom prst="roundRect">
            <a:avLst>
              <a:gd name="adj" fmla="val 2811"/>
            </a:avLst>
          </a:prstGeom>
          <a:solidFill>
            <a:srgbClr val="E8EE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4424439" y="1572768"/>
            <a:ext cx="512064" cy="512064"/>
          </a:xfrm>
          <a:prstGeom prst="ellipse">
            <a:avLst/>
          </a:prstGeom>
          <a:solidFill>
            <a:srgbClr val="3E5C8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4424439" y="157276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3507410" y="2212848"/>
            <a:ext cx="234612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확산기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507410" y="2907792"/>
            <a:ext cx="2346122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41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CSRD 발효, 대기업 공시 의무화 → 1차 협력사 대상 Scope3 데이터 요청 급증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981548" y="292608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A93"/>
                </a:solidFill>
              </a:rPr>
              <a:t>→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6210148" y="1828800"/>
            <a:ext cx="2602154" cy="2834640"/>
          </a:xfrm>
          <a:prstGeom prst="roundRect">
            <a:avLst>
              <a:gd name="adj" fmla="val 2811"/>
            </a:avLst>
          </a:prstGeom>
          <a:solidFill>
            <a:srgbClr val="E8EE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5"/>
          <p:cNvSpPr/>
          <p:nvPr/>
        </p:nvSpPr>
        <p:spPr>
          <a:xfrm>
            <a:off x="7255193" y="1572768"/>
            <a:ext cx="512064" cy="512064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7255193" y="157276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6338164" y="2212848"/>
            <a:ext cx="234612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심화기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338164" y="2907792"/>
            <a:ext cx="2346122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41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CBAM 정식 시행(인증서 구매 의무) → 미보고·오류 시 재무적 비용 직접 발생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8812301" y="292608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A93"/>
                </a:solidFill>
              </a:rPr>
              <a:t>→</a:t>
            </a:r>
            <a:endParaRPr lang="en-US" sz="2000" dirty="0"/>
          </a:p>
        </p:txBody>
      </p:sp>
      <p:sp>
        <p:nvSpPr>
          <p:cNvPr id="23" name="Shape 20"/>
          <p:cNvSpPr/>
          <p:nvPr/>
        </p:nvSpPr>
        <p:spPr>
          <a:xfrm>
            <a:off x="9040901" y="1828800"/>
            <a:ext cx="2602154" cy="2834640"/>
          </a:xfrm>
          <a:prstGeom prst="roundRect">
            <a:avLst>
              <a:gd name="adj" fmla="val 2811"/>
            </a:avLst>
          </a:prstGeom>
          <a:solidFill>
            <a:srgbClr val="E8EE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1"/>
          <p:cNvSpPr/>
          <p:nvPr/>
        </p:nvSpPr>
        <p:spPr>
          <a:xfrm>
            <a:off x="10085946" y="1572768"/>
            <a:ext cx="512064" cy="512064"/>
          </a:xfrm>
          <a:prstGeom prst="ellipse">
            <a:avLst/>
          </a:prstGeom>
          <a:solidFill>
            <a:srgbClr val="3E5C8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2"/>
          <p:cNvSpPr/>
          <p:nvPr/>
        </p:nvSpPr>
        <p:spPr>
          <a:xfrm>
            <a:off x="10085946" y="157276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9168917" y="2212848"/>
            <a:ext cx="234612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확대기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9168917" y="2907792"/>
            <a:ext cx="2346122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41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CSDDD 등 공급망 실사법 확산 → 2·3차 협력사(중소기업)까지 데이터 요구 확산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548640" y="4937760"/>
            <a:ext cx="11094415" cy="777240"/>
          </a:xfrm>
          <a:prstGeom prst="roundRect">
            <a:avLst>
              <a:gd name="adj" fmla="val 9412"/>
            </a:avLst>
          </a:prstGeom>
          <a:solidFill>
            <a:srgbClr val="FBEED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6"/>
          <p:cNvSpPr/>
          <p:nvPr/>
        </p:nvSpPr>
        <p:spPr>
          <a:xfrm>
            <a:off x="694944" y="5056632"/>
            <a:ext cx="502920" cy="502920"/>
          </a:xfrm>
          <a:prstGeom prst="ellipse">
            <a:avLst/>
          </a:prstGeom>
          <a:solidFill>
            <a:srgbClr val="D98E2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0" name="Image 1" descr="/home/claude/day1_ppt/icons/check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324" y="5122012"/>
            <a:ext cx="372161" cy="372161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1325880" y="4983480"/>
            <a:ext cx="1013429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현장 사례 · A사(중견 알루미늄 압출업체): 협력사의 배출계수 자료 요청에 전담 인력 부재로 대응이 늦어져 납품 지연 페널티 발생</a:t>
            </a:r>
            <a:endParaRPr lang="en-US" sz="1250" dirty="0"/>
          </a:p>
        </p:txBody>
      </p:sp>
      <p:sp>
        <p:nvSpPr>
          <p:cNvPr id="32" name="Text 28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생성형 AI 기반 무역 컴플라이언스 및 관세·ESG 리스크 최적화 과정  ·  1일차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/home/claude/day1_ppt/icons/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41" y="530901"/>
            <a:ext cx="419527" cy="4195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02920"/>
            <a:ext cx="102714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규제가 다층으로 쌓이는 구조적 이유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536192"/>
            <a:ext cx="11094415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200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 err="1">
                <a:solidFill>
                  <a:srgbClr val="3341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CBAM·CSDDD·CSRD는</a:t>
            </a:r>
            <a:r>
              <a:rPr lang="en-US" sz="1600" dirty="0">
                <a:solidFill>
                  <a:srgbClr val="3341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서로 다른 제도처럼 보이지만, 'EU의 탄소중립·인권존중 정책 목표'라는 하나의 상위 방향 아래 배출량규제·공급망실사·기업공시로 같은 대상 기업을 각기 다른 각도에서 규율</a:t>
            </a:r>
            <a:endParaRPr lang="en-US" sz="1600" dirty="0"/>
          </a:p>
          <a:p>
            <a:pPr marL="228600" indent="-228600">
              <a:lnSpc>
                <a:spcPct val="200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3341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하나의 수출 품목이 동시에 여러 제도의 적용을 받고, 각 제도가 요구하는 데이터 항목도 부분적으로 겹침 → 제도별 개별 대응 시 같은 데이터를 여러 번 준비하게 됨</a:t>
            </a:r>
            <a:endParaRPr lang="en-US" sz="1600" dirty="0"/>
          </a:p>
          <a:p>
            <a:pPr marL="228600" indent="-228600">
              <a:lnSpc>
                <a:spcPct val="200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b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D사 사례(전자부품 제조업체)</a:t>
            </a:r>
            <a:endParaRPr lang="en-US" sz="1600" dirty="0"/>
          </a:p>
          <a:p>
            <a:pPr marL="0" indent="0">
              <a:lnSpc>
                <a:spcPct val="200000"/>
              </a:lnSpc>
              <a:spcAft>
                <a:spcPts val="1400"/>
              </a:spcAft>
              <a:buNone/>
            </a:pPr>
            <a:r>
              <a:rPr lang="en-US" sz="1400" dirty="0">
                <a:solidFill>
                  <a:srgbClr val="3341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배터리 소재 수출 시 CBAM(알루미늄 하우징)과 EU 배터리 규정(공급망 실사·재활용 비율 공시)을 동시 적용받음 — 두 제도 모두 '원재료 조달 단계 데이터'를 요구한다는 공통점을 파악해 조달 데이터를 한 번만 정리, 대응 공수를 절반 이하로 절감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5440680"/>
            <a:ext cx="11094415" cy="868680"/>
          </a:xfrm>
          <a:prstGeom prst="roundRect">
            <a:avLst>
              <a:gd name="adj" fmla="val 8421"/>
            </a:avLst>
          </a:prstGeom>
          <a:solidFill>
            <a:srgbClr val="FBEED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713232" y="5596128"/>
            <a:ext cx="548640" cy="548640"/>
          </a:xfrm>
          <a:prstGeom prst="ellipse">
            <a:avLst/>
          </a:prstGeom>
          <a:solidFill>
            <a:srgbClr val="D98E2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1" descr="/home/claude/day1_ppt/icons/alert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" y="5667451"/>
            <a:ext cx="405994" cy="40599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17320" y="5513832"/>
            <a:ext cx="1004285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오늘 실습에서는 이 '겹치는 데이터'를 한 번에 구조화해 여러 제도에 재사용하는 접근을 연습한다.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생성형 AI 기반 무역 컴플라이언스 및 관세·ESG 리스크 최적화 과정  ·  1일차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/home/claude/day1_ppt/icons/file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41" y="530901"/>
            <a:ext cx="419527" cy="4195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02920"/>
            <a:ext cx="102714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EU CSRD 상세해설 — 이중 중대성과 ESRS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536192"/>
            <a:ext cx="11094415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200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b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CSRD (기업지속가능성보고지침)</a:t>
            </a:r>
            <a:endParaRPr lang="en-US" sz="1600" dirty="0"/>
          </a:p>
          <a:p>
            <a:pPr marL="0" indent="0">
              <a:lnSpc>
                <a:spcPct val="200000"/>
              </a:lnSpc>
              <a:spcAft>
                <a:spcPts val="1400"/>
              </a:spcAft>
              <a:buNone/>
            </a:pPr>
            <a:r>
              <a:rPr lang="en-US" sz="1400" dirty="0">
                <a:solidFill>
                  <a:srgbClr val="3341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2023.1.5 발효. 기존 NFRD(약 1만 개 기업 적용)를 대체하며 적용 대상을 대폭 확대</a:t>
            </a:r>
            <a:endParaRPr lang="en-US" sz="1600" dirty="0"/>
          </a:p>
          <a:p>
            <a:pPr marL="228600" indent="-228600">
              <a:lnSpc>
                <a:spcPct val="200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b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이중 중대성(Double Materiality)</a:t>
            </a:r>
            <a:endParaRPr lang="en-US" sz="1600" dirty="0"/>
          </a:p>
          <a:p>
            <a:pPr marL="0" indent="0">
              <a:lnSpc>
                <a:spcPct val="200000"/>
              </a:lnSpc>
              <a:spcAft>
                <a:spcPts val="1400"/>
              </a:spcAft>
              <a:buNone/>
            </a:pPr>
            <a:r>
              <a:rPr lang="en-US" sz="1400" dirty="0">
                <a:solidFill>
                  <a:srgbClr val="3341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① 영향 중대성 — 우리 사업활동이 환경·사회에 미치는 영향, ② 재무적 중대성 — ESG 이슈가 우리 재무에 미치는 영향, 둘 다 공시</a:t>
            </a:r>
            <a:endParaRPr lang="en-US" sz="1600" dirty="0"/>
          </a:p>
          <a:p>
            <a:pPr marL="228600" indent="-228600">
              <a:lnSpc>
                <a:spcPct val="200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b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ESRS (유럽지속가능성보고표준)</a:t>
            </a:r>
            <a:endParaRPr lang="en-US" sz="1600" dirty="0"/>
          </a:p>
          <a:p>
            <a:pPr marL="0" indent="0">
              <a:lnSpc>
                <a:spcPct val="200000"/>
              </a:lnSpc>
              <a:spcAft>
                <a:spcPts val="1400"/>
              </a:spcAft>
              <a:buNone/>
            </a:pPr>
            <a:r>
              <a:rPr lang="en-US" sz="1400" dirty="0">
                <a:solidFill>
                  <a:srgbClr val="3341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EFRAG 초안(요건 136개·데이터포인트 2,161개) → 최종 요건 84개·데이터포인트 1,144개로 간소화. 공통표준 2개 + 주제별 표준 11개</a:t>
            </a:r>
            <a:endParaRPr lang="en-US" sz="1600" dirty="0"/>
          </a:p>
          <a:p>
            <a:pPr marL="228600" indent="-228600">
              <a:lnSpc>
                <a:spcPct val="200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b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제3자 인증 &amp; 한국기업 관련성</a:t>
            </a:r>
            <a:endParaRPr lang="en-US" sz="1600" dirty="0"/>
          </a:p>
          <a:p>
            <a:pPr marL="0" indent="0">
              <a:lnSpc>
                <a:spcPct val="200000"/>
              </a:lnSpc>
              <a:spcAft>
                <a:spcPts val="1400"/>
              </a:spcAft>
              <a:buNone/>
            </a:pPr>
            <a:r>
              <a:rPr lang="en-US" sz="1400" dirty="0">
                <a:solidFill>
                  <a:srgbClr val="3341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제한적 인증에서 향후 합리적 인증으로 단계적 강화 예정. 국내 시총 상위 100대 기업 중 30%+가 EU 소재 자회사를 보유 — 한국 모회사 포함 연결기준 전체가 공시 대상이 될 수 있음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생성형 AI 기반 무역 컴플라이언스 및 관세·ESG 리스크 최적화 과정  ·  1일차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/home/claude/day1_ppt/icons/ed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41" y="530901"/>
            <a:ext cx="419527" cy="4195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02920"/>
            <a:ext cx="102714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2025년 옴니버스(Omnibus) 개정 — 적용 범위 대폭 축소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536192"/>
            <a:ext cx="11094415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200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3341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2025.2.26 EU 집행위원회가 CSRD·CSDDD·EU 택소노미·CBAM을 함께 간소화하는 '옴니버스 패키지' 개정안 발표 → 2025.12.16 유럽의회 본회의에서 최종 확정</a:t>
            </a:r>
            <a:endParaRPr lang="en-US" sz="1600" dirty="0"/>
          </a:p>
          <a:p>
            <a:pPr marL="228600" indent="-228600">
              <a:lnSpc>
                <a:spcPct val="200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b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적용 대상 기준 대폭 상향</a:t>
            </a:r>
            <a:endParaRPr lang="en-US" sz="1600" dirty="0"/>
          </a:p>
          <a:p>
            <a:pPr marL="0" indent="0">
              <a:lnSpc>
                <a:spcPct val="200000"/>
              </a:lnSpc>
              <a:spcAft>
                <a:spcPts val="1400"/>
              </a:spcAft>
              <a:buNone/>
            </a:pPr>
            <a:r>
              <a:rPr lang="en-US" sz="1400" dirty="0">
                <a:solidFill>
                  <a:srgbClr val="3341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(기존) 임직원 500명↑·매출 5천만유로↑ 등 2개 이상 충족 → (개정 후) 임직원 1,000명↑ + 매출 4.5억유로↑ — 공시 의무 기업 수 약 80% 감소</a:t>
            </a:r>
            <a:endParaRPr lang="en-US" sz="1600" dirty="0"/>
          </a:p>
          <a:p>
            <a:pPr marL="228600" indent="-228600">
              <a:lnSpc>
                <a:spcPct val="200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3341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업종별 세부기준 도입 취소(공통기준만 유지), 간소화된 ESRS는 2027 회계연도부터 적용, 인증 표준은 2026.10.1까지 채택 예정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5440680"/>
            <a:ext cx="11094415" cy="868680"/>
          </a:xfrm>
          <a:prstGeom prst="roundRect">
            <a:avLst>
              <a:gd name="adj" fmla="val 8421"/>
            </a:avLst>
          </a:prstGeom>
          <a:solidFill>
            <a:srgbClr val="FBEED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713232" y="5596128"/>
            <a:ext cx="548640" cy="548640"/>
          </a:xfrm>
          <a:prstGeom prst="ellipse">
            <a:avLst/>
          </a:prstGeom>
          <a:solidFill>
            <a:srgbClr val="D98E2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1" descr="/home/claude/day1_ppt/icons/alert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" y="5667451"/>
            <a:ext cx="405994" cy="40599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17320" y="5513832"/>
            <a:ext cx="1004285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시사점: CSRD 직접 적용 대상은 초대형 기업으로 좁혀졌으므로, 중소·중견기업이 실질적으로 가장 크게 영향받는 통로는 CBAM·CSDDD 및 거래처의 자발적 요구일 가능성이 높다.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생성형 AI 기반 무역 컴플라이언스 및 관세·ESG 리스크 최적화 과정  ·  1일차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/home/claude/day1_ppt/icons/file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41" y="530901"/>
            <a:ext cx="419527" cy="4195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02920"/>
            <a:ext cx="102714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CSRD가 무역·통관 실무에 적용되는 지점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536192"/>
            <a:ext cx="5364328" cy="3566160"/>
          </a:xfrm>
          <a:prstGeom prst="roundRect">
            <a:avLst>
              <a:gd name="adj" fmla="val 2051"/>
            </a:avLst>
          </a:prstGeom>
          <a:solidFill>
            <a:srgbClr val="E8EE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548640" y="1536192"/>
            <a:ext cx="5364328" cy="502920"/>
          </a:xfrm>
          <a:prstGeom prst="roundRect">
            <a:avLst>
              <a:gd name="adj" fmla="val 14545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731520" y="1536192"/>
            <a:ext cx="49985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가. 직접 적용 대상인 경우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49808" y="2194560"/>
            <a:ext cx="4961992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1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임직원 1,000명↑·매출 4.5억유로↑ 대기업, 또는 그 규모의 EU 자회사를 보유한 한국 대기업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1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매년 별도의 지속가능성 보고서 작성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1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① 데이터포인트 사업부서별 취합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1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② 이중 중대성 평가 문서화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1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③ 외부 인증기관 검증(assurance) 대응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278728" y="1536192"/>
            <a:ext cx="5364328" cy="3566160"/>
          </a:xfrm>
          <a:prstGeom prst="roundRect">
            <a:avLst>
              <a:gd name="adj" fmla="val 2051"/>
            </a:avLst>
          </a:prstGeom>
          <a:solidFill>
            <a:srgbClr val="E8EE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6278728" y="1536192"/>
            <a:ext cx="5364328" cy="502920"/>
          </a:xfrm>
          <a:prstGeom prst="roundRect">
            <a:avLst>
              <a:gd name="adj" fmla="val 14545"/>
            </a:avLst>
          </a:prstGeom>
          <a:solidFill>
            <a:srgbClr val="3E5C8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6461608" y="1536192"/>
            <a:ext cx="49985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나. 직접 대상이 아니어도 영향받는 경우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479896" y="2194560"/>
            <a:ext cx="4961992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1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대리~차장급 실무자 대부분이 실제로 마주치는 경로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1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EU 대기업 바이어의 ESG 실사 질의서 대응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1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거래 지속 조건 — 법적 의무는 아니나 계약 갱신에 사실상 영향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1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입찰·RFP 요건 — 공공조달·협력사 등록 시 ESG 서류 요구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548640" y="553212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6B7A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 과정 참여자 대부분에게 CSRD는 '내가 직접 보고서를 쓴다'가 아니라 'EU 대기업 고객의 요구자료에 신속·정확히 대응한다'는 형태로 업무에 들어온다.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생성형 AI 기반 무역 컴플라이언스 및 관세·ESG 리스크 최적화 과정  ·  1일차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/home/claude/day1_ppt/icons/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41" y="530901"/>
            <a:ext cx="419527" cy="4195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02920"/>
            <a:ext cx="102714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실무자가 실제로 수행하는 작업 유형</a:t>
            </a:r>
            <a:endParaRPr lang="en-US" sz="26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36192"/>
          <a:ext cx="11094415" cy="2560320"/>
        </p:xfrm>
        <a:graphic>
          <a:graphicData uri="http://schemas.openxmlformats.org/drawingml/2006/table">
            <a:tbl>
              <a:tblPr/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624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상황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실무자가 하는 일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EU 바이어가 Scope 3 데이터 요청</a:t>
                      </a:r>
                      <a:endParaRPr lang="en-US" sz="15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자사 배출량 계수 산출 → 요청 양식에 맞춰 작성</a:t>
                      </a:r>
                      <a:endParaRPr lang="en-US" sz="15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ESG 실사 질의서(수십 개 문항) 수신</a:t>
                      </a:r>
                      <a:endParaRPr lang="en-US" sz="15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문항별로 근거 자료(사내 규정, 인증서)를 매칭·제출</a:t>
                      </a:r>
                      <a:endParaRPr lang="en-US" sz="15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신규 EU 거래 검토</a:t>
                      </a:r>
                      <a:endParaRPr lang="en-US" sz="15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상대 기업이 CSRD 적용 대상인지 먼저 확인 → 요구받을 데이터 범위 예측</a:t>
                      </a:r>
                      <a:endParaRPr lang="en-US" sz="15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생성형 AI 기반 무역 컴플라이언스 및 관세·ESG 리스크 최적화 과정  ·  1일차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/home/claude/day1_ppt/icons/cp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41" y="530901"/>
            <a:ext cx="419527" cy="4195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02920"/>
            <a:ext cx="102714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CSRD 대응 업무별 AI 도구 매핑</a:t>
            </a:r>
            <a:endParaRPr lang="en-US" sz="26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36192"/>
          <a:ext cx="11094415" cy="2560320"/>
        </p:xfrm>
        <a:graphic>
          <a:graphicData uri="http://schemas.openxmlformats.org/drawingml/2006/table">
            <a:tbl>
              <a:tblPr/>
              <a:tblGrid>
                <a:gridCol w="347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107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업무 유형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적용 AI 도구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핵심 효과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ESG 실사 질의서 대응</a:t>
                      </a:r>
                      <a:endParaRPr lang="en-US" sz="13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GPT형 프롬프트(CoT)</a:t>
                      </a:r>
                      <a:endParaRPr lang="en-US" sz="13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문항별 근거 초안 자동 생성, 검토 시간 단축</a:t>
                      </a:r>
                      <a:endParaRPr lang="en-US" sz="13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Scope 3 데이터 산출·자산화</a:t>
                      </a:r>
                      <a:endParaRPr lang="en-US" sz="13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Orange3 + 파이썬 에이전트</a:t>
                      </a:r>
                      <a:endParaRPr lang="en-US" sz="13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반복 계산 자동화, 바이어별 양식 자동 변환</a:t>
                      </a:r>
                      <a:endParaRPr lang="en-US" sz="13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신규 거래처 CSRD 해당 확인</a:t>
                      </a:r>
                      <a:endParaRPr lang="en-US" sz="13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RAG 기반 검색</a:t>
                      </a:r>
                      <a:endParaRPr lang="en-US" sz="13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규정 원문 대조 없이 근거 있는 즉답</a:t>
                      </a:r>
                      <a:endParaRPr lang="en-US" sz="13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5532120"/>
            <a:ext cx="11094415" cy="777240"/>
          </a:xfrm>
          <a:prstGeom prst="roundRect">
            <a:avLst>
              <a:gd name="adj" fmla="val 9412"/>
            </a:avLst>
          </a:prstGeom>
          <a:solidFill>
            <a:srgbClr val="FBEED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3"/>
          <p:cNvSpPr/>
          <p:nvPr/>
        </p:nvSpPr>
        <p:spPr>
          <a:xfrm>
            <a:off x="694944" y="5650992"/>
            <a:ext cx="502920" cy="502920"/>
          </a:xfrm>
          <a:prstGeom prst="ellipse">
            <a:avLst/>
          </a:prstGeom>
          <a:solidFill>
            <a:srgbClr val="D98E2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1" descr="/home/claude/day1_ppt/icons/alert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324" y="5716372"/>
            <a:ext cx="372161" cy="37216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325880" y="5586984"/>
            <a:ext cx="1013429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공통 위험 — CSRD 데이터는 실사 보고서에 실제 제출되는 수치이므로, 1.3.7의 'AI 결과 검증 3원칙'이 특히 중요하다.</a:t>
            </a:r>
            <a:endParaRPr lang="en-US" sz="1250" dirty="0"/>
          </a:p>
        </p:txBody>
      </p:sp>
      <p:sp>
        <p:nvSpPr>
          <p:cNvPr id="10" name="Text 5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생성형 AI 기반 무역 컴플라이언스 및 관세·ESG 리스크 최적화 과정  ·  1일차</a:t>
            </a:r>
            <a:endParaRPr lang="en-US" sz="900" dirty="0"/>
          </a:p>
        </p:txBody>
      </p:sp>
      <p:sp>
        <p:nvSpPr>
          <p:cNvPr id="11" name="Text 6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/home/claude/day1_ppt/icons/cp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41" y="530901"/>
            <a:ext cx="419527" cy="4195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3891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8E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1.3.3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714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인공지능 기초 개념</a:t>
            </a:r>
            <a:endParaRPr lang="en-US" sz="26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8835561"/>
              </p:ext>
            </p:extLst>
          </p:nvPr>
        </p:nvGraphicFramePr>
        <p:xfrm>
          <a:off x="533400" y="1536192"/>
          <a:ext cx="11109655" cy="3200400"/>
        </p:xfrm>
        <a:graphic>
          <a:graphicData uri="http://schemas.openxmlformats.org/drawingml/2006/table">
            <a:tbl>
              <a:tblPr/>
              <a:tblGrid>
                <a:gridCol w="2758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792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개념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범위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예시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인공지능(AI)</a:t>
                      </a:r>
                      <a:endParaRPr lang="en-US" sz="13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가장 넓은 개념 — 지적 활동을 기계가 수행</a:t>
                      </a:r>
                      <a:endParaRPr lang="en-US" sz="13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챗봇, 추천 시스템, 자율주행 등 전반</a:t>
                      </a:r>
                      <a:endParaRPr lang="en-US" sz="13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머신러닝(ML)</a:t>
                      </a:r>
                      <a:endParaRPr lang="en-US" sz="13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데이터로부터 규칙을 스스로 학습</a:t>
                      </a:r>
                      <a:endParaRPr lang="en-US" sz="13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스팸메일 자동 분류, 수요 예측</a:t>
                      </a:r>
                      <a:endParaRPr lang="en-US" sz="13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딥러닝(DL)</a:t>
                      </a:r>
                      <a:endParaRPr lang="en-US" sz="13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신경망 구조로 대량 데이터를 학습하는 ML의 한 방식</a:t>
                      </a:r>
                      <a:endParaRPr lang="en-US" sz="13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이미지 인식, 음성 인식</a:t>
                      </a:r>
                      <a:endParaRPr lang="en-US" sz="13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생성형 AI / LLM</a:t>
                      </a:r>
                      <a:endParaRPr lang="en-US" sz="13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텍스트 등 콘텐츠를 새로 생성하는 딥러닝 기술</a:t>
                      </a:r>
                      <a:endParaRPr lang="en-US" sz="13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ChatGPT, Claude, Gemini</a:t>
                      </a:r>
                      <a:endParaRPr lang="en-US" sz="13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532120"/>
            <a:ext cx="11094415" cy="777240"/>
          </a:xfrm>
          <a:prstGeom prst="roundRect">
            <a:avLst>
              <a:gd name="adj" fmla="val 9412"/>
            </a:avLst>
          </a:prstGeom>
          <a:solidFill>
            <a:srgbClr val="FBEED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4"/>
          <p:cNvSpPr/>
          <p:nvPr/>
        </p:nvSpPr>
        <p:spPr>
          <a:xfrm>
            <a:off x="694944" y="5650992"/>
            <a:ext cx="502920" cy="502920"/>
          </a:xfrm>
          <a:prstGeom prst="ellipse">
            <a:avLst/>
          </a:prstGeom>
          <a:solidFill>
            <a:srgbClr val="D98E2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1" descr="/home/claude/day1_ppt/icons/alert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324" y="5716372"/>
            <a:ext cx="372161" cy="37216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325880" y="5586984"/>
            <a:ext cx="1013429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⊃ 머신러닝 ⊃ 딥러닝 ⊃ 생성형AI/LLM — 오늘 다루는 생성형 AI는 이 계층의 가장 안쪽, 텍스트 생성에 특화된 기술이다.</a:t>
            </a:r>
            <a:endParaRPr lang="en-US" sz="1250" dirty="0"/>
          </a:p>
        </p:txBody>
      </p:sp>
      <p:sp>
        <p:nvSpPr>
          <p:cNvPr id="11" name="Text 6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생성형 AI 기반 무역 컴플라이언스 및 관세·ESG 리스크 최적화 과정  ·  1일차</a:t>
            </a:r>
            <a:endParaRPr lang="en-US" sz="900" dirty="0"/>
          </a:p>
        </p:txBody>
      </p:sp>
      <p:sp>
        <p:nvSpPr>
          <p:cNvPr id="12" name="Text 7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/home/claude/day1_ppt/icons/alert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41" y="530901"/>
            <a:ext cx="419527" cy="4195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02920"/>
            <a:ext cx="102714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생성형 AI는 기존 AI와 무엇이 다른가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536192"/>
            <a:ext cx="11094415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200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3341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기존 AI(스팸필터, 수요예측 등): 주어진 입력을 정해진 카테고리로 '분류'하거나 숫자를 '예측'</a:t>
            </a:r>
            <a:endParaRPr lang="en-US" sz="1600" dirty="0"/>
          </a:p>
          <a:p>
            <a:pPr marL="228600" indent="-228600">
              <a:lnSpc>
                <a:spcPct val="200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3341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생성형 AI: 학습한 패턴을 바탕으로 '이 상황에 맞는 새로운 문장·표·요약'을 그때그때 생성 → 정답이 하나로 정해지지 않은 업무(요약, 초안 작성)에 유용하나 '그럴듯하지만 틀린 답'을 만들 가능성도 함께 가짐(할루시네이션, 1.3.7)</a:t>
            </a:r>
            <a:endParaRPr lang="en-US" sz="1600" dirty="0"/>
          </a:p>
          <a:p>
            <a:pPr marL="228600" indent="-228600">
              <a:lnSpc>
                <a:spcPct val="200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b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5대 적용 분야</a:t>
            </a:r>
            <a:endParaRPr lang="en-US" sz="1600" dirty="0"/>
          </a:p>
          <a:p>
            <a:pPr marL="0" indent="0">
              <a:lnSpc>
                <a:spcPct val="200000"/>
              </a:lnSpc>
              <a:spcAft>
                <a:spcPts val="1400"/>
              </a:spcAft>
              <a:buNone/>
            </a:pPr>
            <a:r>
              <a:rPr lang="en-US" sz="1400" dirty="0">
                <a:solidFill>
                  <a:srgbClr val="3341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① 규제 원문 요약 ② 정보 추출 ③ 분류·매칭(HS Code) ④ 교차 검증 ⑤ 문서 생성(ESG 보고서 등)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5440680"/>
            <a:ext cx="11094415" cy="868680"/>
          </a:xfrm>
          <a:prstGeom prst="roundRect">
            <a:avLst>
              <a:gd name="adj" fmla="val 8421"/>
            </a:avLst>
          </a:prstGeom>
          <a:solidFill>
            <a:srgbClr val="FBEED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713232" y="5596128"/>
            <a:ext cx="548640" cy="548640"/>
          </a:xfrm>
          <a:prstGeom prst="ellipse">
            <a:avLst/>
          </a:prstGeom>
          <a:solidFill>
            <a:srgbClr val="D98E2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1" descr="/home/claude/day1_ppt/icons/alert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555" y="5667451"/>
            <a:ext cx="405994" cy="40599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17320" y="5513832"/>
            <a:ext cx="1004285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자주 하는 오해 — 생성형 AI는 실시간 검색엔진이 아니다. 최신 규제·사내 문서는 사용자가 직접 원문을 입력해야 정확히 답할 수 있다 (오늘 실습에서 매번 파일을 업로드하는 이유).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생성형 AI 기반 무역 컴플라이언스 및 관세·ESG 리스크 최적화 과정  ·  1일차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/home/claude/day1_ppt/icons/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41" y="530901"/>
            <a:ext cx="419527" cy="4195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02920"/>
            <a:ext cx="102714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업무 단계별 활용 도구 비교</a:t>
            </a:r>
            <a:endParaRPr lang="en-US" sz="26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36192"/>
          <a:ext cx="11094415" cy="256032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764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업무 성격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권장 도구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이유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원문 해석·요약·초안 작성(텍스트 중심)</a:t>
                      </a:r>
                      <a:endParaRPr lang="en-US" sz="13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ChatGPT / Claude(대화형 LLM)</a:t>
                      </a:r>
                      <a:endParaRPr lang="en-US" sz="13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자연어 이해·요약·문서 초안 생성에 최적화</a:t>
                      </a:r>
                      <a:endParaRPr lang="en-US" sz="13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대량 데이터 정형화·분류 자동화(표 중심)</a:t>
                      </a:r>
                      <a:endParaRPr lang="en-US" sz="13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Orange3(노코드 워크플로우 툴)</a:t>
                      </a:r>
                      <a:endParaRPr lang="en-US" sz="13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마우스 드래그로 파이프라인 구성, 반복작업 자동화에 유리</a:t>
                      </a:r>
                      <a:endParaRPr lang="en-US" sz="13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실시간 규정 검색·근거 인용</a:t>
                      </a:r>
                      <a:endParaRPr lang="en-US" sz="13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RAG 연동 챗봇 (5일차 실습)</a:t>
                      </a:r>
                      <a:endParaRPr lang="en-US" sz="13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최신 문서를 색인해 근거 조항과 함께 답변</a:t>
                      </a:r>
                      <a:endParaRPr lang="en-US" sz="13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5532120"/>
            <a:ext cx="11094415" cy="777240"/>
          </a:xfrm>
          <a:prstGeom prst="roundRect">
            <a:avLst>
              <a:gd name="adj" fmla="val 9412"/>
            </a:avLst>
          </a:prstGeom>
          <a:solidFill>
            <a:srgbClr val="FBEED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3"/>
          <p:cNvSpPr/>
          <p:nvPr/>
        </p:nvSpPr>
        <p:spPr>
          <a:xfrm>
            <a:off x="694944" y="5650992"/>
            <a:ext cx="502920" cy="502920"/>
          </a:xfrm>
          <a:prstGeom prst="ellipse">
            <a:avLst/>
          </a:prstGeom>
          <a:solidFill>
            <a:srgbClr val="D98E2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1" descr="/home/claude/day1_ppt/icons/alert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324" y="5716372"/>
            <a:ext cx="372161" cy="37216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325880" y="5586984"/>
            <a:ext cx="1013429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LLM은 단어 간 관계를 방대한 텍스트 학습으로 파악한 확률 모델 — 조항 간 관계도 짚어내지만, '그럴듯하게 이어지는 문장'을 근거 없이 만드는 할루시네이션의 원인도 여기서 비롯된다.</a:t>
            </a:r>
            <a:endParaRPr lang="en-US" sz="1250" dirty="0"/>
          </a:p>
        </p:txBody>
      </p:sp>
      <p:sp>
        <p:nvSpPr>
          <p:cNvPr id="10" name="Text 5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생성형 AI 기반 무역 컴플라이언스 및 관세·ESG 리스크 최적화 과정  ·  1일차</a:t>
            </a:r>
            <a:endParaRPr lang="en-US" sz="900" dirty="0"/>
          </a:p>
        </p:txBody>
      </p:sp>
      <p:sp>
        <p:nvSpPr>
          <p:cNvPr id="11" name="Text 6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/home/claude/day1_ppt/icons/gitBran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41" y="530901"/>
            <a:ext cx="419527" cy="4195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3891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8E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1.3.4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714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CoT(Chain of Thought) 프롬프트 엔지니어링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11094415" cy="3200400"/>
          </a:xfrm>
          <a:prstGeom prst="roundRect">
            <a:avLst>
              <a:gd name="adj" fmla="val 2857"/>
            </a:avLst>
          </a:prstGeom>
          <a:solidFill>
            <a:srgbClr val="E8EE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960120" y="1856232"/>
            <a:ext cx="102714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8E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개념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60120" y="2286000"/>
            <a:ext cx="10271455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200000"/>
              </a:lnSpc>
              <a:buNone/>
            </a:pPr>
            <a:r>
              <a:rPr lang="en-US" sz="1550" i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AI에게 결론만 요구하지 않고, '먼저 A를 판단하고 → 그 다음 B를 확인한 뒤 → 최종적으로 C를 결론짓는' 방식으로 사고의 단계를 명시적으로 지시하는 기법. 규제 원문처럼 여러 조건이 복합적으로 얽힌 텍스트를 다룰 때, 단순 요약 요청보다 누락 없이 조항을 단계적으로 짚어내는 결과를 얻을 수 있다.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548640" y="502920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일반 프롬프트("이 CBAM 가이드라인을 요약해줘")는 결과의 깊이·관점이 매번 달라질 수 있는 반면, CoT 프롬프트("① 적용 대상 정리 → ② 산정 기준 정리 → ③ 우리 회사 항목만 표로 정리")는 단계가 고정되어 결과의 일관성·완결성이 높아진다.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생성형 AI 기반 무역 컴플라이언스 및 관세·ESG 리스크 최적화 과정  ·  1일차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/home/claude/day1_ppt/icons/messageSqu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41" y="530901"/>
            <a:ext cx="419527" cy="4195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02920"/>
            <a:ext cx="102714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예시 — 동일 원문, 두 프롬프트의 결과 비교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536192"/>
            <a:ext cx="5364328" cy="3566160"/>
          </a:xfrm>
          <a:prstGeom prst="roundRect">
            <a:avLst>
              <a:gd name="adj" fmla="val 2051"/>
            </a:avLst>
          </a:prstGeom>
          <a:solidFill>
            <a:srgbClr val="E8EE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548640" y="1536192"/>
            <a:ext cx="5364328" cy="502920"/>
          </a:xfrm>
          <a:prstGeom prst="roundRect">
            <a:avLst>
              <a:gd name="adj" fmla="val 14545"/>
            </a:avLst>
          </a:prstGeom>
          <a:solidFill>
            <a:srgbClr val="6B7A9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731520" y="1536192"/>
            <a:ext cx="49985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[일반 프롬프트] "이 문서 요약해줘"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49808" y="2194560"/>
            <a:ext cx="4961992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20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1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CBAM은 EU가 수입품에 탄소 비용을 부과하는 제도이며 철강 등 일부 품목에 적용된다는 취지의 3~4문장 요약</a:t>
            </a:r>
            <a:endParaRPr lang="en-US" sz="1350" dirty="0"/>
          </a:p>
          <a:p>
            <a:pPr marL="177800" indent="-177800">
              <a:lnSpc>
                <a:spcPct val="20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1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어떤 기업이 해당되는지, 어떤 절차를 밟아야 하는지는 응답에 포함되지 않음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278728" y="1536192"/>
            <a:ext cx="5364328" cy="3566160"/>
          </a:xfrm>
          <a:prstGeom prst="roundRect">
            <a:avLst>
              <a:gd name="adj" fmla="val 2051"/>
            </a:avLst>
          </a:prstGeom>
          <a:solidFill>
            <a:srgbClr val="E8EE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6278728" y="1536192"/>
            <a:ext cx="5364328" cy="502920"/>
          </a:xfrm>
          <a:prstGeom prst="roundRect">
            <a:avLst>
              <a:gd name="adj" fmla="val 14545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6461608" y="1536192"/>
            <a:ext cx="49985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[CoT 프롬프트] "①적용대상 → ②의무·조항 → ③자사기준 재요약"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479896" y="2194560"/>
            <a:ext cx="4961992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20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1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1단계 표(품목·적용시점) + 2단계 표(의무사항·조항번호) + 3단계 요약(알루미늄 압출품 관련 의무 3가지, 조항 인용 포함) 순으로 단계별 결과 생성</a:t>
            </a:r>
            <a:endParaRPr lang="en-US" sz="1350" dirty="0"/>
          </a:p>
          <a:p>
            <a:pPr marL="177800" indent="-177800">
              <a:lnSpc>
                <a:spcPct val="20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1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실무자가 바로 검토서에 옮길 수 있는 구조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548640" y="553212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6B7A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실습 팁 — CoT 프롬프트를 설계할 때는 실무자가 실제 검토서를 작성할 때 밟는 사고 순서를 그대로 프롬프트 단계에 옮기면 결과 품질이 크게 향상된다.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생성형 AI 기반 무역 컴플라이언스 및 관세·ESG 리스크 최적화 과정  ·  1일차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/home/claude/day1_ppt/icons/check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41" y="530901"/>
            <a:ext cx="419527" cy="4195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02920"/>
            <a:ext cx="102714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CoT가 정확도를 높이는 원리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11094415" cy="3200400"/>
          </a:xfrm>
          <a:prstGeom prst="roundRect">
            <a:avLst>
              <a:gd name="adj" fmla="val 2857"/>
            </a:avLst>
          </a:prstGeom>
          <a:solidFill>
            <a:srgbClr val="E8EE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960120" y="1856232"/>
            <a:ext cx="102714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8E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원리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60120" y="2286000"/>
            <a:ext cx="10271455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200000"/>
              </a:lnSpc>
              <a:buNone/>
            </a:pPr>
            <a:r>
              <a:rPr lang="en-US" sz="1550" i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'요약해줘'처럼 한 번에 결론을 요구하면 AI는 중간 판단 과정을 내부적으로만 거치므로 사람이 어느 단계에서 오류가 났는지 확인할 수 없다. CoT 프롬프트는 그 중간 판단을 단계별 출력으로 드러내므로, 1단계 결과가 이상하면 2·3단계로 넘어가기 전에 바로잡을 수 있다.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548640" y="502920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200000"/>
              </a:lnSpc>
              <a:buNone/>
            </a:pPr>
            <a:r>
              <a:rPr lang="en-US" sz="1400" dirty="0">
                <a:solidFill>
                  <a:srgbClr val="3341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즉 CoT의 핵심 효과는 'AI가 더 똑똑해지는 것'이 아니라 '사람이 검증할 수 있는 지점이 늘어나는 것'이다. — F사(시멘트 제조업체) 사례: 일반 요약 시 산정 방식(직접법 vs 기본값법) 중 하나가 누락됐으나, CoT로 나누어 질의하자 두 방식 모두 표에 나타나 누락을 방지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생성형 AI 기반 무역 컴플라이언스 및 관세·ESG 리스크 최적화 과정  ·  1일차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/home/claude/day1_ppt/icons/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41" y="530901"/>
            <a:ext cx="419527" cy="4195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3891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8E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1.3.5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714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글로벌 무역·ESG 데이터 구조 이해</a:t>
            </a:r>
            <a:endParaRPr lang="en-US" sz="26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36192"/>
          <a:ext cx="11094415" cy="192024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44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구분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정의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대표 예시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정형 데이터</a:t>
                      </a:r>
                      <a:endParaRPr lang="en-US" sz="13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행·열 구조로 이미 정리되어 있어 바로 계산·집계가 가능한 데이터</a:t>
                      </a:r>
                      <a:endParaRPr lang="en-US" sz="13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수출입신고필증 항목, 관세율표, HS Code 매핑표</a:t>
                      </a:r>
                      <a:endParaRPr lang="en-US" sz="13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비정형 데이터</a:t>
                      </a:r>
                      <a:endParaRPr lang="en-US" sz="13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자유 서술 문장으로 되어 있어 사람이 읽고 해석해야 의미를 알 수 있는 데이터</a:t>
                      </a:r>
                      <a:endParaRPr lang="en-US" sz="13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가이드라인 원문(PDF), 이메일, 협력사 공문, 계약서</a:t>
                      </a:r>
                      <a:endParaRPr lang="en-US" sz="13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532120"/>
            <a:ext cx="11094415" cy="777240"/>
          </a:xfrm>
          <a:prstGeom prst="roundRect">
            <a:avLst>
              <a:gd name="adj" fmla="val 9412"/>
            </a:avLst>
          </a:prstGeom>
          <a:solidFill>
            <a:srgbClr val="FBEED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4"/>
          <p:cNvSpPr/>
          <p:nvPr/>
        </p:nvSpPr>
        <p:spPr>
          <a:xfrm>
            <a:off x="694944" y="5650992"/>
            <a:ext cx="502920" cy="502920"/>
          </a:xfrm>
          <a:prstGeom prst="ellipse">
            <a:avLst/>
          </a:prstGeom>
          <a:solidFill>
            <a:srgbClr val="D98E2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1" descr="/home/claude/day1_ppt/icons/alert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324" y="5716372"/>
            <a:ext cx="372161" cy="37216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325880" y="5586984"/>
            <a:ext cx="1013429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오늘 1.7 실습에서 다루는 CBAM 가이드라인 발췌문은 '비정형 규제 원문'에 해당한다. 2일차부터는 Invoice·Packing List 같은 '반정형 통관 서류'를 다룬다.</a:t>
            </a:r>
            <a:endParaRPr lang="en-US" sz="1250" dirty="0"/>
          </a:p>
        </p:txBody>
      </p:sp>
      <p:sp>
        <p:nvSpPr>
          <p:cNvPr id="11" name="Text 6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생성형 AI 기반 무역 컴플라이언스 및 관세·ESG 리스크 최적화 과정  ·  1일차</a:t>
            </a:r>
            <a:endParaRPr lang="en-US" sz="900" dirty="0"/>
          </a:p>
        </p:txBody>
      </p:sp>
      <p:sp>
        <p:nvSpPr>
          <p:cNvPr id="12" name="Text 7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/home/claude/day1_ppt/icons/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41" y="530901"/>
            <a:ext cx="419527" cy="4195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02920"/>
            <a:ext cx="102714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무역·ESG 문서의 정형/비정형 분류</a:t>
            </a:r>
            <a:endParaRPr lang="en-US" sz="26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36192"/>
          <a:ext cx="11094415" cy="32004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44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분류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문서/데이터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형태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통관 서류</a:t>
                      </a:r>
                      <a:endParaRPr lang="en-US" sz="13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Invoice(상업송장), Packing List(포장명세서), B/L(선하증권)</a:t>
                      </a:r>
                      <a:endParaRPr lang="en-US" sz="13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반정형 (양식은 있으나 항목 표현이 업체마다 상이)</a:t>
                      </a:r>
                      <a:endParaRPr lang="en-US" sz="13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품목분류 데이터</a:t>
                      </a:r>
                      <a:endParaRPr lang="en-US" sz="13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HS Code 마스터, 관세율표</a:t>
                      </a:r>
                      <a:endParaRPr lang="en-US" sz="13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정형</a:t>
                      </a:r>
                      <a:endParaRPr lang="en-US" sz="13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규제 원문</a:t>
                      </a:r>
                      <a:endParaRPr lang="en-US" sz="13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CBAM 가이드라인, CSDDD 시행령, 각국 세관 Q&amp;A</a:t>
                      </a:r>
                      <a:endParaRPr lang="en-US" sz="13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비정형</a:t>
                      </a:r>
                      <a:endParaRPr lang="en-US" sz="13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ESG 보고서</a:t>
                      </a:r>
                      <a:endParaRPr lang="en-US" sz="13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GRI 스탠다드, EU CSRD ESRS 공시 항목, CBAM 배출량 신고서식</a:t>
                      </a:r>
                      <a:endParaRPr lang="en-US" sz="13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혼합 (서식은 정형, 서술 항목은 비정형)</a:t>
                      </a:r>
                      <a:endParaRPr lang="en-US" sz="13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5532120"/>
            <a:ext cx="11094415" cy="777240"/>
          </a:xfrm>
          <a:prstGeom prst="roundRect">
            <a:avLst>
              <a:gd name="adj" fmla="val 9412"/>
            </a:avLst>
          </a:prstGeom>
          <a:solidFill>
            <a:srgbClr val="FBEED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3"/>
          <p:cNvSpPr/>
          <p:nvPr/>
        </p:nvSpPr>
        <p:spPr>
          <a:xfrm>
            <a:off x="694944" y="5650992"/>
            <a:ext cx="502920" cy="502920"/>
          </a:xfrm>
          <a:prstGeom prst="ellipse">
            <a:avLst/>
          </a:prstGeom>
          <a:solidFill>
            <a:srgbClr val="D98E2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1" descr="/home/claude/day1_ppt/icons/alert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324" y="5716372"/>
            <a:ext cx="372161" cy="37216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325880" y="5586984"/>
            <a:ext cx="1013429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비정형 데이터가 어려운 이유 — 같은 의미도 문장 표현이 문서마다 달라 AI가 매번 문맥을 새로 파악해야 함. CoT로 질의 순서를 고정하는 것이 이런 다양성 속에서도 일관된 기준으로 정보를 추출하게 하는 장치다.</a:t>
            </a:r>
            <a:endParaRPr lang="en-US" sz="1250" dirty="0"/>
          </a:p>
        </p:txBody>
      </p:sp>
      <p:sp>
        <p:nvSpPr>
          <p:cNvPr id="10" name="Text 5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생성형 AI 기반 무역 컴플라이언스 및 관세·ESG 리스크 최적화 과정  ·  1일차</a:t>
            </a:r>
            <a:endParaRPr lang="en-US" sz="900" dirty="0"/>
          </a:p>
        </p:txBody>
      </p:sp>
      <p:sp>
        <p:nvSpPr>
          <p:cNvPr id="11" name="Text 6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/home/claude/day1_ppt/icons/file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41" y="530901"/>
            <a:ext cx="419527" cy="4195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3891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8E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1.3.6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714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해외 관세법 원문 요약 및 조문 매칭 절차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2602154" cy="2834640"/>
          </a:xfrm>
          <a:prstGeom prst="roundRect">
            <a:avLst>
              <a:gd name="adj" fmla="val 2811"/>
            </a:avLst>
          </a:prstGeom>
          <a:solidFill>
            <a:srgbClr val="E8EE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1593685" y="1572768"/>
            <a:ext cx="512064" cy="512064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1593685" y="157276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76656" y="2212848"/>
            <a:ext cx="234612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① 원문 수집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76656" y="2907792"/>
            <a:ext cx="2346122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41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관세청, EU 집행위 등 공식 사이트에서 최신 가이드라인 확보 — 반드시 '공식 출처' 확인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3150794" y="292608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A93"/>
                </a:solidFill>
              </a:rPr>
              <a:t>→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3379394" y="1828800"/>
            <a:ext cx="2602154" cy="2834640"/>
          </a:xfrm>
          <a:prstGeom prst="roundRect">
            <a:avLst>
              <a:gd name="adj" fmla="val 2811"/>
            </a:avLst>
          </a:prstGeom>
          <a:solidFill>
            <a:srgbClr val="E8EE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4424439" y="1572768"/>
            <a:ext cx="512064" cy="512064"/>
          </a:xfrm>
          <a:prstGeom prst="ellipse">
            <a:avLst/>
          </a:prstGeom>
          <a:solidFill>
            <a:srgbClr val="3E5C8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4424439" y="157276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3507410" y="2212848"/>
            <a:ext cx="234612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② 텍스트 정제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3507410" y="2907792"/>
            <a:ext cx="2346122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41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PDF 내 표·각주 등 비정형 요소를 순수 텍스트로 변환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5981548" y="292608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A93"/>
                </a:solidFill>
              </a:rPr>
              <a:t>→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6210148" y="1828800"/>
            <a:ext cx="2602154" cy="2834640"/>
          </a:xfrm>
          <a:prstGeom prst="roundRect">
            <a:avLst>
              <a:gd name="adj" fmla="val 2811"/>
            </a:avLst>
          </a:prstGeom>
          <a:solidFill>
            <a:srgbClr val="E8EE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6"/>
          <p:cNvSpPr/>
          <p:nvPr/>
        </p:nvSpPr>
        <p:spPr>
          <a:xfrm>
            <a:off x="7255193" y="1572768"/>
            <a:ext cx="512064" cy="512064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/>
          <p:nvPr/>
        </p:nvSpPr>
        <p:spPr>
          <a:xfrm>
            <a:off x="7255193" y="157276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6338164" y="2212848"/>
            <a:ext cx="234612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③ CoT 프롬프트 설계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338164" y="2907792"/>
            <a:ext cx="2346122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41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조항 구조(정의→적용범위→산정기준→예외)에 맞춰 질의 단계 구성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8812301" y="292608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A93"/>
                </a:solidFill>
              </a:rPr>
              <a:t>→</a:t>
            </a:r>
            <a:endParaRPr lang="en-US" sz="2000" dirty="0"/>
          </a:p>
        </p:txBody>
      </p:sp>
      <p:sp>
        <p:nvSpPr>
          <p:cNvPr id="24" name="Shape 21"/>
          <p:cNvSpPr/>
          <p:nvPr/>
        </p:nvSpPr>
        <p:spPr>
          <a:xfrm>
            <a:off x="9040901" y="1828800"/>
            <a:ext cx="2602154" cy="2834640"/>
          </a:xfrm>
          <a:prstGeom prst="roundRect">
            <a:avLst>
              <a:gd name="adj" fmla="val 2811"/>
            </a:avLst>
          </a:prstGeom>
          <a:solidFill>
            <a:srgbClr val="E8EE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2"/>
          <p:cNvSpPr/>
          <p:nvPr/>
        </p:nvSpPr>
        <p:spPr>
          <a:xfrm>
            <a:off x="10085946" y="1572768"/>
            <a:ext cx="512064" cy="512064"/>
          </a:xfrm>
          <a:prstGeom prst="ellipse">
            <a:avLst/>
          </a:prstGeom>
          <a:solidFill>
            <a:srgbClr val="3E5C8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/>
          <p:nvPr/>
        </p:nvSpPr>
        <p:spPr>
          <a:xfrm>
            <a:off x="10085946" y="157276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9168917" y="2212848"/>
            <a:ext cx="234612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④ AI 요약 실행 및 검토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9168917" y="2907792"/>
            <a:ext cx="2346122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41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결과를 원문과 대조해 왜곡·누락 여부를 사람이 최종 확인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548640" y="4937760"/>
            <a:ext cx="11094415" cy="777240"/>
          </a:xfrm>
          <a:prstGeom prst="roundRect">
            <a:avLst>
              <a:gd name="adj" fmla="val 9412"/>
            </a:avLst>
          </a:prstGeom>
          <a:solidFill>
            <a:srgbClr val="FBEED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7"/>
          <p:cNvSpPr/>
          <p:nvPr/>
        </p:nvSpPr>
        <p:spPr>
          <a:xfrm>
            <a:off x="694944" y="5056632"/>
            <a:ext cx="502920" cy="502920"/>
          </a:xfrm>
          <a:prstGeom prst="ellipse">
            <a:avLst/>
          </a:prstGeom>
          <a:solidFill>
            <a:srgbClr val="D98E2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1" name="Image 1" descr="/home/claude/day1_ppt/icons/check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324" y="5122012"/>
            <a:ext cx="372161" cy="372161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1325880" y="4983480"/>
            <a:ext cx="1013429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① 단계의 원문이 부정확하면 ③의 CoT 프롬프트를 아무리 정교하게 짜도 결과 신뢰도는 원문 수준을 넘어설 수 없다. ④는 다음 절 'AI 결과 검증' 원칙과 직결된다.</a:t>
            </a:r>
            <a:endParaRPr lang="en-US" sz="1250" dirty="0"/>
          </a:p>
        </p:txBody>
      </p:sp>
      <p:sp>
        <p:nvSpPr>
          <p:cNvPr id="33" name="Text 29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생성형 AI 기반 무역 컴플라이언스 및 관세·ESG 리스크 최적화 과정  ·  1일차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/home/claude/day1_ppt/icons/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41" y="530901"/>
            <a:ext cx="419527" cy="4195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3891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8E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1.3.7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714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결과 검증 — 할루시네이션 방지 3원칙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1536192"/>
            <a:ext cx="11094415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200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b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원칙 1. 조항 번호는 반드시 원문 대조</a:t>
            </a:r>
            <a:endParaRPr lang="en-US" sz="1600" dirty="0"/>
          </a:p>
          <a:p>
            <a:pPr marL="0" indent="0">
              <a:lnSpc>
                <a:spcPct val="200000"/>
              </a:lnSpc>
              <a:spcAft>
                <a:spcPts val="1400"/>
              </a:spcAft>
              <a:buNone/>
            </a:pPr>
            <a:r>
              <a:rPr lang="en-US" sz="1400" dirty="0">
                <a:solidFill>
                  <a:srgbClr val="3341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AI가 인용한 조항 번호·페이지를 원문에서 직접 찾아 실제로 그런 내용이 있는지 확인</a:t>
            </a:r>
            <a:endParaRPr lang="en-US" sz="1600" dirty="0"/>
          </a:p>
          <a:p>
            <a:pPr marL="228600" indent="-228600">
              <a:lnSpc>
                <a:spcPct val="200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b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원칙 2. 숫자·수치는 별도 재계산</a:t>
            </a:r>
            <a:endParaRPr lang="en-US" sz="1600" dirty="0"/>
          </a:p>
          <a:p>
            <a:pPr marL="0" indent="0">
              <a:lnSpc>
                <a:spcPct val="200000"/>
              </a:lnSpc>
              <a:spcAft>
                <a:spcPts val="1400"/>
              </a:spcAft>
              <a:buNone/>
            </a:pPr>
            <a:r>
              <a:rPr lang="en-US" sz="1400" dirty="0">
                <a:solidFill>
                  <a:srgbClr val="3341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배출량 계수, 세율 등 수치는 AI 응답만으로 확정하지 않고 원문 산식으로 재계산해 교차 검증</a:t>
            </a:r>
            <a:endParaRPr lang="en-US" sz="1600" dirty="0"/>
          </a:p>
          <a:p>
            <a:pPr marL="228600" indent="-228600">
              <a:lnSpc>
                <a:spcPct val="200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b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원칙 3. '모른다'는 답을 유도하는 프롬프트 사용</a:t>
            </a:r>
            <a:endParaRPr lang="en-US" sz="1600" dirty="0"/>
          </a:p>
          <a:p>
            <a:pPr marL="0" indent="0">
              <a:lnSpc>
                <a:spcPct val="200000"/>
              </a:lnSpc>
              <a:spcAft>
                <a:spcPts val="1400"/>
              </a:spcAft>
              <a:buNone/>
            </a:pPr>
            <a:r>
              <a:rPr lang="en-US" sz="1400" dirty="0">
                <a:solidFill>
                  <a:srgbClr val="3341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"원문에 없는 내용은 추측하지 말고 '해당 정보 없음'이라고 답해줘"와 같은 지시를 명시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5440680"/>
            <a:ext cx="11094415" cy="868680"/>
          </a:xfrm>
          <a:prstGeom prst="roundRect">
            <a:avLst>
              <a:gd name="adj" fmla="val 8421"/>
            </a:avLst>
          </a:prstGeom>
          <a:solidFill>
            <a:srgbClr val="FBEED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713232" y="5596128"/>
            <a:ext cx="548640" cy="548640"/>
          </a:xfrm>
          <a:prstGeom prst="ellipse">
            <a:avLst/>
          </a:prstGeom>
          <a:solidFill>
            <a:srgbClr val="D98E2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1" descr="/home/claude/day1_ppt/icons/alert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" y="5667451"/>
            <a:ext cx="405994" cy="40599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5513832"/>
            <a:ext cx="1004285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정량 사례 — 검증 지시 없이 질의 시 조항 번호 오류·누락률이 원문 대비 약 10~15% 수준으로 보고됨. 원칙 3 명시만으로 오류율이 눈에 띄게 감소. 이 3원칙은 5일차 에이전트·6일차 'AI Reviewer' 역할의 기초가 된다.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생성형 AI 기반 무역 컴플라이언스 및 관세·ESG 리스크 최적화 과정  ·  1일차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/home/claude/day1_ppt/icons/check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41" y="530901"/>
            <a:ext cx="419527" cy="4195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02920"/>
            <a:ext cx="102714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이론 정리 체크 (셀프 점검)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60020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3341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다음 질문에 스스로 답해보고, 애매한 항목은 실습 전 강사에게 질문한다.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2159203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1097280" y="2103120"/>
            <a:ext cx="10545775" cy="701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도입으로 과태료·페널티를 방지한 사례에서, 사람이 최종적으로 맡은 역할이 무엇인지 설명할 수 있는가?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548640" y="2860243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1097280" y="2804160"/>
            <a:ext cx="10545775" cy="701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CBAM 적용 6대 품목을 말할 수 있는가?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48640" y="3561283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1097280" y="3505200"/>
            <a:ext cx="10545775" cy="701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Scope 1·2·3의 차이를 한 문장으로 설명할 수 있는가?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548640" y="4262323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1097280" y="4206240"/>
            <a:ext cx="10545775" cy="701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정형 데이터와 비정형 데이터의 차이를, 오늘 다루는 CBAM 원문을 예로 들어 설명할 수 있는가?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548640" y="4963363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1097280" y="4907280"/>
            <a:ext cx="10545775" cy="701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CoT 프롬프트와 일반 프롬프트의 차이를 예시로 설명할 수 있는가?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548640" y="5664403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1097280" y="5608320"/>
            <a:ext cx="10545775" cy="701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할루시네이션 방지 3원칙을 나열할 수 있는가?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생성형 AI 기반 무역 컴플라이언스 및 관세·ESG 리스크 최적화 과정  ·  1일차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/home/claude/day1_ppt/icons/too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41" y="530901"/>
            <a:ext cx="419527" cy="4195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3891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8E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1.3.8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714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 과정에서 활용하는 4가지 AI 도구</a:t>
            </a:r>
            <a:endParaRPr lang="en-US" sz="26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36192"/>
          <a:ext cx="11094415" cy="320040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508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도구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사용 시점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핵심 장점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GPT형 대화 프롬프트</a:t>
                      </a:r>
                      <a:endParaRPr lang="en-US" sz="13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1~2일차 이론·실습 전반 및 전 일차 상시 활용</a:t>
                      </a:r>
                      <a:endParaRPr lang="en-US" sz="13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진입장벽 없이 비전공자도 즉시 실무 적용 가능</a:t>
                      </a:r>
                      <a:endParaRPr lang="en-US" sz="13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Orange3 (노코드 위젯)</a:t>
                      </a:r>
                      <a:endParaRPr lang="en-US" sz="13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1~3일차 에이전트 빌드(Block C) 실습</a:t>
                      </a:r>
                      <a:endParaRPr lang="en-US" sz="13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코드 없이도 분류·예측의 작동 원리를 직접 체감</a:t>
                      </a:r>
                      <a:endParaRPr lang="en-US" sz="13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파이썬 기반 에이전트</a:t>
                      </a:r>
                      <a:endParaRPr lang="en-US" sz="13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전 일차 심화 예제, 4일차 서류 교차검증 자동화</a:t>
                      </a:r>
                      <a:endParaRPr lang="en-US" sz="13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위젯 목록에 없는 기능도 자유롭게 구현하는 실무형 자동화</a:t>
                      </a:r>
                      <a:endParaRPr lang="en-US" sz="13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RAG + Streamlit 대시보드</a:t>
                      </a:r>
                      <a:endParaRPr lang="en-US" sz="13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5일차 통합 대응 대시보드, 6일차 종합 프로젝트</a:t>
                      </a:r>
                      <a:endParaRPr lang="en-US" sz="13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개별 도구의 결과를 하나의 화면으로 통합해 실제 배포 형태 체감</a:t>
                      </a:r>
                      <a:endParaRPr lang="en-US" sz="13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532120"/>
            <a:ext cx="11094415" cy="777240"/>
          </a:xfrm>
          <a:prstGeom prst="roundRect">
            <a:avLst>
              <a:gd name="adj" fmla="val 9412"/>
            </a:avLst>
          </a:prstGeom>
          <a:solidFill>
            <a:srgbClr val="FBEED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4"/>
          <p:cNvSpPr/>
          <p:nvPr/>
        </p:nvSpPr>
        <p:spPr>
          <a:xfrm>
            <a:off x="694944" y="5650992"/>
            <a:ext cx="502920" cy="502920"/>
          </a:xfrm>
          <a:prstGeom prst="ellipse">
            <a:avLst/>
          </a:prstGeom>
          <a:solidFill>
            <a:srgbClr val="D98E2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1" descr="/home/claude/day1_ppt/icons/alert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324" y="5716372"/>
            <a:ext cx="372161" cy="37216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325880" y="5586984"/>
            <a:ext cx="1013429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네 도구는 '진입장벽이 낮은 것 → 높은 것, 단발성 질의 → 자동화된 서비스'로 단계적으로 심화되도록 배치되어 있다.</a:t>
            </a:r>
            <a:endParaRPr lang="en-US" sz="1250" dirty="0"/>
          </a:p>
        </p:txBody>
      </p:sp>
      <p:sp>
        <p:nvSpPr>
          <p:cNvPr id="11" name="Text 6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생성형 AI 기반 무역 컴플라이언스 및 관세·ESG 리스크 최적화 과정  ·  1일차</a:t>
            </a:r>
            <a:endParaRPr lang="en-US" sz="900" dirty="0"/>
          </a:p>
        </p:txBody>
      </p:sp>
      <p:sp>
        <p:nvSpPr>
          <p:cNvPr id="12" name="Text 7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/home/claude/day1_ppt/icons/messageSqu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41" y="530901"/>
            <a:ext cx="419527" cy="4195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02920"/>
            <a:ext cx="102714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가. GPT형 대화 프롬프트 — 전 과정의 기본 도구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536192"/>
            <a:ext cx="11094415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200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3341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설치·프로그래밍 지식 없이 웹 브라우저에서 바로 사용 — 이 과정에서 가장 먼저 접하고 가장 오래 사용하는 도구</a:t>
            </a:r>
            <a:endParaRPr lang="en-US" sz="1600" dirty="0"/>
          </a:p>
          <a:p>
            <a:pPr marL="228600" indent="-228600">
              <a:lnSpc>
                <a:spcPct val="200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b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강점 — 범용성</a:t>
            </a:r>
            <a:endParaRPr lang="en-US" sz="1600" dirty="0"/>
          </a:p>
          <a:p>
            <a:pPr marL="0" indent="0">
              <a:lnSpc>
                <a:spcPct val="200000"/>
              </a:lnSpc>
              <a:spcAft>
                <a:spcPts val="1400"/>
              </a:spcAft>
              <a:buNone/>
            </a:pPr>
            <a:r>
              <a:rPr lang="en-US" sz="1400" dirty="0">
                <a:solidFill>
                  <a:srgbClr val="3341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관세법 원문 요약, 계약 조항 검토, 이메일 초안 작성, 회의록 정리 등 형식이 정해지지 않은 비정형 텍스트 업무 전반에 즉시 적용</a:t>
            </a:r>
            <a:endParaRPr lang="en-US" sz="1600" dirty="0"/>
          </a:p>
          <a:p>
            <a:pPr marL="228600" indent="-228600">
              <a:lnSpc>
                <a:spcPct val="200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b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한계</a:t>
            </a:r>
            <a:endParaRPr lang="en-US" sz="1600" dirty="0"/>
          </a:p>
          <a:p>
            <a:pPr marL="0" indent="0">
              <a:lnSpc>
                <a:spcPct val="200000"/>
              </a:lnSpc>
              <a:spcAft>
                <a:spcPts val="1400"/>
              </a:spcAft>
              <a:buNone/>
            </a:pPr>
            <a:r>
              <a:rPr lang="en-US" sz="1400" dirty="0">
                <a:solidFill>
                  <a:srgbClr val="3341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매 질의마다 사람이 직접 프롬프트를 입력해야 하므로, 동일 작업을 대량·반복 처리해야 하는 업무에는 효율이 떨어짐 → Orange3·파이썬 에이전트가 필요한 이유로 이어짐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5440680"/>
            <a:ext cx="11094415" cy="868680"/>
          </a:xfrm>
          <a:prstGeom prst="roundRect">
            <a:avLst>
              <a:gd name="adj" fmla="val 8421"/>
            </a:avLst>
          </a:prstGeom>
          <a:solidFill>
            <a:srgbClr val="FBEED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713232" y="5596128"/>
            <a:ext cx="548640" cy="548640"/>
          </a:xfrm>
          <a:prstGeom prst="ellipse">
            <a:avLst/>
          </a:prstGeom>
          <a:solidFill>
            <a:srgbClr val="D98E2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1" descr="/home/claude/day1_ppt/icons/alert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" y="5667451"/>
            <a:ext cx="405994" cy="40599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17320" y="5513832"/>
            <a:ext cx="1004285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현업 사례 — 해외 바이어 클레임 메일을 프롬프트에 붙여넣고 '3줄 요약 + 불리 조항 표시'로 초기 대응 시간 단축(정식 회신 전 원문 대조 필수).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생성형 AI 기반 무역 컴플라이언스 및 관세·ESG 리스크 최적화 과정  ·  1일차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/home/claude/day1_ppt/icons/gitBran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41" y="530901"/>
            <a:ext cx="419527" cy="4195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02920"/>
            <a:ext cx="102714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나. Orange3 — 마우스 클릭만으로 만드는 노코드 파이프라인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536192"/>
            <a:ext cx="11094415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200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3341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'위젯(widget)'을 화면에 배치하고 선으로 연결해 데이터 처리 흐름을 완성하는 오픈소스 노코드 프로그램</a:t>
            </a:r>
            <a:endParaRPr lang="en-US" sz="1600" dirty="0"/>
          </a:p>
          <a:p>
            <a:pPr marL="228600" indent="-228600">
              <a:lnSpc>
                <a:spcPct val="200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b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GPT형 프롬프트와의 차이 — '자동화'</a:t>
            </a:r>
            <a:endParaRPr lang="en-US" sz="1600" dirty="0"/>
          </a:p>
          <a:p>
            <a:pPr marL="0" indent="0">
              <a:lnSpc>
                <a:spcPct val="200000"/>
              </a:lnSpc>
              <a:spcAft>
                <a:spcPts val="1400"/>
              </a:spcAft>
              <a:buNone/>
            </a:pPr>
            <a:r>
              <a:rPr lang="en-US" sz="1400" dirty="0">
                <a:solidFill>
                  <a:srgbClr val="3341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프롬프트는 매번 사람이 다시 입력해야 하지만, Orange3로 조립한 파이프라인은 한 번 구성해두면 새 데이터를 넣을 때마다 동일 처리 과정이 자동 반복</a:t>
            </a:r>
            <a:endParaRPr lang="en-US" sz="1600" dirty="0"/>
          </a:p>
          <a:p>
            <a:pPr marL="228600" indent="-228600">
              <a:lnSpc>
                <a:spcPct val="200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b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한계</a:t>
            </a:r>
            <a:endParaRPr lang="en-US" sz="1600" dirty="0"/>
          </a:p>
          <a:p>
            <a:pPr marL="0" indent="0">
              <a:lnSpc>
                <a:spcPct val="200000"/>
              </a:lnSpc>
              <a:spcAft>
                <a:spcPts val="1400"/>
              </a:spcAft>
              <a:buNone/>
            </a:pPr>
            <a:r>
              <a:rPr lang="en-US" sz="1400" dirty="0">
                <a:solidFill>
                  <a:srgbClr val="3341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위젯 목록에 등록된 기능(분류, 회귀, 군집화, 텍스트 마이닝 등) 안에서만 동작 — LLM 호출 기능이 없어 목록에 없는 특수 로직 구현은 어려움 → 파이썬 기반 에이전트로 확장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5440680"/>
            <a:ext cx="11094415" cy="868680"/>
          </a:xfrm>
          <a:prstGeom prst="roundRect">
            <a:avLst>
              <a:gd name="adj" fmla="val 8421"/>
            </a:avLst>
          </a:prstGeom>
          <a:solidFill>
            <a:srgbClr val="FBEED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713232" y="5596128"/>
            <a:ext cx="548640" cy="548640"/>
          </a:xfrm>
          <a:prstGeom prst="ellipse">
            <a:avLst/>
          </a:prstGeom>
          <a:solidFill>
            <a:srgbClr val="D98E2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1" descr="/home/claude/day1_ppt/icons/alert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" y="5667451"/>
            <a:ext cx="405994" cy="40599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17320" y="5513832"/>
            <a:ext cx="1004285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류블랴나대학교(슬로베니아)에서 데이터 마이닝 교육용으로 개발되어, 여러 대학·기업 교육기관에서 노코드 머신러닝 입문 도구로 널리 활용된다.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생성형 AI 기반 무역 컴플라이언스 및 관세·ESG 리스크 최적화 과정  ·  1일차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/home/claude/day1_ppt/icons/term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41" y="530901"/>
            <a:ext cx="419527" cy="4195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02920"/>
            <a:ext cx="102714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다. 파이썬 기반 에이전트 — 제한 없는 맞춤형 자동화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536192"/>
            <a:ext cx="11094415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200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b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페어 프로그래밍 방식</a:t>
            </a:r>
            <a:endParaRPr lang="en-US" sz="1600" dirty="0"/>
          </a:p>
          <a:p>
            <a:pPr marL="0" indent="0">
              <a:lnSpc>
                <a:spcPct val="200000"/>
              </a:lnSpc>
              <a:spcAft>
                <a:spcPts val="1400"/>
              </a:spcAft>
              <a:buNone/>
            </a:pPr>
            <a:r>
              <a:rPr lang="en-US" sz="1400" dirty="0">
                <a:solidFill>
                  <a:srgbClr val="3341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학습자가 코드를 처음부터 작성하지 않고, 생성형 AI에게 원하는 기능을 자연어로 설명하면 AI가 코드를 생성 — 코딩 경험 없어도 활용 가능</a:t>
            </a:r>
            <a:endParaRPr lang="en-US" sz="1600" dirty="0"/>
          </a:p>
          <a:p>
            <a:pPr marL="228600" indent="-228600">
              <a:lnSpc>
                <a:spcPct val="200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b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장점 — 제한이 사실상 없음</a:t>
            </a:r>
            <a:endParaRPr lang="en-US" sz="1600" dirty="0"/>
          </a:p>
          <a:p>
            <a:pPr marL="0" indent="0">
              <a:lnSpc>
                <a:spcPct val="200000"/>
              </a:lnSpc>
              <a:spcAft>
                <a:spcPts val="1400"/>
              </a:spcAft>
              <a:buNone/>
            </a:pPr>
            <a:r>
              <a:rPr lang="en-US" sz="1400" dirty="0">
                <a:solidFill>
                  <a:srgbClr val="3341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사내 서류 양식 파싱, 다중 시스템 연동 자동 알림, 조건별 분기 처리가 필요한 복잡한 검증 규칙 등 자유롭게 구현</a:t>
            </a:r>
            <a:endParaRPr lang="en-US" sz="1600" dirty="0"/>
          </a:p>
          <a:p>
            <a:pPr marL="228600" indent="-228600">
              <a:lnSpc>
                <a:spcPct val="200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3341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4일차 통관 서류 교차검증 자동화, 5일차 통합 대응 대시보드처럼 실무 투입 가능한 수준의 자동화에 필수적인 도구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5440680"/>
            <a:ext cx="11094415" cy="868680"/>
          </a:xfrm>
          <a:prstGeom prst="roundRect">
            <a:avLst>
              <a:gd name="adj" fmla="val 8421"/>
            </a:avLst>
          </a:prstGeom>
          <a:solidFill>
            <a:srgbClr val="FBEED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713232" y="5596128"/>
            <a:ext cx="548640" cy="548640"/>
          </a:xfrm>
          <a:prstGeom prst="ellipse">
            <a:avLst/>
          </a:prstGeom>
          <a:solidFill>
            <a:srgbClr val="D98E2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1" descr="/home/claude/day1_ppt/icons/alert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" y="5667451"/>
            <a:ext cx="405994" cy="40599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17320" y="5513832"/>
            <a:ext cx="1004285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현업 사례 — 계약 조항 리스크를 자동 채점하고 위험도를 신호등(적·황·녹)으로 표시하는 대시보드는, 사내 고유의 채점 기준을 코드로 직접 반영해야 하는 영역으로 Orange3만으로는 구현이 어렵다.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생성형 AI 기반 무역 컴플라이언스 및 관세·ESG 리스크 최적화 과정  ·  1일차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/home/claude/day1_ppt/icons/li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41" y="530901"/>
            <a:ext cx="419527" cy="4195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02920"/>
            <a:ext cx="102714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라. RAG + Streamlit 대시보드 — 개별 도구를 하나의 서비스로 통합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536192"/>
            <a:ext cx="11094415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200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b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RAG (검색증강생성)</a:t>
            </a:r>
            <a:endParaRPr lang="en-US" sz="1600" dirty="0"/>
          </a:p>
          <a:p>
            <a:pPr marL="0" indent="0">
              <a:lnSpc>
                <a:spcPct val="200000"/>
              </a:lnSpc>
              <a:spcAft>
                <a:spcPts val="1400"/>
              </a:spcAft>
              <a:buNone/>
            </a:pPr>
            <a:r>
              <a:rPr lang="en-US" sz="1400" dirty="0">
                <a:solidFill>
                  <a:srgbClr val="3341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생성형 AI가 답변을 만들기 전 미리 구축된 문서·DB에서 관련 내용을 먼저 검색한 뒤, 그 내용을 근거로 답변 생성 — 할루시네이션을 줄이고 신뢰도를 높임</a:t>
            </a:r>
            <a:endParaRPr lang="en-US" sz="1600" dirty="0"/>
          </a:p>
          <a:p>
            <a:pPr marL="228600" indent="-228600">
              <a:lnSpc>
                <a:spcPct val="200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b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Streamlit</a:t>
            </a:r>
            <a:endParaRPr lang="en-US" sz="1600" dirty="0"/>
          </a:p>
          <a:p>
            <a:pPr marL="0" indent="0">
              <a:lnSpc>
                <a:spcPct val="200000"/>
              </a:lnSpc>
              <a:spcAft>
                <a:spcPts val="1400"/>
              </a:spcAft>
              <a:buNone/>
            </a:pPr>
            <a:r>
              <a:rPr lang="en-US" sz="1400" dirty="0">
                <a:solidFill>
                  <a:srgbClr val="3341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파이썬 코드만으로 웹 화면(대시보드)을 빠르게 만드는 프레임워크</a:t>
            </a:r>
            <a:endParaRPr lang="en-US" sz="1600" dirty="0"/>
          </a:p>
          <a:p>
            <a:pPr marL="228600" indent="-228600">
              <a:lnSpc>
                <a:spcPct val="200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b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5일차의 의미</a:t>
            </a:r>
            <a:endParaRPr lang="en-US" sz="1600" dirty="0"/>
          </a:p>
          <a:p>
            <a:pPr marL="0" indent="0">
              <a:lnSpc>
                <a:spcPct val="200000"/>
              </a:lnSpc>
              <a:spcAft>
                <a:spcPts val="1400"/>
              </a:spcAft>
              <a:buNone/>
            </a:pPr>
            <a:r>
              <a:rPr lang="en-US" sz="1400" dirty="0">
                <a:solidFill>
                  <a:srgbClr val="3341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1~4일차에 각각 따로 만든 프롬프트·Orange3·파이썬 에이전트 결과물을 하나의 화면 안에 모으는 '멀티에이전트 통합 대시보드' 실습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5440680"/>
            <a:ext cx="11094415" cy="868680"/>
          </a:xfrm>
          <a:prstGeom prst="roundRect">
            <a:avLst>
              <a:gd name="adj" fmla="val 8421"/>
            </a:avLst>
          </a:prstGeom>
          <a:solidFill>
            <a:srgbClr val="FBEED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713232" y="5596128"/>
            <a:ext cx="548640" cy="548640"/>
          </a:xfrm>
          <a:prstGeom prst="ellipse">
            <a:avLst/>
          </a:prstGeom>
          <a:solidFill>
            <a:srgbClr val="D98E2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1" descr="/home/claude/day1_ppt/icons/alert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" y="5667451"/>
            <a:ext cx="405994" cy="40599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17320" y="5513832"/>
            <a:ext cx="1004285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현업 사례 — 사내 규정집·해외 관세법·CBAM 가이드라인을 RAG로 색인해두면, '이 품목이 CBAM 대상인지'를 질문했을 때 AI가 근거 조항과 함께 즉시 답변한다.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생성형 AI 기반 무역 컴플라이언스 및 관세·ESG 리스크 최적화 과정  ·  1일차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/home/claude/day1_ppt/icons/trending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41" y="530901"/>
            <a:ext cx="419527" cy="4195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02920"/>
            <a:ext cx="102714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학습 순서의 설계 논리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536192"/>
            <a:ext cx="11094415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200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3341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네 가지 도구는 우연히 나열된 것이 아니라, '진입장벽이 낮은 것에서 높은 것으로, 단발성 질의에서 자동화된 서비스로' 단계적으로 심화되도록 배치</a:t>
            </a:r>
            <a:endParaRPr lang="en-US" sz="1600" dirty="0"/>
          </a:p>
          <a:p>
            <a:pPr marL="228600" indent="-228600">
              <a:lnSpc>
                <a:spcPct val="200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3341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GPT형 프롬프트(1~2일차, 대화 감각) → Orange3(1~3일차, 자동화·ML 원리 체감) → 파이썬 에이전트(전 일차 심화, 맞춤 자동화) → RAG+Streamlit(5~6일차, 통합 서비스 완성)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5440680"/>
            <a:ext cx="11094415" cy="868680"/>
          </a:xfrm>
          <a:prstGeom prst="roundRect">
            <a:avLst>
              <a:gd name="adj" fmla="val 8421"/>
            </a:avLst>
          </a:prstGeom>
          <a:solidFill>
            <a:srgbClr val="FBEED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713232" y="5596128"/>
            <a:ext cx="548640" cy="548640"/>
          </a:xfrm>
          <a:prstGeom prst="ellipse">
            <a:avLst/>
          </a:prstGeom>
          <a:solidFill>
            <a:srgbClr val="D98E2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1" descr="/home/claude/day1_ppt/icons/alert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" y="5667451"/>
            <a:ext cx="405994" cy="40599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17320" y="5513832"/>
            <a:ext cx="1004285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 순서를 미리 알고 있으면, 6일차 고도화 및 종합 프로젝트(위기카드 해커톤)에서 도구를 상황에 맞게 조합해 활용하는 데 큰 도움이 된다.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생성형 AI 기반 무역 컴플라이언스 및 관세·ESG 리스크 최적화 과정  ·  1일차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/home/claude/day1_ppt/icons/bar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41" y="530901"/>
            <a:ext cx="419527" cy="4195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3891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8E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1.3.9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714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국내외 실제 규제 집행 사례와 통계로 보는 리스크 현실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1536192"/>
            <a:ext cx="11094415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200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3341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지금까지의 사례들은 실무 흐름을 보여주기 위한 예시였다면, 이번 절은 실제 정부·국제기구·법무법인이 공식 발표한 통계·집행 사례로 리스크가 '가정'이 아닌 '현재 진행형의 재무적 손실'임을 확인한다</a:t>
            </a:r>
            <a:endParaRPr lang="en-US" sz="1600" dirty="0"/>
          </a:p>
          <a:p>
            <a:pPr marL="228600" indent="-228600">
              <a:lnSpc>
                <a:spcPct val="200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b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세 축의 리스크</a:t>
            </a:r>
            <a:endParaRPr lang="en-US" sz="1600" dirty="0"/>
          </a:p>
          <a:p>
            <a:pPr marL="0" indent="0">
              <a:lnSpc>
                <a:spcPct val="200000"/>
              </a:lnSpc>
              <a:spcAft>
                <a:spcPts val="1400"/>
              </a:spcAft>
              <a:buNone/>
            </a:pPr>
            <a:r>
              <a:rPr lang="en-US" sz="1400" dirty="0">
                <a:solidFill>
                  <a:srgbClr val="3341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강제노동 공급망 규제(미국 UFLPA) · 탄소국경세(EU CBAM) · 품목분류 오류(한국·인도 통관 실무)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생성형 AI 기반 무역 컴플라이언스 및 관세·ESG 리스크 최적화 과정  ·  1일차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40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/home/claude/day1_ppt/icons/alertTriang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41" y="530901"/>
            <a:ext cx="419527" cy="4195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02920"/>
            <a:ext cx="102714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미국 UFLPA — 공급망 리스크가 화물 억류로 직결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691640"/>
            <a:ext cx="3515258" cy="2286000"/>
          </a:xfrm>
          <a:prstGeom prst="roundRect">
            <a:avLst>
              <a:gd name="adj" fmla="val 3200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685800" y="1920240"/>
            <a:ext cx="324093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98E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9,791건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685800" y="2880360"/>
            <a:ext cx="324093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누적 통관 보류 대상 (35.6억 달러 상당, 2024.9.1 기준)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338218" y="1691640"/>
            <a:ext cx="3515258" cy="2286000"/>
          </a:xfrm>
          <a:prstGeom prst="roundRect">
            <a:avLst>
              <a:gd name="adj" fmla="val 3200"/>
            </a:avLst>
          </a:prstGeom>
          <a:solidFill>
            <a:srgbClr val="E8EE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4475378" y="1920240"/>
            <a:ext cx="324093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3,976건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4475378" y="2880360"/>
            <a:ext cx="324093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3341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최종 통관 거부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127797" y="1691640"/>
            <a:ext cx="3515258" cy="2286000"/>
          </a:xfrm>
          <a:prstGeom prst="roundRect">
            <a:avLst>
              <a:gd name="adj" fmla="val 3200"/>
            </a:avLst>
          </a:prstGeom>
          <a:solidFill>
            <a:srgbClr val="E8EE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8264957" y="1920240"/>
            <a:ext cx="324093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4,573건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8264957" y="2880360"/>
            <a:ext cx="324093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3341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통관 허가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48640" y="4297680"/>
            <a:ext cx="11094415" cy="1051560"/>
          </a:xfrm>
          <a:prstGeom prst="roundRect">
            <a:avLst>
              <a:gd name="adj" fmla="val 6957"/>
            </a:avLst>
          </a:prstGeom>
          <a:solidFill>
            <a:srgbClr val="FBEED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713232" y="4498848"/>
            <a:ext cx="566928" cy="566928"/>
          </a:xfrm>
          <a:prstGeom prst="ellipse">
            <a:avLst/>
          </a:prstGeom>
          <a:solidFill>
            <a:srgbClr val="D98E2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1" descr="/home/claude/day1_ppt/icons/alert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933" y="4572549"/>
            <a:ext cx="419527" cy="419527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444752" y="4389120"/>
            <a:ext cx="999713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구조 — '무죄 추정'이 아닌 '유죄 추정': 수입자가 강제노동과 무관함을 직접 입증하지 못하면 통관 보류. 억류 금액 국가 순위는 중국이 아닌 말레이시아·베트남·태국·중국·인도 순 — 제3국 우회 공급망 패턴이 광범위하게 존재함을 시사.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생성형 AI 기반 무역 컴플라이언스 및 관세·ESG 리스크 최적화 과정  ·  1일차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41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/home/claude/day1_ppt/icons/glo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41" y="530901"/>
            <a:ext cx="419527" cy="4195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02920"/>
            <a:ext cx="102714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EU CBAM — 한국 기업 1,670여 개사가 이미 영향권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691640"/>
            <a:ext cx="3515258" cy="2286000"/>
          </a:xfrm>
          <a:prstGeom prst="roundRect">
            <a:avLst>
              <a:gd name="adj" fmla="val 3200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685800" y="1920240"/>
            <a:ext cx="324093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98E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1,670여 곳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685800" y="2880360"/>
            <a:ext cx="324093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2022년 EU로 CBAM 대상 CN코드 수출한 한국 기업 (전체)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338218" y="1691640"/>
            <a:ext cx="3515258" cy="2286000"/>
          </a:xfrm>
          <a:prstGeom prst="roundRect">
            <a:avLst>
              <a:gd name="adj" fmla="val 3200"/>
            </a:avLst>
          </a:prstGeom>
          <a:solidFill>
            <a:srgbClr val="E8EE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4475378" y="1920240"/>
            <a:ext cx="324093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130여 곳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4475378" y="2880360"/>
            <a:ext cx="324093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3341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철강(100여)·알루미늄(30여) 직접 제조·가공 기업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127797" y="1691640"/>
            <a:ext cx="3515258" cy="2286000"/>
          </a:xfrm>
          <a:prstGeom prst="roundRect">
            <a:avLst>
              <a:gd name="adj" fmla="val 3200"/>
            </a:avLst>
          </a:prstGeom>
          <a:solidFill>
            <a:srgbClr val="E8EE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8264957" y="1920240"/>
            <a:ext cx="324093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1,500여 곳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8264957" y="2880360"/>
            <a:ext cx="324093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3341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부품 사용·유통 등 간접 이행 의무자 (가전·자동차부품·조선 등)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48640" y="4297680"/>
            <a:ext cx="11094415" cy="1051560"/>
          </a:xfrm>
          <a:prstGeom prst="roundRect">
            <a:avLst>
              <a:gd name="adj" fmla="val 6957"/>
            </a:avLst>
          </a:prstGeom>
          <a:solidFill>
            <a:srgbClr val="FBEED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713232" y="4498848"/>
            <a:ext cx="566928" cy="566928"/>
          </a:xfrm>
          <a:prstGeom prst="ellipse">
            <a:avLst/>
          </a:prstGeom>
          <a:solidFill>
            <a:srgbClr val="D98E2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1" descr="/home/claude/day1_ppt/icons/alert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933" y="4572549"/>
            <a:ext cx="419527" cy="419527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444752" y="4389120"/>
            <a:ext cx="999713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확정기간(2026.1.1~)부터 인증서 미제출 시 과징금 + 미제출 인증서 추가 제출의 이중 부담. 2025.10 개정으로 제3자(협력사) 오류 입증 시 벌금 감경이 가능해졌지만, 반대로 협력사 데이터의 정확성을 검증할 책임이 수입자에게 있음이 명확해졌다.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생성형 AI 기반 무역 컴플라이언스 및 관세·ESG 리스크 최적화 과정  ·  1일차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42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/home/claude/day1_ppt/icons/file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41" y="530901"/>
            <a:ext cx="419527" cy="4195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02920"/>
            <a:ext cx="102714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HS코드 오분류에 따른 관세 추징 — 관세청·KOTRA 공식 사례집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536192"/>
            <a:ext cx="11094415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200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b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사례 1 — 인도 통관</a:t>
            </a:r>
            <a:endParaRPr lang="en-US" sz="1600" dirty="0"/>
          </a:p>
          <a:p>
            <a:pPr marL="0" indent="0">
              <a:lnSpc>
                <a:spcPct val="200000"/>
              </a:lnSpc>
              <a:spcAft>
                <a:spcPts val="1400"/>
              </a:spcAft>
              <a:buNone/>
            </a:pPr>
            <a:r>
              <a:rPr lang="en-US" sz="1400" dirty="0">
                <a:solidFill>
                  <a:srgbClr val="3341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한국산 철강을 제7229호로 신고, 한-인도 CEPA 협정세율로 통관 완료 → 통관 후 세관이 제7227호로 변경 요구 → 원산지증명서 무효화되어 이미 감면받은 관세를 소급 추징</a:t>
            </a:r>
            <a:endParaRPr lang="en-US" sz="1600" dirty="0"/>
          </a:p>
          <a:p>
            <a:pPr marL="228600" indent="-228600">
              <a:lnSpc>
                <a:spcPct val="200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b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사례 2 — 흡습제 품목분류 분쟁</a:t>
            </a:r>
            <a:endParaRPr lang="en-US" sz="1600" dirty="0"/>
          </a:p>
          <a:p>
            <a:pPr marL="0" indent="0">
              <a:lnSpc>
                <a:spcPct val="200000"/>
              </a:lnSpc>
              <a:spcAft>
                <a:spcPts val="1400"/>
              </a:spcAft>
              <a:buNone/>
            </a:pPr>
            <a:r>
              <a:rPr lang="en-US" sz="1400" dirty="0">
                <a:solidFill>
                  <a:srgbClr val="3341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제3824호로 신고했으나 포장지의 '산화칼슘' 표기를 근거로 세관이 제2825호(화합물)로 판단 → CEPA 협정세율 무효화 + 통관 지연으로 물류·납기 리스크까지 발생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5440680"/>
            <a:ext cx="11094415" cy="868680"/>
          </a:xfrm>
          <a:prstGeom prst="roundRect">
            <a:avLst>
              <a:gd name="adj" fmla="val 8421"/>
            </a:avLst>
          </a:prstGeom>
          <a:solidFill>
            <a:srgbClr val="FBEED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713232" y="5596128"/>
            <a:ext cx="548640" cy="548640"/>
          </a:xfrm>
          <a:prstGeom prst="ellipse">
            <a:avLst/>
          </a:prstGeom>
          <a:solidFill>
            <a:srgbClr val="D98E2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1" descr="/home/claude/day1_ppt/icons/alert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" y="5667451"/>
            <a:ext cx="405994" cy="40599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17320" y="5513832"/>
            <a:ext cx="1004285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품목분류는 관세율·원산지 인정·FTA 협정세율 적용 여부를 동시에 좌우하는 핵심 변수 — KOTRA는 관세평가분류원 사전 품목분류 의견 신청(약 60일 소요)을 권장한다.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생성형 AI 기반 무역 컴플라이언스 및 관세·ESG 리스크 최적화 과정  ·  1일차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43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/home/claude/day1_ppt/icons/alertTriang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41" y="530901"/>
            <a:ext cx="419527" cy="4195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02920"/>
            <a:ext cx="102714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세 사례 비교로 보는 리스크 유형</a:t>
            </a:r>
            <a:endParaRPr lang="en-US" sz="26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36192"/>
          <a:ext cx="11094415" cy="32004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476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구분</a:t>
                      </a:r>
                      <a:endParaRPr lang="en-US" sz="13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UFLPA (미국)</a:t>
                      </a:r>
                      <a:endParaRPr lang="en-US" sz="13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CBAM (EU)</a:t>
                      </a:r>
                      <a:endParaRPr lang="en-US" sz="13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HS코드 오분류</a:t>
                      </a:r>
                      <a:endParaRPr lang="en-US" sz="13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리스크 성격</a:t>
                      </a:r>
                      <a:endParaRPr lang="en-US" sz="12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공급망 출처 증빙 실패</a:t>
                      </a:r>
                      <a:endParaRPr lang="en-US" sz="12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탄소배출 데이터·인증서 미비</a:t>
                      </a:r>
                      <a:endParaRPr lang="en-US" sz="12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품목분류 판단 오류</a:t>
                      </a:r>
                      <a:endParaRPr lang="en-US" sz="12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발생 시점</a:t>
                      </a:r>
                      <a:endParaRPr lang="en-US" sz="12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통관 시 사전 억류</a:t>
                      </a:r>
                      <a:endParaRPr lang="en-US" sz="12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연 1회 정산 시 과징금</a:t>
                      </a:r>
                      <a:endParaRPr lang="en-US" sz="12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통관 전·후 모두 가능</a:t>
                      </a:r>
                      <a:endParaRPr lang="en-US" sz="12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금전적 결과</a:t>
                      </a:r>
                      <a:endParaRPr lang="en-US" sz="12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화물 압류·반송</a:t>
                      </a:r>
                      <a:endParaRPr lang="en-US" sz="12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과징금 + 인증서 이중 부담</a:t>
                      </a:r>
                      <a:endParaRPr lang="en-US" sz="12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기존 감면 관세 소급 추징</a:t>
                      </a:r>
                      <a:endParaRPr lang="en-US" sz="12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과정 연계</a:t>
                      </a:r>
                      <a:endParaRPr lang="en-US" sz="12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2~4일차 공급망 데이터 정제·교차검증</a:t>
                      </a:r>
                      <a:endParaRPr lang="en-US" sz="12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3~4일차 배출량 산정·보고서 자동화</a:t>
                      </a:r>
                      <a:endParaRPr lang="en-US" sz="12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3일차 HS Code 자동매핑</a:t>
                      </a:r>
                      <a:endParaRPr lang="en-US" sz="12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생성형 AI 기반 무역 컴플라이언스 및 관세·ESG 리스크 최적화 과정  ·  1일차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44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480560"/>
            <a:ext cx="4023360" cy="4023360"/>
          </a:xfrm>
          <a:prstGeom prst="ellipse">
            <a:avLst/>
          </a:prstGeom>
          <a:solidFill>
            <a:srgbClr val="1320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9997135" y="-1828800"/>
            <a:ext cx="3291840" cy="3291840"/>
          </a:xfrm>
          <a:prstGeom prst="ellipse">
            <a:avLst/>
          </a:prstGeom>
          <a:solidFill>
            <a:srgbClr val="3E5C86">
              <a:alpha val="4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8E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1.4 ~ 1.10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288036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실습 — CoT 프롬프트 리스크 추출과</a:t>
            </a:r>
            <a:endParaRPr lang="en-US" sz="3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Orange3 자동화 에이전트 빌드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4160520"/>
            <a:ext cx="9875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EEF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6개 라운드로 확장되는 실습 구조: 자기 품목 분석 → 타 품목 비교 → 동료 교차검증 → 프롬프트 개선 → Orange3 빌드 → 통합 발표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생성형 AI 기반 무역 컴플라이언스 및 관세·ESG 리스크 최적화 과정  ·  1일차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45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/home/claude/day1_ppt/icons/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41" y="530901"/>
            <a:ext cx="419527" cy="4195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3891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8E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1.4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714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실습 개요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1536192"/>
            <a:ext cx="11094415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200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b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실습 배경</a:t>
            </a:r>
            <a:endParaRPr lang="en-US" sz="1600" dirty="0"/>
          </a:p>
          <a:p>
            <a:pPr marL="0" indent="0">
              <a:lnSpc>
                <a:spcPct val="200000"/>
              </a:lnSpc>
              <a:spcAft>
                <a:spcPts val="1400"/>
              </a:spcAft>
              <a:buNone/>
            </a:pPr>
            <a:r>
              <a:rPr lang="en-US" sz="1400" dirty="0">
                <a:solidFill>
                  <a:srgbClr val="3341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수출입 신고 시 관세사가 EU·미국 등 해외 세관법 요구정보를 빠짐없이 파악해 신속히 자산화해야 하는 현업 수요</a:t>
            </a:r>
            <a:endParaRPr lang="en-US" sz="1600" dirty="0"/>
          </a:p>
          <a:p>
            <a:pPr marL="228600" indent="-228600">
              <a:lnSpc>
                <a:spcPct val="200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b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실습 목표(4가지)</a:t>
            </a:r>
            <a:endParaRPr lang="en-US" sz="1600" dirty="0"/>
          </a:p>
          <a:p>
            <a:pPr marL="0" indent="0">
              <a:lnSpc>
                <a:spcPct val="200000"/>
              </a:lnSpc>
              <a:spcAft>
                <a:spcPts val="1400"/>
              </a:spcAft>
              <a:buNone/>
            </a:pPr>
            <a:r>
              <a:rPr lang="en-US" sz="1400" dirty="0">
                <a:solidFill>
                  <a:srgbClr val="3341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① CoT 프롬프트로 핵심 리스크 요인 도출 ② 품목군 간 프롬프트 일반화·재사용 감각 ③ 동료 검증으로 'AI Reviewer' 관점 체험 ④ Orange3로 자동화 미니 에이전트 조립 체감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5440680"/>
            <a:ext cx="11094415" cy="868680"/>
          </a:xfrm>
          <a:prstGeom prst="roundRect">
            <a:avLst>
              <a:gd name="adj" fmla="val 8421"/>
            </a:avLst>
          </a:prstGeom>
          <a:solidFill>
            <a:srgbClr val="FBEED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713232" y="5596128"/>
            <a:ext cx="548640" cy="548640"/>
          </a:xfrm>
          <a:prstGeom prst="ellipse">
            <a:avLst/>
          </a:prstGeom>
          <a:solidFill>
            <a:srgbClr val="D98E2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1" descr="/home/claude/day1_ppt/icons/alert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" y="5667451"/>
            <a:ext cx="405994" cy="40599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5513832"/>
            <a:ext cx="1004285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실습 특징 — 단일 예제 1회 반복이 아니라 [자기품목분석→타품목비교→동료교차검증→프롬프트개선→에이전트빌드→통합발표] 6단계 구조로 진행 (별도 코딩 없음).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생성형 AI 기반 무역 컴플라이언스 및 관세·ESG 리스크 최적화 과정  ·  1일차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46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/home/claude/day1_ppt/icons/file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41" y="530901"/>
            <a:ext cx="419527" cy="4195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3891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8E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1.5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714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데이터 명세 — 실습용 샘플 데이터 4종</a:t>
            </a:r>
            <a:endParaRPr lang="en-US" sz="2600" dirty="0"/>
          </a:p>
        </p:txBody>
      </p:sp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36192"/>
          <a:ext cx="11094415" cy="914400"/>
        </p:xfrm>
        <a:graphic>
          <a:graphicData uri="http://schemas.openxmlformats.org/drawingml/2006/table">
            <a:tbl>
              <a:tblPr/>
              <a:tblGrid>
                <a:gridCol w="502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76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파일명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품목군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분량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cbam_guideline_steel_알루미늄.pdf</a:t>
                      </a:r>
                      <a:endParaRPr lang="en-US" sz="13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철강·알루미늄</a:t>
                      </a:r>
                      <a:endParaRPr lang="en-US" sz="13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A4 6p 발췌</a:t>
                      </a:r>
                      <a:endParaRPr lang="en-US" sz="13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cbam_guideline_cement_fertilizer.pdf</a:t>
                      </a:r>
                      <a:endParaRPr lang="en-US" sz="13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시멘트·비료</a:t>
                      </a:r>
                      <a:endParaRPr lang="en-US" sz="13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A4 5p 발췌</a:t>
                      </a:r>
                      <a:endParaRPr lang="en-US" sz="13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cbam_guideline_hydrogen_electricity.pdf</a:t>
                      </a:r>
                      <a:endParaRPr lang="en-US" sz="13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수소·전력</a:t>
                      </a:r>
                      <a:endParaRPr lang="en-US" sz="13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A4 4p 발췌</a:t>
                      </a:r>
                      <a:endParaRPr lang="en-US" sz="13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cbam_guideline_general_scope3.pdf</a:t>
                      </a:r>
                      <a:endParaRPr lang="en-US" sz="13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품목 공통 · Scope3 공급망 실사</a:t>
                      </a:r>
                      <a:endParaRPr lang="en-US" sz="13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A4 5p 발췌</a:t>
                      </a:r>
                      <a:endParaRPr lang="en-US" sz="13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532120"/>
            <a:ext cx="11094415" cy="777240"/>
          </a:xfrm>
          <a:prstGeom prst="roundRect">
            <a:avLst>
              <a:gd name="adj" fmla="val 9412"/>
            </a:avLst>
          </a:prstGeom>
          <a:solidFill>
            <a:srgbClr val="FBEED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4"/>
          <p:cNvSpPr/>
          <p:nvPr/>
        </p:nvSpPr>
        <p:spPr>
          <a:xfrm>
            <a:off x="694944" y="5650992"/>
            <a:ext cx="502920" cy="502920"/>
          </a:xfrm>
          <a:prstGeom prst="ellipse">
            <a:avLst/>
          </a:prstGeom>
          <a:solidFill>
            <a:srgbClr val="D98E2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1" descr="/home/claude/day1_ppt/icons/alert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324" y="5716372"/>
            <a:ext cx="372161" cy="37216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325880" y="5586984"/>
            <a:ext cx="1013429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1.7 Step2에서는 자신의 담당 품목과 가장 가까운 파일 1종을, Step3에서는 그 외 파일 중 1종을 추가로 선택해 실습한다.</a:t>
            </a:r>
            <a:endParaRPr lang="en-US" sz="1250" dirty="0"/>
          </a:p>
        </p:txBody>
      </p:sp>
      <p:sp>
        <p:nvSpPr>
          <p:cNvPr id="11" name="Text 6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생성형 AI 기반 무역 컴플라이언스 및 관세·ESG 리스크 최적화 과정  ·  1일차</a:t>
            </a:r>
            <a:endParaRPr lang="en-US" sz="900" dirty="0"/>
          </a:p>
        </p:txBody>
      </p:sp>
      <p:sp>
        <p:nvSpPr>
          <p:cNvPr id="12" name="Text 7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47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/home/claude/day1_ppt/icons/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41" y="530901"/>
            <a:ext cx="419527" cy="4195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02920"/>
            <a:ext cx="102714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에이전트 빌드 실습용 데이터 (Round 6)</a:t>
            </a:r>
            <a:endParaRPr lang="en-US" sz="2600" dirty="0"/>
          </a:p>
        </p:txBody>
      </p:sp>
      <p:graphicFrame>
        <p:nvGraphicFramePr>
          <p:cNvPr id="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36192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648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파일명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내용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형태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risk_keywords.csv</a:t>
                      </a:r>
                      <a:endParaRPr lang="en-US" sz="13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CBAM·ESG 관련 리스크 키워드 30개 목록(키워드, 가중치)</a:t>
                      </a:r>
                      <a:endParaRPr lang="en-US" sz="13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2열 CSV</a:t>
                      </a:r>
                      <a:endParaRPr lang="en-US" sz="13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sample_docs.csv</a:t>
                      </a:r>
                      <a:endParaRPr lang="en-US" sz="13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Step 2~3에서 생성한 자사 맞춤 요약본 텍스트 모음</a:t>
                      </a:r>
                      <a:endParaRPr lang="en-US" sz="13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1열 CSV(텍스트)</a:t>
                      </a:r>
                      <a:endParaRPr lang="en-US" sz="13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risk_threshold.csv</a:t>
                      </a:r>
                      <a:endParaRPr lang="en-US" sz="13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키워드 가중치 합산 구간별 신호등 기준(빨강/노랑/초록)</a:t>
                      </a:r>
                      <a:endParaRPr lang="en-US" sz="13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구간·등급 매핑표</a:t>
                      </a:r>
                      <a:endParaRPr lang="en-US" sz="13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생성형 AI 기반 무역 컴플라이언스 및 관세·ESG 리스크 최적화 과정  ·  1일차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48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/home/claude/day1_ppt/icons/gitBran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41" y="530901"/>
            <a:ext cx="419527" cy="4195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3891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8E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1.6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714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3단계 CoT 프롬프트 템플릿</a:t>
            </a:r>
            <a:endParaRPr lang="en-US" sz="2600" dirty="0"/>
          </a:p>
        </p:txBody>
      </p:sp>
      <p:graphicFrame>
        <p:nvGraphicFramePr>
          <p:cNvPr id="5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36192"/>
          <a:ext cx="11094415" cy="91440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5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620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단계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프롬프트 지시 내용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목적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1단계</a:t>
                      </a:r>
                      <a:endParaRPr lang="en-US" sz="13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"다음 원문에서 적용 대상 품목·기업 범위를 표로 정리해줘."</a:t>
                      </a:r>
                      <a:endParaRPr lang="en-US" sz="13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적용 대상 여부를 가장 먼저 판별</a:t>
                      </a:r>
                      <a:endParaRPr lang="en-US" sz="13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2단계</a:t>
                      </a:r>
                      <a:endParaRPr lang="en-US" sz="13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"각 항목별 의무사항과 근거 조항 번호를 함께 정리해줘."</a:t>
                      </a:r>
                      <a:endParaRPr lang="en-US" sz="13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실무 담당자가 근거를 추적할 수 있도록 함</a:t>
                      </a:r>
                      <a:endParaRPr lang="en-US" sz="13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3단계</a:t>
                      </a:r>
                      <a:endParaRPr lang="en-US" sz="13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"우리 회사가 수출하는 [품목명] 기준으로, 해당되는 항목만 다시 요약해줘."</a:t>
                      </a:r>
                      <a:endParaRPr lang="en-US" sz="13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일반 규제 텍스트를 자사 맞춤 리스크로 좁힘</a:t>
                      </a:r>
                      <a:endParaRPr lang="en-US" sz="13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532120"/>
            <a:ext cx="11094415" cy="777240"/>
          </a:xfrm>
          <a:prstGeom prst="roundRect">
            <a:avLst>
              <a:gd name="adj" fmla="val 9412"/>
            </a:avLst>
          </a:prstGeom>
          <a:solidFill>
            <a:srgbClr val="FBEED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4"/>
          <p:cNvSpPr/>
          <p:nvPr/>
        </p:nvSpPr>
        <p:spPr>
          <a:xfrm>
            <a:off x="694944" y="5650992"/>
            <a:ext cx="502920" cy="502920"/>
          </a:xfrm>
          <a:prstGeom prst="ellipse">
            <a:avLst/>
          </a:prstGeom>
          <a:solidFill>
            <a:srgbClr val="D98E2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1" descr="/home/claude/day1_ppt/icons/alert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324" y="5716372"/>
            <a:ext cx="372161" cy="37216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325880" y="5586984"/>
            <a:ext cx="1013429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커스터마이징 예시 — 철강 압연코일 담당자는 '직접배출 vs 간접배출' 구분 조항이, 알루미늄 압출재 담당자는 원재료(알루미나) 조달단계 배출계수 조항이 강조되어 추출된다.</a:t>
            </a:r>
            <a:endParaRPr lang="en-US" sz="1250" dirty="0"/>
          </a:p>
        </p:txBody>
      </p:sp>
      <p:sp>
        <p:nvSpPr>
          <p:cNvPr id="11" name="Text 6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생성형 AI 기반 무역 컴플라이언스 및 관세·ESG 리스크 최적화 과정  ·  1일차</a:t>
            </a:r>
            <a:endParaRPr lang="en-US" sz="900" dirty="0"/>
          </a:p>
        </p:txBody>
      </p:sp>
      <p:sp>
        <p:nvSpPr>
          <p:cNvPr id="12" name="Text 7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49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/home/claude/day1_ppt/icons/gitBran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41" y="530901"/>
            <a:ext cx="419527" cy="4195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02920"/>
            <a:ext cx="102714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실습 진행 방식 — 6개 라운드 구조</a:t>
            </a:r>
            <a:endParaRPr lang="en-US" sz="2600" dirty="0"/>
          </a:p>
        </p:txBody>
      </p:sp>
      <p:graphicFrame>
        <p:nvGraphicFramePr>
          <p:cNvPr id="5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36192"/>
          <a:ext cx="11094415" cy="91440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56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3354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라운드</a:t>
                      </a:r>
                      <a:endParaRPr lang="en-US" sz="15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과업</a:t>
                      </a:r>
                      <a:endParaRPr lang="en-US" sz="15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354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1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자기 담당 품목 원문에 CoT 3단계 최초 적용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354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2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타 품목군 원문(1종 추가)에 동일 CoT 적용 및 결과 비교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354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3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동료와 결과 맞교환 후 근거 조항·수치 교차 검증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354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4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검증에서 드러난 오류를 반영해 프롬프트 개선 및 재실행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354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5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Orange3로 '텍스트 입력→키워드 매칭→리스크 신호등 분류' 미니 에이전트 빌드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354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6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개선 전/후 · 에이전트 결과 통합 정리 및 조별 발표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생성형 AI 기반 무역 컴플라이언스 및 관세·ESG 리스크 최적화 과정  ·  1일차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50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/home/claude/day1_ppt/icons/ed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41" y="530901"/>
            <a:ext cx="419527" cy="4195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3891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8E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1.7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714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단계별 실습 가이드 (Step 1~3)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3545738" cy="3566160"/>
          </a:xfrm>
          <a:prstGeom prst="roundRect">
            <a:avLst>
              <a:gd name="adj" fmla="val 2063"/>
            </a:avLst>
          </a:prstGeom>
          <a:solidFill>
            <a:srgbClr val="E8EE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2065477" y="1572768"/>
            <a:ext cx="512064" cy="512064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2065477" y="157276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76656" y="2212848"/>
            <a:ext cx="328970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Step 1. 환경 준비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76656" y="2907792"/>
            <a:ext cx="3289706" cy="2359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41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ChatGPT 등 웹브라우저 접속·로그인, CBAM 발췌본 4종(.pdf/.txt) 전체 다운로드 (용량 초과 시 .txt로 대체)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094378" y="329184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A93"/>
                </a:solidFill>
              </a:rPr>
              <a:t>→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4322978" y="1828800"/>
            <a:ext cx="3545738" cy="3566160"/>
          </a:xfrm>
          <a:prstGeom prst="roundRect">
            <a:avLst>
              <a:gd name="adj" fmla="val 2063"/>
            </a:avLst>
          </a:prstGeom>
          <a:solidFill>
            <a:srgbClr val="E8EE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5839816" y="1572768"/>
            <a:ext cx="512064" cy="512064"/>
          </a:xfrm>
          <a:prstGeom prst="ellipse">
            <a:avLst/>
          </a:prstGeom>
          <a:solidFill>
            <a:srgbClr val="3E5C8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5839816" y="157276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4450994" y="2212848"/>
            <a:ext cx="328970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Step 2. [R1] 자기 품목 분석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450994" y="2907792"/>
            <a:ext cx="3289706" cy="2359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41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담당 품목 발췌본 1종 업로드 → 1→2→3단계 프롬프트 순차 입력, 결과를 단계별로 저장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7868717" y="329184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A93"/>
                </a:solidFill>
              </a:rPr>
              <a:t>→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8097317" y="1828800"/>
            <a:ext cx="3545738" cy="3566160"/>
          </a:xfrm>
          <a:prstGeom prst="roundRect">
            <a:avLst>
              <a:gd name="adj" fmla="val 2063"/>
            </a:avLst>
          </a:prstGeom>
          <a:solidFill>
            <a:srgbClr val="E8EE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6"/>
          <p:cNvSpPr/>
          <p:nvPr/>
        </p:nvSpPr>
        <p:spPr>
          <a:xfrm>
            <a:off x="9614154" y="1572768"/>
            <a:ext cx="512064" cy="512064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/>
          <p:nvPr/>
        </p:nvSpPr>
        <p:spPr>
          <a:xfrm>
            <a:off x="9614154" y="157276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8225333" y="2212848"/>
            <a:ext cx="328970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Step 3. [R2] 타 품목군 비교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8225333" y="2907792"/>
            <a:ext cx="3289706" cy="2359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41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다른 발췌본 1종 추가 선택 → 동일 CoT 적용 → '재사용 가능한 부분'과 '품목마다 다시 손봐야 하는 부분' 구분 메모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생성형 AI 기반 무역 컴플라이언스 및 관세·ESG 리스크 최적화 과정  ·  1일차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51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/home/claude/day1_ppt/icons/ed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41" y="530901"/>
            <a:ext cx="419527" cy="4195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02920"/>
            <a:ext cx="102714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단계별 실습 가이드 (Step 4~7)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828800"/>
            <a:ext cx="2602154" cy="2834640"/>
          </a:xfrm>
          <a:prstGeom prst="roundRect">
            <a:avLst>
              <a:gd name="adj" fmla="val 2811"/>
            </a:avLst>
          </a:prstGeom>
          <a:solidFill>
            <a:srgbClr val="E8EE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1593685" y="1572768"/>
            <a:ext cx="512064" cy="512064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1593685" y="157276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76656" y="2212848"/>
            <a:ext cx="234612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Step 4. [R3] 동료 교차검증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76656" y="2907792"/>
            <a:ext cx="2346122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41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조항 번호 원문 대조(원칙1), 수치 재계산 확인(원칙2) — 불일치 시 근거 조항을 되짚으며 함께 재확인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3150794" y="292608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A93"/>
                </a:solidFill>
              </a:rPr>
              <a:t>→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3379394" y="1828800"/>
            <a:ext cx="2602154" cy="2834640"/>
          </a:xfrm>
          <a:prstGeom prst="roundRect">
            <a:avLst>
              <a:gd name="adj" fmla="val 2811"/>
            </a:avLst>
          </a:prstGeom>
          <a:solidFill>
            <a:srgbClr val="E8EE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4424439" y="1572768"/>
            <a:ext cx="512064" cy="512064"/>
          </a:xfrm>
          <a:prstGeom prst="ellipse">
            <a:avLst/>
          </a:prstGeom>
          <a:solidFill>
            <a:srgbClr val="3E5C8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4424439" y="157276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3507410" y="2212848"/>
            <a:ext cx="234612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Step 5. [R4] 프롬프트 개선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507410" y="2907792"/>
            <a:ext cx="2346122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41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지적된 오류·누락 반영해 프롬프트 수정 후 재실행, 개선 전/후 결과를 나란히 저장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981548" y="292608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A93"/>
                </a:solidFill>
              </a:rPr>
              <a:t>→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6210148" y="1828800"/>
            <a:ext cx="2602154" cy="2834640"/>
          </a:xfrm>
          <a:prstGeom prst="roundRect">
            <a:avLst>
              <a:gd name="adj" fmla="val 2811"/>
            </a:avLst>
          </a:prstGeom>
          <a:solidFill>
            <a:srgbClr val="E8EE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5"/>
          <p:cNvSpPr/>
          <p:nvPr/>
        </p:nvSpPr>
        <p:spPr>
          <a:xfrm>
            <a:off x="7255193" y="1572768"/>
            <a:ext cx="512064" cy="512064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7255193" y="157276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6338164" y="2212848"/>
            <a:ext cx="234612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Step 6. [R5] Orange3 빌드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338164" y="2907792"/>
            <a:ext cx="2346122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41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File 위젯 3개(csv 3종) → Text Preprocessing → Word Count 매칭 → Threshold 연결 → 신호등 자동 분류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8812301" y="292608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A93"/>
                </a:solidFill>
              </a:rPr>
              <a:t>→</a:t>
            </a:r>
            <a:endParaRPr lang="en-US" sz="2000" dirty="0"/>
          </a:p>
        </p:txBody>
      </p:sp>
      <p:sp>
        <p:nvSpPr>
          <p:cNvPr id="23" name="Shape 20"/>
          <p:cNvSpPr/>
          <p:nvPr/>
        </p:nvSpPr>
        <p:spPr>
          <a:xfrm>
            <a:off x="9040901" y="1828800"/>
            <a:ext cx="2602154" cy="2834640"/>
          </a:xfrm>
          <a:prstGeom prst="roundRect">
            <a:avLst>
              <a:gd name="adj" fmla="val 2811"/>
            </a:avLst>
          </a:prstGeom>
          <a:solidFill>
            <a:srgbClr val="E8EE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1"/>
          <p:cNvSpPr/>
          <p:nvPr/>
        </p:nvSpPr>
        <p:spPr>
          <a:xfrm>
            <a:off x="10085946" y="1572768"/>
            <a:ext cx="512064" cy="512064"/>
          </a:xfrm>
          <a:prstGeom prst="ellipse">
            <a:avLst/>
          </a:prstGeom>
          <a:solidFill>
            <a:srgbClr val="3E5C8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2"/>
          <p:cNvSpPr/>
          <p:nvPr/>
        </p:nvSpPr>
        <p:spPr>
          <a:xfrm>
            <a:off x="10085946" y="157276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9168917" y="2212848"/>
            <a:ext cx="234612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Step 7. [R6] 통합·발표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9168917" y="2907792"/>
            <a:ext cx="2346122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41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개선 전/후, 에이전트 신호등 결과를 모두 포함해 1.9 제출 양식 최종 완성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548640" y="4937760"/>
            <a:ext cx="11094415" cy="777240"/>
          </a:xfrm>
          <a:prstGeom prst="roundRect">
            <a:avLst>
              <a:gd name="adj" fmla="val 9412"/>
            </a:avLst>
          </a:prstGeom>
          <a:solidFill>
            <a:srgbClr val="FBEED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6"/>
          <p:cNvSpPr/>
          <p:nvPr/>
        </p:nvSpPr>
        <p:spPr>
          <a:xfrm>
            <a:off x="694944" y="5056632"/>
            <a:ext cx="502920" cy="502920"/>
          </a:xfrm>
          <a:prstGeom prst="ellipse">
            <a:avLst/>
          </a:prstGeom>
          <a:solidFill>
            <a:srgbClr val="D98E2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0" name="Image 1" descr="/home/claude/day1_ppt/icons/check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324" y="5122012"/>
            <a:ext cx="372161" cy="372161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1325880" y="4983480"/>
            <a:ext cx="1013429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완료 기준 체크리스트 — ① R1·2 결과 저장 ② 동료 교차검증 기록 ③ 개선 전/후 비교 정리 ④ Orange3 워크플로우 완성 및 신호등 결과 확인</a:t>
            </a:r>
            <a:endParaRPr lang="en-US" sz="1250" dirty="0"/>
          </a:p>
        </p:txBody>
      </p:sp>
      <p:sp>
        <p:nvSpPr>
          <p:cNvPr id="32" name="Text 28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생성형 AI 기반 무역 컴플라이언스 및 관세·ESG 리스크 최적화 과정  ·  1일차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52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/home/claude/day1_ppt/icons/z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41" y="530901"/>
            <a:ext cx="419527" cy="4195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3891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8E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1.8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714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추가 에이전트 예제 (심화·선택)</a:t>
            </a:r>
            <a:endParaRPr lang="en-US" sz="2600" dirty="0"/>
          </a:p>
        </p:txBody>
      </p:sp>
      <p:graphicFrame>
        <p:nvGraphicFramePr>
          <p:cNvPr id="5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36192"/>
          <a:ext cx="11094415" cy="91440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683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예제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내용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예제 2. 규제 원문 자동 요약·알림</a:t>
                      </a:r>
                      <a:endParaRPr lang="en-US" sz="13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새 규제 원문을 넣기만 하면 3단계 CoT 요약(적용대상표/의무사항표/자사맞춤요약)이 자동 생성</a:t>
                      </a:r>
                      <a:endParaRPr lang="en-US" sz="13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예제 3. 다품목 일괄 비교</a:t>
                      </a:r>
                      <a:endParaRPr lang="en-US" sz="13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발췌 파일 4종을 한 번에 넣어 동일 기준으로 일괄 비교표 자동 생성</a:t>
                      </a:r>
                      <a:endParaRPr lang="en-US" sz="13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예제 4. 할루시네이션 자동 점검</a:t>
                      </a:r>
                      <a:endParaRPr lang="en-US" sz="13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AI 요약본의 조항번호를 원문과 자동 대조, 존재하지 않는 번호는 '확인필요'로 표시</a:t>
                      </a:r>
                      <a:endParaRPr lang="en-US" sz="13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예제 5. 프롬프트 버전 비교</a:t>
                      </a:r>
                      <a:endParaRPr lang="en-US" sz="13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개선 전/후 프롬프트를 같은 원문에 각각 적용해 결과를 나란히 비교</a:t>
                      </a:r>
                      <a:endParaRPr lang="en-US" sz="13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예제 6. 해외어 규제 원문 번역·요약</a:t>
                      </a:r>
                      <a:endParaRPr lang="en-US" sz="13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외국어 원문을 번역 후 동일한 3단계 CoT 템플릿 적용, 언어 무관 동일 형식 결과 산출</a:t>
                      </a:r>
                      <a:endParaRPr lang="en-US" sz="13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532120"/>
            <a:ext cx="11094415" cy="777240"/>
          </a:xfrm>
          <a:prstGeom prst="roundRect">
            <a:avLst>
              <a:gd name="adj" fmla="val 9412"/>
            </a:avLst>
          </a:prstGeom>
          <a:solidFill>
            <a:srgbClr val="FBEED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4"/>
          <p:cNvSpPr/>
          <p:nvPr/>
        </p:nvSpPr>
        <p:spPr>
          <a:xfrm>
            <a:off x="694944" y="5650992"/>
            <a:ext cx="502920" cy="502920"/>
          </a:xfrm>
          <a:prstGeom prst="ellipse">
            <a:avLst/>
          </a:prstGeom>
          <a:solidFill>
            <a:srgbClr val="D98E2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1" descr="/home/claude/day1_ppt/icons/alert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324" y="5716372"/>
            <a:ext cx="372161" cy="37216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325880" y="5586984"/>
            <a:ext cx="1013429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예제 2·3·5·6은 LLM 호출(Python Script 위젯)이 필요하지만, 예제 4는 키워드 대조만으로 완전한 노코드 구현이 가능하다.</a:t>
            </a:r>
            <a:endParaRPr lang="en-US" sz="1250" dirty="0"/>
          </a:p>
        </p:txBody>
      </p:sp>
      <p:sp>
        <p:nvSpPr>
          <p:cNvPr id="11" name="Text 6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생성형 AI 기반 무역 컴플라이언스 및 관세·ESG 리스크 최적화 과정  ·  1일차</a:t>
            </a:r>
            <a:endParaRPr lang="en-US" sz="900" dirty="0"/>
          </a:p>
        </p:txBody>
      </p:sp>
      <p:sp>
        <p:nvSpPr>
          <p:cNvPr id="12" name="Text 7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53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/home/claude/day1_ppt/icons/term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41" y="530901"/>
            <a:ext cx="419527" cy="4195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02920"/>
            <a:ext cx="102714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에이전트 예제 상세 ① — 자동 요약·알림 / 다품목 비교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536192"/>
            <a:ext cx="5364328" cy="3566160"/>
          </a:xfrm>
          <a:prstGeom prst="roundRect">
            <a:avLst>
              <a:gd name="adj" fmla="val 2051"/>
            </a:avLst>
          </a:prstGeom>
          <a:solidFill>
            <a:srgbClr val="E8EE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548640" y="1536192"/>
            <a:ext cx="5364328" cy="502920"/>
          </a:xfrm>
          <a:prstGeom prst="roundRect">
            <a:avLst>
              <a:gd name="adj" fmla="val 14545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731520" y="1536192"/>
            <a:ext cx="49985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예제 2. 규제 원문 자동 요약·알림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49808" y="2194560"/>
            <a:ext cx="4961992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1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목적: 문서를 넣기만 하면 CoT 3단계 요약이 자동으로 나오는 흐름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1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처리: File 로드 → Text Preprocessing 정제 → 저장된 CoT 템플릿 순서 적용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1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출력: [적용대상표 / 의무사항표 / 자사맞춤요약] 3개 표 자동 생성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278728" y="1536192"/>
            <a:ext cx="5364328" cy="3566160"/>
          </a:xfrm>
          <a:prstGeom prst="roundRect">
            <a:avLst>
              <a:gd name="adj" fmla="val 2051"/>
            </a:avLst>
          </a:prstGeom>
          <a:solidFill>
            <a:srgbClr val="E8EE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6278728" y="1536192"/>
            <a:ext cx="5364328" cy="502920"/>
          </a:xfrm>
          <a:prstGeom prst="roundRect">
            <a:avLst>
              <a:gd name="adj" fmla="val 14545"/>
            </a:avLst>
          </a:prstGeom>
          <a:solidFill>
            <a:srgbClr val="3E5C8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6461608" y="1536192"/>
            <a:ext cx="49985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예제 3. 다품목 일괄 비교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479896" y="2194560"/>
            <a:ext cx="4961992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1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목적: 여러 품목 발췌문을 한 번에 넣어 동일 기준으로 일괄 비교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1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처리: 파일 4종을 순서대로 통과시키며 동일 CoT 적용 → 품목별 행으로 누적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1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출력: [품목명/적용대상여부/의무사항/근거조항] 비교표 1장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548640" y="553212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6B7A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1.6의 '품목군별 커스터마이징'을 자동화한 버전 — 사람이 품목마다 다시 입력하는 대신 같은 템플릿이 여러 품목에 자동 적용된다.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생성형 AI 기반 무역 컴플라이언스 및 관세·ESG 리스크 최적화 과정  ·  1일차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54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/home/claude/day1_ppt/icons/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41" y="530901"/>
            <a:ext cx="419527" cy="4195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02920"/>
            <a:ext cx="102714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에이전트 예제 상세 ② — 검증 자동화 / 버전 비교 / 번역요약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536192"/>
            <a:ext cx="5364328" cy="3566160"/>
          </a:xfrm>
          <a:prstGeom prst="roundRect">
            <a:avLst>
              <a:gd name="adj" fmla="val 2051"/>
            </a:avLst>
          </a:prstGeom>
          <a:solidFill>
            <a:srgbClr val="E8EE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548640" y="1536192"/>
            <a:ext cx="5364328" cy="502920"/>
          </a:xfrm>
          <a:prstGeom prst="roundRect">
            <a:avLst>
              <a:gd name="adj" fmla="val 14545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731520" y="1536192"/>
            <a:ext cx="49985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예제 4·5. 검증·비교 자동화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49808" y="2194560"/>
            <a:ext cx="4961992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1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예제4: AI 요약본의 조항번호를 원문과 자동 대조 → 없는 번호는 '확인필요' 표시 (완전 노코드, 6일차 'AI Reviewer' 초기 형태)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1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예제5: 개선 전/후 프롬프트를 같은 원문에 각각 적용 → 결과를 나란히 비교표로 생성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278728" y="1536192"/>
            <a:ext cx="5364328" cy="3566160"/>
          </a:xfrm>
          <a:prstGeom prst="roundRect">
            <a:avLst>
              <a:gd name="adj" fmla="val 2051"/>
            </a:avLst>
          </a:prstGeom>
          <a:solidFill>
            <a:srgbClr val="E8EE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6278728" y="1536192"/>
            <a:ext cx="5364328" cy="502920"/>
          </a:xfrm>
          <a:prstGeom prst="roundRect">
            <a:avLst>
              <a:gd name="adj" fmla="val 14545"/>
            </a:avLst>
          </a:prstGeom>
          <a:solidFill>
            <a:srgbClr val="3E5C8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6461608" y="1536192"/>
            <a:ext cx="49985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예제 6. 외국어 규제 원문 번역·요약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479896" y="2194560"/>
            <a:ext cx="4961992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1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목적: 번역과 CoT 요약을 하나의 흐름으로 연결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1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처리: 번역 프롬프트로 한국어 1차 변환 → 변환된 텍스트에 3단계 CoT 그대로 적용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1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출력: 원문 언어와 무관하게 동일 형식(적용대상표/의무사항표/자사맞춤요약)의 결과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548640" y="553212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6B7A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예제 6은 번역·요약 모두 LLM이 필요해 Python Script 위젯 없이는 순수 노코드로 구현할 수 없다.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생성형 AI 기반 무역 컴플라이언스 및 관세·ESG 리스크 최적화 과정  ·  1일차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55</a:t>
            </a: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/home/claude/day1_ppt/icons/file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41" y="530901"/>
            <a:ext cx="419527" cy="4195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3891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8E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1.9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714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실습 결과 제출 양식</a:t>
            </a:r>
            <a:endParaRPr lang="en-US" sz="2600" dirty="0"/>
          </a:p>
        </p:txBody>
      </p:sp>
      <p:graphicFrame>
        <p:nvGraphicFramePr>
          <p:cNvPr id="5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36192"/>
          <a:ext cx="11094415" cy="914400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768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항목</a:t>
                      </a:r>
                      <a:endParaRPr lang="en-US" sz="12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작성 내용</a:t>
                      </a:r>
                      <a:endParaRPr lang="en-US" sz="12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담당 품목 (라운드1)</a:t>
                      </a:r>
                      <a:endParaRPr lang="en-US" sz="11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예: 알루미늄 압출재</a:t>
                      </a:r>
                      <a:endParaRPr lang="en-US" sz="11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비교 품목 (라운드2)</a:t>
                      </a:r>
                      <a:endParaRPr lang="en-US" sz="11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예: 시멘트</a:t>
                      </a:r>
                      <a:endParaRPr lang="en-US" sz="11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라운드1/2 핵심 의무사항 1~3</a:t>
                      </a:r>
                      <a:endParaRPr lang="en-US" sz="11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근거 조항 번호 포함</a:t>
                      </a:r>
                      <a:endParaRPr lang="en-US" sz="11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동료 검증 결과</a:t>
                      </a:r>
                      <a:endParaRPr lang="en-US" sz="11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할루시네이션·수치오류 발견 여부 및 수정 내용</a:t>
                      </a:r>
                      <a:endParaRPr lang="en-US" sz="11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프롬프트 개선 내용</a:t>
                      </a:r>
                      <a:endParaRPr lang="en-US" sz="11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수정 전 → 수정 후 프롬프트 비교</a:t>
                      </a:r>
                      <a:endParaRPr lang="en-US" sz="11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개선 전/후 결과 차이</a:t>
                      </a:r>
                      <a:endParaRPr lang="en-US" sz="11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무엇이 더 정확해졌는지 2~3문장</a:t>
                      </a:r>
                      <a:endParaRPr lang="en-US" sz="11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에이전트 신호등 결과</a:t>
                      </a:r>
                      <a:endParaRPr lang="en-US" sz="11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입력 문서 / 신호등 색상 / 실제 리스크 수준과의 부합 여부</a:t>
                      </a:r>
                      <a:endParaRPr lang="en-US" sz="11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오늘 느낀 리스크 인사이트</a:t>
                      </a:r>
                      <a:endParaRPr lang="en-US" sz="11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33415C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자유 서술 2~3문장</a:t>
                      </a:r>
                      <a:endParaRPr lang="en-US" sz="11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532120"/>
            <a:ext cx="11094415" cy="777240"/>
          </a:xfrm>
          <a:prstGeom prst="roundRect">
            <a:avLst>
              <a:gd name="adj" fmla="val 9412"/>
            </a:avLst>
          </a:prstGeom>
          <a:solidFill>
            <a:srgbClr val="FBEED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4"/>
          <p:cNvSpPr/>
          <p:nvPr/>
        </p:nvSpPr>
        <p:spPr>
          <a:xfrm>
            <a:off x="694944" y="5650992"/>
            <a:ext cx="502920" cy="502920"/>
          </a:xfrm>
          <a:prstGeom prst="ellipse">
            <a:avLst/>
          </a:prstGeom>
          <a:solidFill>
            <a:srgbClr val="D98E2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1" descr="/home/claude/day1_ppt/icons/alert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324" y="5716372"/>
            <a:ext cx="372161" cy="37216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325880" y="5586984"/>
            <a:ext cx="1013429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파일명 규칙: 1일차_실습결과_성명.docx</a:t>
            </a:r>
            <a:endParaRPr lang="en-US" sz="1250" dirty="0"/>
          </a:p>
        </p:txBody>
      </p:sp>
      <p:sp>
        <p:nvSpPr>
          <p:cNvPr id="11" name="Text 6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생성형 AI 기반 무역 컴플라이언스 및 관세·ESG 리스크 최적화 과정  ·  1일차</a:t>
            </a:r>
            <a:endParaRPr lang="en-US" sz="900" dirty="0"/>
          </a:p>
        </p:txBody>
      </p:sp>
      <p:sp>
        <p:nvSpPr>
          <p:cNvPr id="12" name="Text 7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56</a:t>
            </a:r>
            <a:endParaRPr lang="en-US" sz="9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/home/claude/day1_ppt/icons/check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41" y="530901"/>
            <a:ext cx="419527" cy="4195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3891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8E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1.10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714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정리 및 다음 날 연계 — 1일차 자가진단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160020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3341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오늘은 CoT 프롬프트로 원문에서 리스크를 추출하고, 여러 품목에 반복 적용하며, 동료 검증으로 오류를 잡아내고 개선한 뒤 Orange3로 자동화하는 전 과정을 익혔다.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155789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1097280" y="2103120"/>
            <a:ext cx="1054577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나는 CoT 프롬프트 3단계 템플릿을 다른 품목에도 스스로 응용할 수 있다.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48640" y="2814157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1097280" y="2761488"/>
            <a:ext cx="1054577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나는 동료의 결과물에서 근거 조항·수치 오류를 직접 찾아낸 경험이 있다.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548640" y="3472525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1097280" y="3419856"/>
            <a:ext cx="1054577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나는 검증 결과를 반영해 프롬프트를 스스로 개선해본 경험이 있다.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548640" y="4130893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1097280" y="4078224"/>
            <a:ext cx="1054577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나는 Orange3에서 위젯을 연결해 '입력→판단→분류' 자동 흐름을 직접 만들어봤다.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548640" y="4789261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1097280" y="4736592"/>
            <a:ext cx="1054577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나는 오늘 만든 자사 맞춤 리스크 요약본을 실제 업무 보고서 초안으로 활용할 수 있다.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548640" y="644652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A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2일차 예고 — Invoice·Packing List 등 사내 '비정형 실무 데이터'를 AI가 처리할 수 있는 정형 데이터셋으로 전처리·자산화하는 방법을 학습한다.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생성형 AI 기반 무역 컴플라이언스 및 관세·ESG 리스크 최적화 과정  ·  1일차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57</a:t>
            </a:r>
            <a:endParaRPr lang="en-US" sz="9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48495" y="-1280160"/>
            <a:ext cx="3474720" cy="3474720"/>
          </a:xfrm>
          <a:prstGeom prst="ellipse">
            <a:avLst/>
          </a:prstGeom>
          <a:solidFill>
            <a:srgbClr val="1320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-1280160" y="4846320"/>
            <a:ext cx="3108960" cy="3108960"/>
          </a:xfrm>
          <a:prstGeom prst="ellipse">
            <a:avLst/>
          </a:prstGeom>
          <a:solidFill>
            <a:srgbClr val="3E5C86">
              <a:alpha val="4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1일차를 마칩니다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32461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E8EEF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오늘 만든 CoT 프롬프트 템플릿과 Orange3 리스크 신호등 워크플로우는</a:t>
            </a:r>
            <a:endParaRPr lang="en-US" sz="17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E8EEF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2일차부터 다루는 실제 통관 서류 데이터에도 그대로 재사용된다.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4434840"/>
            <a:ext cx="8686800" cy="777240"/>
          </a:xfrm>
          <a:prstGeom prst="roundRect">
            <a:avLst>
              <a:gd name="adj" fmla="val 9412"/>
            </a:avLst>
          </a:prstGeom>
          <a:solidFill>
            <a:srgbClr val="1320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713232" y="4553712"/>
            <a:ext cx="548640" cy="548640"/>
          </a:xfrm>
          <a:prstGeom prst="ellipse">
            <a:avLst/>
          </a:prstGeom>
          <a:solidFill>
            <a:srgbClr val="D98E2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/home/claude/day1_ppt/icons/trending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555" y="4625035"/>
            <a:ext cx="405994" cy="40599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17320" y="4434840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2일차 예고 — 비정형 통관 서류(Invoice·Packing List)의 데이터 정제·자산화, AI 기반 자동분류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6886</Words>
  <Application>Microsoft Office PowerPoint</Application>
  <PresentationFormat>와이드스크린</PresentationFormat>
  <Paragraphs>755</Paragraphs>
  <Slides>58</Slides>
  <Notes>58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58</vt:i4>
      </vt:variant>
    </vt:vector>
  </HeadingPairs>
  <TitlesOfParts>
    <vt:vector size="61" baseType="lpstr">
      <vt:lpstr>Noto Sans CJK KR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찬우 윤</cp:lastModifiedBy>
  <cp:revision>1</cp:revision>
  <dcterms:created xsi:type="dcterms:W3CDTF">2026-09-13T08:48:29Z</dcterms:created>
  <dcterms:modified xsi:type="dcterms:W3CDTF">2026-09-15T03:05:15Z</dcterms:modified>
</cp:coreProperties>
</file>
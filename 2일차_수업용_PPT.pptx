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찬우 윤" userId="dd58743bea86fe39" providerId="LiveId" clId="{B9AD6FE2-235B-4688-AE4E-4152D3D2DB21}"/>
    <pc:docChg chg="undo custSel modSld">
      <pc:chgData name="찬우 윤" userId="dd58743bea86fe39" providerId="LiveId" clId="{B9AD6FE2-235B-4688-AE4E-4152D3D2DB21}" dt="2026-09-16T04:35:50.761" v="5" actId="2710"/>
      <pc:docMkLst>
        <pc:docMk/>
      </pc:docMkLst>
      <pc:sldChg chg="modSp mod">
        <pc:chgData name="찬우 윤" userId="dd58743bea86fe39" providerId="LiveId" clId="{B9AD6FE2-235B-4688-AE4E-4152D3D2DB21}" dt="2026-09-16T02:29:29.550" v="0" actId="2710"/>
        <pc:sldMkLst>
          <pc:docMk/>
          <pc:sldMk cId="0" sldId="257"/>
        </pc:sldMkLst>
        <pc:spChg chg="mod">
          <ac:chgData name="찬우 윤" userId="dd58743bea86fe39" providerId="LiveId" clId="{B9AD6FE2-235B-4688-AE4E-4152D3D2DB21}" dt="2026-09-16T02:29:29.550" v="0" actId="2710"/>
          <ac:spMkLst>
            <pc:docMk/>
            <pc:sldMk cId="0" sldId="257"/>
            <ac:spMk id="6" creationId="{00000000-0000-0000-0000-000000000000}"/>
          </ac:spMkLst>
        </pc:spChg>
      </pc:sldChg>
      <pc:sldChg chg="modSp mod">
        <pc:chgData name="찬우 윤" userId="dd58743bea86fe39" providerId="LiveId" clId="{B9AD6FE2-235B-4688-AE4E-4152D3D2DB21}" dt="2026-09-16T04:16:32.194" v="3" actId="20577"/>
        <pc:sldMkLst>
          <pc:docMk/>
          <pc:sldMk cId="0" sldId="261"/>
        </pc:sldMkLst>
        <pc:spChg chg="mod">
          <ac:chgData name="찬우 윤" userId="dd58743bea86fe39" providerId="LiveId" clId="{B9AD6FE2-235B-4688-AE4E-4152D3D2DB21}" dt="2026-09-16T04:16:32.194" v="3" actId="20577"/>
          <ac:spMkLst>
            <pc:docMk/>
            <pc:sldMk cId="0" sldId="261"/>
            <ac:spMk id="5" creationId="{00000000-0000-0000-0000-000000000000}"/>
          </ac:spMkLst>
        </pc:spChg>
      </pc:sldChg>
      <pc:sldChg chg="modSp mod">
        <pc:chgData name="찬우 윤" userId="dd58743bea86fe39" providerId="LiveId" clId="{B9AD6FE2-235B-4688-AE4E-4152D3D2DB21}" dt="2026-09-16T04:31:10.111" v="4" actId="2710"/>
        <pc:sldMkLst>
          <pc:docMk/>
          <pc:sldMk cId="0" sldId="264"/>
        </pc:sldMkLst>
        <pc:spChg chg="mod">
          <ac:chgData name="찬우 윤" userId="dd58743bea86fe39" providerId="LiveId" clId="{B9AD6FE2-235B-4688-AE4E-4152D3D2DB21}" dt="2026-09-16T04:31:10.111" v="4" actId="2710"/>
          <ac:spMkLst>
            <pc:docMk/>
            <pc:sldMk cId="0" sldId="264"/>
            <ac:spMk id="5" creationId="{00000000-0000-0000-0000-000000000000}"/>
          </ac:spMkLst>
        </pc:spChg>
      </pc:sldChg>
      <pc:sldChg chg="modSp mod">
        <pc:chgData name="찬우 윤" userId="dd58743bea86fe39" providerId="LiveId" clId="{B9AD6FE2-235B-4688-AE4E-4152D3D2DB21}" dt="2026-09-16T04:35:50.761" v="5" actId="2710"/>
        <pc:sldMkLst>
          <pc:docMk/>
          <pc:sldMk cId="0" sldId="266"/>
        </pc:sldMkLst>
        <pc:spChg chg="mod">
          <ac:chgData name="찬우 윤" userId="dd58743bea86fe39" providerId="LiveId" clId="{B9AD6FE2-235B-4688-AE4E-4152D3D2DB21}" dt="2026-09-16T04:35:50.761" v="5" actId="2710"/>
          <ac:spMkLst>
            <pc:docMk/>
            <pc:sldMk cId="0" sldId="26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73577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txBody>
          <a:bodyPr/>
          <a:lstStyle/>
          <a:p>
            <a:endParaRPr lang="ko-KR" altLang="en-US"/>
          </a:p>
        </p:txBody>
      </p:sp>
      <p:sp>
        <p:nvSpPr>
          <p:cNvPr id="3" name="Shape 1"/>
          <p:cNvSpPr/>
          <p:nvPr/>
        </p:nvSpPr>
        <p:spPr>
          <a:xfrm>
            <a:off x="9265615" y="-1463040"/>
            <a:ext cx="3840480" cy="3840480"/>
          </a:xfrm>
          <a:prstGeom prst="ellipse">
            <a:avLst/>
          </a:prstGeom>
          <a:solidFill>
            <a:srgbClr val="13203A"/>
          </a:solidFill>
          <a:ln/>
        </p:spPr>
        <p:txBody>
          <a:bodyPr/>
          <a:lstStyle/>
          <a:p>
            <a:endParaRPr lang="ko-KR" altLang="en-US"/>
          </a:p>
        </p:txBody>
      </p:sp>
      <p:sp>
        <p:nvSpPr>
          <p:cNvPr id="4" name="Shape 2"/>
          <p:cNvSpPr/>
          <p:nvPr/>
        </p:nvSpPr>
        <p:spPr>
          <a:xfrm>
            <a:off x="10728655" y="4663440"/>
            <a:ext cx="2743200" cy="2743200"/>
          </a:xfrm>
          <a:prstGeom prst="ellipse">
            <a:avLst/>
          </a:prstGeom>
          <a:solidFill>
            <a:srgbClr val="3E5C86">
              <a:alpha val="45000"/>
            </a:srgbClr>
          </a:solidFill>
          <a:ln/>
        </p:spPr>
        <p:txBody>
          <a:bodyPr/>
          <a:lstStyle/>
          <a:p>
            <a:endParaRPr lang="ko-KR" altLang="en-US"/>
          </a:p>
        </p:txBody>
      </p:sp>
      <p:sp>
        <p:nvSpPr>
          <p:cNvPr id="5" name="Text 3"/>
          <p:cNvSpPr/>
          <p:nvPr/>
        </p:nvSpPr>
        <p:spPr>
          <a:xfrm>
            <a:off x="548640" y="1371600"/>
            <a:ext cx="9144000" cy="365760"/>
          </a:xfrm>
          <a:prstGeom prst="rect">
            <a:avLst/>
          </a:prstGeom>
          <a:noFill/>
          <a:ln/>
        </p:spPr>
        <p:txBody>
          <a:bodyPr wrap="square" rtlCol="0" anchor="ctr"/>
          <a:lstStyle/>
          <a:p>
            <a:pPr marL="0" indent="0">
              <a:buNone/>
            </a:pPr>
            <a:r>
              <a:rPr lang="en-US" sz="1500" b="1" dirty="0">
                <a:solidFill>
                  <a:srgbClr val="D98E2B"/>
                </a:solidFill>
                <a:latin typeface="Noto Sans CJK KR" pitchFamily="34" charset="0"/>
                <a:ea typeface="Noto Sans CJK KR" pitchFamily="34" charset="-122"/>
                <a:cs typeface="Noto Sans CJK KR" pitchFamily="34" charset="-120"/>
              </a:rPr>
              <a:t>생성형 AI 기반 무역 컴플라이언스 및 관세·ESG 리스크 최적화 과정</a:t>
            </a:r>
            <a:endParaRPr lang="en-US" sz="1500" dirty="0"/>
          </a:p>
        </p:txBody>
      </p:sp>
      <p:sp>
        <p:nvSpPr>
          <p:cNvPr id="6" name="Text 4"/>
          <p:cNvSpPr/>
          <p:nvPr/>
        </p:nvSpPr>
        <p:spPr>
          <a:xfrm>
            <a:off x="548640" y="1783080"/>
            <a:ext cx="9875520" cy="1737360"/>
          </a:xfrm>
          <a:prstGeom prst="rect">
            <a:avLst/>
          </a:prstGeom>
          <a:noFill/>
          <a:ln/>
        </p:spPr>
        <p:txBody>
          <a:bodyPr wrap="square" rtlCol="0" anchor="ctr"/>
          <a:lstStyle/>
          <a:p>
            <a:pPr marL="0" indent="0">
              <a:lnSpc>
                <a:spcPct val="108000"/>
              </a:lnSpc>
              <a:buNone/>
            </a:pPr>
            <a:r>
              <a:rPr lang="en-US" sz="3800" b="1" dirty="0">
                <a:solidFill>
                  <a:srgbClr val="FFFFFF"/>
                </a:solidFill>
                <a:latin typeface="Noto Sans CJK KR" pitchFamily="34" charset="0"/>
                <a:ea typeface="Noto Sans CJK KR" pitchFamily="34" charset="-122"/>
                <a:cs typeface="Noto Sans CJK KR" pitchFamily="34" charset="-120"/>
              </a:rPr>
              <a:t>2일차. 통관 및 ESG 데이터</a:t>
            </a:r>
            <a:endParaRPr lang="en-US" sz="3800" dirty="0"/>
          </a:p>
          <a:p>
            <a:pPr marL="0" indent="0">
              <a:lnSpc>
                <a:spcPct val="108000"/>
              </a:lnSpc>
              <a:buNone/>
            </a:pPr>
            <a:r>
              <a:rPr lang="en-US" sz="3800" b="1" dirty="0">
                <a:solidFill>
                  <a:srgbClr val="FFFFFF"/>
                </a:solidFill>
                <a:latin typeface="Noto Sans CJK KR" pitchFamily="34" charset="0"/>
                <a:ea typeface="Noto Sans CJK KR" pitchFamily="34" charset="-122"/>
                <a:cs typeface="Noto Sans CJK KR" pitchFamily="34" charset="-120"/>
              </a:rPr>
              <a:t>전처리·자산화</a:t>
            </a:r>
            <a:endParaRPr lang="en-US" sz="3800" dirty="0"/>
          </a:p>
        </p:txBody>
      </p:sp>
      <p:sp>
        <p:nvSpPr>
          <p:cNvPr id="7" name="Text 5"/>
          <p:cNvSpPr/>
          <p:nvPr/>
        </p:nvSpPr>
        <p:spPr>
          <a:xfrm>
            <a:off x="548640" y="3611880"/>
            <a:ext cx="9601200" cy="640080"/>
          </a:xfrm>
          <a:prstGeom prst="rect">
            <a:avLst/>
          </a:prstGeom>
          <a:noFill/>
          <a:ln/>
        </p:spPr>
        <p:txBody>
          <a:bodyPr wrap="square" rtlCol="0" anchor="ctr"/>
          <a:lstStyle/>
          <a:p>
            <a:pPr marL="0" indent="0">
              <a:buNone/>
            </a:pPr>
            <a:r>
              <a:rPr lang="en-US" sz="2000" dirty="0">
                <a:solidFill>
                  <a:srgbClr val="E8EEF7"/>
                </a:solidFill>
                <a:latin typeface="Noto Sans CJK KR" pitchFamily="34" charset="0"/>
                <a:ea typeface="Noto Sans CJK KR" pitchFamily="34" charset="-122"/>
                <a:cs typeface="Noto Sans CJK KR" pitchFamily="34" charset="-120"/>
              </a:rPr>
              <a:t>비정형·반정형 무역 서류를 AI로 정제하고, 리스크 키워드를 자동 분류해 마스터 데이터셋을 만든다</a:t>
            </a:r>
            <a:endParaRPr lang="en-US" sz="2000" dirty="0"/>
          </a:p>
        </p:txBody>
      </p:sp>
      <p:sp>
        <p:nvSpPr>
          <p:cNvPr id="8" name="Text 6"/>
          <p:cNvSpPr/>
          <p:nvPr/>
        </p:nvSpPr>
        <p:spPr>
          <a:xfrm>
            <a:off x="548640" y="4709160"/>
            <a:ext cx="7315200" cy="365760"/>
          </a:xfrm>
          <a:prstGeom prst="rect">
            <a:avLst/>
          </a:prstGeom>
          <a:noFill/>
          <a:ln/>
        </p:spPr>
        <p:txBody>
          <a:bodyPr wrap="square" rtlCol="0" anchor="ctr"/>
          <a:lstStyle/>
          <a:p>
            <a:pPr marL="0" indent="0">
              <a:buNone/>
            </a:pPr>
            <a:r>
              <a:rPr lang="en-US" sz="1300" dirty="0">
                <a:solidFill>
                  <a:srgbClr val="D7E3F2"/>
                </a:solidFill>
                <a:latin typeface="Noto Sans CJK KR" pitchFamily="34" charset="0"/>
                <a:ea typeface="Noto Sans CJK KR" pitchFamily="34" charset="-122"/>
                <a:cs typeface="Noto Sans CJK KR" pitchFamily="34" charset="-120"/>
              </a:rPr>
              <a:t>이론 강의 + 실습 가이드 · 수업용</a:t>
            </a:r>
            <a:endParaRPr lang="en-US" sz="1300" dirty="0"/>
          </a:p>
        </p:txBody>
      </p:sp>
      <p:sp>
        <p:nvSpPr>
          <p:cNvPr id="9" name="Text 7"/>
          <p:cNvSpPr/>
          <p:nvPr/>
        </p:nvSpPr>
        <p:spPr>
          <a:xfrm>
            <a:off x="548640" y="6080760"/>
            <a:ext cx="7315200" cy="365760"/>
          </a:xfrm>
          <a:prstGeom prst="rect">
            <a:avLst/>
          </a:prstGeom>
          <a:noFill/>
          <a:ln/>
        </p:spPr>
        <p:txBody>
          <a:bodyPr wrap="square" rtlCol="0" anchor="ctr"/>
          <a:lstStyle/>
          <a:p>
            <a:pPr marL="0" indent="0">
              <a:buNone/>
            </a:pPr>
            <a:r>
              <a:rPr lang="en-US" sz="1200" dirty="0">
                <a:solidFill>
                  <a:srgbClr val="8FA3C4"/>
                </a:solidFill>
                <a:latin typeface="Noto Sans CJK KR" pitchFamily="34" charset="0"/>
                <a:ea typeface="Noto Sans CJK KR" pitchFamily="34" charset="-122"/>
                <a:cs typeface="Noto Sans CJK KR" pitchFamily="34" charset="-120"/>
              </a:rPr>
              <a:t>교 육 교 재  ·  수업용 강의자료(PPT)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lag.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2.1</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수업 개요</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lnSpc>
                <a:spcPct val="200000"/>
              </a:lnSpc>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수업목표</a:t>
            </a:r>
            <a:endParaRPr lang="en-US" sz="1600" dirty="0"/>
          </a:p>
          <a:p>
            <a:pPr marL="0" indent="0">
              <a:lnSpc>
                <a:spcPct val="200000"/>
              </a:lnSpc>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PDF·웹사이트 등 비정형 텍스트 형태로 산재된 법령 및 서류 데이터를 AI 학습이 가능한 정형 데이터셋으로 정제 및 구조화할 수 있다</a:t>
            </a:r>
            <a:endParaRPr lang="en-US" sz="1600" dirty="0"/>
          </a:p>
          <a:p>
            <a:pPr marL="228600" indent="-228600">
              <a:lnSpc>
                <a:spcPct val="200000"/>
              </a:lnSpc>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성취기준</a:t>
            </a:r>
            <a:endParaRPr lang="en-US" sz="1600" dirty="0"/>
          </a:p>
          <a:p>
            <a:pPr marL="0" indent="0">
              <a:lnSpc>
                <a:spcPct val="200000"/>
              </a:lnSpc>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수출신고필증 및 인보이스(Invoice) 상의 비정형 공백을 제거하고 데이터 레이아웃을 정제할 수 있다. AI API 환경에서 통관 거부 사유 문장으로부터 리스크를 유발하는 키워드를 자동으로 분리·추출할 수 있다</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8" name="Shape 5"/>
          <p:cNvSpPr/>
          <p:nvPr/>
        </p:nvSpPr>
        <p:spPr>
          <a:xfrm>
            <a:off x="713232" y="5596128"/>
            <a:ext cx="548640" cy="54864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1일차가 '규제 원문 해석'이었다면, 오늘은 '실제 통관 서류·사유서 데이터를 AI가 다룰 수 있는 형태로 정제'하는 것이 핵심이다.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bookOpen.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사전 학습 — 오늘의 핵심 용어 (1/2)</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3200400"/>
        </p:xfrm>
        <a:graphic>
          <a:graphicData uri="http://schemas.openxmlformats.org/drawingml/2006/table">
            <a:tbl>
              <a:tblPr/>
              <a:tblGrid>
                <a:gridCol w="2834640">
                  <a:extLst>
                    <a:ext uri="{9D8B030D-6E8A-4147-A177-3AD203B41FA5}">
                      <a16:colId xmlns:a16="http://schemas.microsoft.com/office/drawing/2014/main" val="20000"/>
                    </a:ext>
                  </a:extLst>
                </a:gridCol>
                <a:gridCol w="8259775">
                  <a:extLst>
                    <a:ext uri="{9D8B030D-6E8A-4147-A177-3AD203B41FA5}">
                      <a16:colId xmlns:a16="http://schemas.microsoft.com/office/drawing/2014/main" val="20001"/>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용어</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설명</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정형·비정형·반정형 데이터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정형=행렬로 정리된 데이터, 비정형=자유서술 텍스트, 반정형=양식은 있으나 표현이 문서마다 다른 데이터(Invoice 등)</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HS Code (품목분류코드)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세계관세기구(WCO)가 정한 국제 공통 상품분류 코드. 앞 6자리는 전 세계 공통이며, 관세율·FTA 협정세율 적용·수출입 통제·통계의 공통 기준이 됨</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결측값 (Missing Value)</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표에서 값이 비어 있거나 누락된 항목. AI 처리 전 반드시 확인·보완해야 하는 항목</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텍스트 전처리 (Preprocessing)</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공백·줄바꿈·오탈자 등을 제거·표준화하여 AI가 일관되게 인식할 수 있는 형태로 다듬는 작업</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bookOpen.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사전 학습 — 오늘의 핵심 용어 (2/2)</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2560320"/>
        </p:xfrm>
        <a:graphic>
          <a:graphicData uri="http://schemas.openxmlformats.org/drawingml/2006/table">
            <a:tbl>
              <a:tblPr/>
              <a:tblGrid>
                <a:gridCol w="2834640">
                  <a:extLst>
                    <a:ext uri="{9D8B030D-6E8A-4147-A177-3AD203B41FA5}">
                      <a16:colId xmlns:a16="http://schemas.microsoft.com/office/drawing/2014/main" val="20000"/>
                    </a:ext>
                  </a:extLst>
                </a:gridCol>
                <a:gridCol w="8259775">
                  <a:extLst>
                    <a:ext uri="{9D8B030D-6E8A-4147-A177-3AD203B41FA5}">
                      <a16:colId xmlns:a16="http://schemas.microsoft.com/office/drawing/2014/main" val="20001"/>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용어</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설명</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통관 거부 사유서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세관이 통관을 보류·거부하며 그 사유를 서술한 비정형 문서. 리스크 키워드가 문장 속에 섞여 있어 수작업 파악이 어려움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리스크 키워드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통관 거부·ESG 위반 등 문제의 원인이 되는 핵심 단어(예: 품목 오분류, 원산지 증빙 누락 등)</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마스터 데이터셋</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여러 소스에서 정제·추출한 데이터를 하나로 통합해 이후 실습(3일차 이후)의 기준 데이터로 삼는 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layers.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이론 강의 — 오늘 풀어야 할 문제</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실제 무역 현장 데이터(수출신고필증, 인보이스 등)는 줄바꿈·공백·오탈자가 섞여 출력되는 경우가 많아 AI가 곧바로 학습·인식하기 어려움</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세관의 비정형 '통관 거부 사유서'에서 제재 원인이 된 핵심 단어를 실무자가 수작업으로 찾아야 했고, 이 과정에서 많은 시간과 인적 오류가 발생해왔음</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오늘의 해결 3단계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① 리스크 변수 정의 → ② 데이터 정제·항목 추출 → ③ AI 기반 자동 분류·마스터 데이터셋 구축</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8" name="Shape 5"/>
          <p:cNvSpPr/>
          <p:nvPr/>
        </p:nvSpPr>
        <p:spPr>
          <a:xfrm>
            <a:off x="713232" y="5596128"/>
            <a:ext cx="548640" cy="54864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1일차 CBAM 가이드라인은 '비정형 규제 원문'이었다면, 오늘 다루는 인보이스·수출신고필증은 '반정형 통관 서류'다 — 양식은 정해져 있지만 실제 기입 표현은 작성자마다 달라, 오늘은 '해석'보다 '정제·표준화'에 초점을 둔다.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pu.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 기초 개념 — 컴퓨터는 텍스트를 어떻게 '숫자'로 처리하는가</a:t>
            </a:r>
            <a:endParaRPr lang="en-US" sz="2600" dirty="0"/>
          </a:p>
        </p:txBody>
      </p:sp>
      <p:sp>
        <p:nvSpPr>
          <p:cNvPr id="5" name="Text 2"/>
          <p:cNvSpPr/>
          <p:nvPr/>
        </p:nvSpPr>
        <p:spPr>
          <a:xfrm>
            <a:off x="548640" y="1536192"/>
            <a:ext cx="11094415" cy="4480560"/>
          </a:xfrm>
          <a:prstGeom prst="rect">
            <a:avLst/>
          </a:prstGeom>
          <a:noFill/>
          <a:ln/>
        </p:spPr>
        <p:txBody>
          <a:bodyPr wrap="square" rtlCol="0" anchor="t"/>
          <a:lstStyle/>
          <a:p>
            <a:pPr marL="228600" indent="-228600">
              <a:lnSpc>
                <a:spcPct val="200000"/>
              </a:lnSpc>
              <a:spcAft>
                <a:spcPts val="200"/>
              </a:spcAft>
              <a:buSzPct val="100000"/>
              <a:buChar char="•"/>
            </a:pPr>
            <a:r>
              <a:rPr lang="en-US" sz="1600" b="1" dirty="0" err="1">
                <a:solidFill>
                  <a:srgbClr val="1B2A4A"/>
                </a:solidFill>
                <a:latin typeface="Noto Sans CJK KR" pitchFamily="34" charset="0"/>
                <a:ea typeface="Noto Sans CJK KR" pitchFamily="34" charset="-122"/>
                <a:cs typeface="Noto Sans CJK KR" pitchFamily="34" charset="-120"/>
              </a:rPr>
              <a:t>토큰화</a:t>
            </a:r>
            <a:r>
              <a:rPr lang="en-US" sz="1600" b="1" dirty="0">
                <a:solidFill>
                  <a:srgbClr val="1B2A4A"/>
                </a:solidFill>
                <a:latin typeface="Noto Sans CJK KR" pitchFamily="34" charset="0"/>
                <a:ea typeface="Noto Sans CJK KR" pitchFamily="34" charset="-122"/>
                <a:cs typeface="Noto Sans CJK KR" pitchFamily="34" charset="-120"/>
              </a:rPr>
              <a:t>(Tokenization)</a:t>
            </a:r>
            <a:endParaRPr lang="en-US" sz="1600" dirty="0"/>
          </a:p>
          <a:p>
            <a:pPr marL="0" indent="0">
              <a:lnSpc>
                <a:spcPct val="200000"/>
              </a:lnSpc>
              <a:spcAft>
                <a:spcPts val="1400"/>
              </a:spcAft>
              <a:buNone/>
            </a:pPr>
            <a:r>
              <a:rPr lang="en-US" sz="1400" dirty="0" err="1">
                <a:solidFill>
                  <a:srgbClr val="33415C"/>
                </a:solidFill>
                <a:latin typeface="Noto Sans CJK KR" pitchFamily="34" charset="0"/>
                <a:ea typeface="Noto Sans CJK KR" pitchFamily="34" charset="-122"/>
                <a:cs typeface="Noto Sans CJK KR" pitchFamily="34" charset="-120"/>
              </a:rPr>
              <a:t>AI는</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문장을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사람처럼</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읽지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않고</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작은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조각</a:t>
            </a:r>
            <a:r>
              <a:rPr lang="en-US" sz="1400" dirty="0">
                <a:solidFill>
                  <a:srgbClr val="33415C"/>
                </a:solidFill>
                <a:latin typeface="Noto Sans CJK KR" pitchFamily="34" charset="0"/>
                <a:ea typeface="Noto Sans CJK KR" pitchFamily="34" charset="-122"/>
                <a:cs typeface="Noto Sans CJK KR" pitchFamily="34" charset="-120"/>
              </a:rPr>
              <a:t>(</a:t>
            </a:r>
            <a:r>
              <a:rPr lang="en-US" sz="1400" dirty="0" err="1">
                <a:solidFill>
                  <a:srgbClr val="33415C"/>
                </a:solidFill>
                <a:latin typeface="Noto Sans CJK KR" pitchFamily="34" charset="0"/>
                <a:ea typeface="Noto Sans CJK KR" pitchFamily="34" charset="-122"/>
                <a:cs typeface="Noto Sans CJK KR" pitchFamily="34" charset="-120"/>
              </a:rPr>
              <a:t>단어·어절</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단위</a:t>
            </a:r>
            <a:r>
              <a:rPr lang="en-US" sz="1400" dirty="0">
                <a:solidFill>
                  <a:srgbClr val="33415C"/>
                </a:solidFill>
                <a:latin typeface="Noto Sans CJK KR" pitchFamily="34" charset="0"/>
                <a:ea typeface="Noto Sans CJK KR" pitchFamily="34" charset="-122"/>
                <a:cs typeface="Noto Sans CJK KR" pitchFamily="34" charset="-120"/>
              </a:rPr>
              <a:t>)</a:t>
            </a:r>
            <a:r>
              <a:rPr lang="en-US" sz="1400" dirty="0" err="1">
                <a:solidFill>
                  <a:srgbClr val="33415C"/>
                </a:solidFill>
                <a:latin typeface="Noto Sans CJK KR" pitchFamily="34" charset="0"/>
                <a:ea typeface="Noto Sans CJK KR" pitchFamily="34" charset="-122"/>
                <a:cs typeface="Noto Sans CJK KR" pitchFamily="34" charset="-120"/>
              </a:rPr>
              <a:t>으로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잘라낸</a:t>
            </a:r>
            <a:r>
              <a:rPr lang="en-US" sz="1400" dirty="0">
                <a:solidFill>
                  <a:srgbClr val="33415C"/>
                </a:solidFill>
                <a:latin typeface="Noto Sans CJK KR" pitchFamily="34" charset="0"/>
                <a:ea typeface="Noto Sans CJK KR" pitchFamily="34" charset="-122"/>
                <a:cs typeface="Noto Sans CJK KR" pitchFamily="34" charset="-120"/>
              </a:rPr>
              <a:t> 뒤 각 </a:t>
            </a:r>
            <a:r>
              <a:rPr lang="en-US" sz="1400" dirty="0" err="1">
                <a:solidFill>
                  <a:srgbClr val="33415C"/>
                </a:solidFill>
                <a:latin typeface="Noto Sans CJK KR" pitchFamily="34" charset="0"/>
                <a:ea typeface="Noto Sans CJK KR" pitchFamily="34" charset="-122"/>
                <a:cs typeface="Noto Sans CJK KR" pitchFamily="34" charset="-120"/>
              </a:rPr>
              <a:t>조각을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숫자로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바꾸어</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계산한다</a:t>
            </a:r>
            <a:r>
              <a:rPr lang="en-US" sz="1400" dirty="0">
                <a:solidFill>
                  <a:srgbClr val="33415C"/>
                </a:solidFill>
                <a:latin typeface="Noto Sans CJK KR" pitchFamily="34" charset="0"/>
                <a:ea typeface="Noto Sans CJK KR" pitchFamily="34" charset="-122"/>
                <a:cs typeface="Noto Sans CJK KR" pitchFamily="34" charset="-120"/>
              </a:rPr>
              <a:t> — "</a:t>
            </a:r>
            <a:r>
              <a:rPr lang="en-US" sz="1400" dirty="0" err="1">
                <a:solidFill>
                  <a:srgbClr val="33415C"/>
                </a:solidFill>
                <a:latin typeface="Noto Sans CJK KR" pitchFamily="34" charset="0"/>
                <a:ea typeface="Noto Sans CJK KR" pitchFamily="34" charset="-122"/>
                <a:cs typeface="Noto Sans CJK KR" pitchFamily="34" charset="-120"/>
              </a:rPr>
              <a:t>신고된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품목분류와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실제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물품의</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용도가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상이함</a:t>
            </a:r>
            <a:r>
              <a:rPr lang="en-US" sz="1400" dirty="0">
                <a:solidFill>
                  <a:srgbClr val="33415C"/>
                </a:solidFill>
                <a:latin typeface="Noto Sans CJK KR" pitchFamily="34" charset="0"/>
                <a:ea typeface="Noto Sans CJK KR" pitchFamily="34" charset="-122"/>
                <a:cs typeface="Noto Sans CJK KR" pitchFamily="34" charset="-120"/>
              </a:rPr>
              <a:t>" → [</a:t>
            </a:r>
            <a:r>
              <a:rPr lang="en-US" sz="1400" dirty="0" err="1">
                <a:solidFill>
                  <a:srgbClr val="33415C"/>
                </a:solidFill>
                <a:latin typeface="Noto Sans CJK KR" pitchFamily="34" charset="0"/>
                <a:ea typeface="Noto Sans CJK KR" pitchFamily="34" charset="-122"/>
                <a:cs typeface="Noto Sans CJK KR" pitchFamily="34" charset="-120"/>
              </a:rPr>
              <a:t>신고</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품목분류</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용도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상이</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등으로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분리</a:t>
            </a:r>
            <a:endParaRPr lang="en-US" sz="1600" dirty="0"/>
          </a:p>
          <a:p>
            <a:pPr marL="228600" indent="-228600">
              <a:lnSpc>
                <a:spcPct val="200000"/>
              </a:lnSpc>
              <a:spcAft>
                <a:spcPts val="200"/>
              </a:spcAft>
              <a:buSzPct val="100000"/>
              <a:buChar char="•"/>
            </a:pPr>
            <a:r>
              <a:rPr lang="en-US" sz="1600" b="1" dirty="0" err="1">
                <a:solidFill>
                  <a:srgbClr val="1B2A4A"/>
                </a:solidFill>
                <a:latin typeface="Noto Sans CJK KR" pitchFamily="34" charset="0"/>
                <a:ea typeface="Noto Sans CJK KR" pitchFamily="34" charset="-122"/>
                <a:cs typeface="Noto Sans CJK KR" pitchFamily="34" charset="-120"/>
              </a:rPr>
              <a:t>임베딩</a:t>
            </a:r>
            <a:r>
              <a:rPr lang="en-US" sz="1600" b="1" dirty="0">
                <a:solidFill>
                  <a:srgbClr val="1B2A4A"/>
                </a:solidFill>
                <a:latin typeface="Noto Sans CJK KR" pitchFamily="34" charset="0"/>
                <a:ea typeface="Noto Sans CJK KR" pitchFamily="34" charset="-122"/>
                <a:cs typeface="Noto Sans CJK KR" pitchFamily="34" charset="-120"/>
              </a:rPr>
              <a:t>(Embedding)</a:t>
            </a:r>
            <a:endParaRPr lang="en-US" sz="1600" dirty="0"/>
          </a:p>
          <a:p>
            <a:pPr marL="0" indent="0">
              <a:lnSpc>
                <a:spcPct val="200000"/>
              </a:lnSpc>
              <a:spcAft>
                <a:spcPts val="1400"/>
              </a:spcAft>
              <a:buNone/>
            </a:pPr>
            <a:r>
              <a:rPr lang="en-US" sz="1400" dirty="0" err="1">
                <a:solidFill>
                  <a:srgbClr val="33415C"/>
                </a:solidFill>
                <a:latin typeface="Noto Sans CJK KR" pitchFamily="34" charset="0"/>
                <a:ea typeface="Noto Sans CJK KR" pitchFamily="34" charset="-122"/>
                <a:cs typeface="Noto Sans CJK KR" pitchFamily="34" charset="-120"/>
              </a:rPr>
              <a:t>나뉜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조각들을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의미가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비슷한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단어일수록</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서로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가까운</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위치의</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숫자</a:t>
            </a:r>
            <a:r>
              <a:rPr lang="en-US" sz="1400" dirty="0">
                <a:solidFill>
                  <a:srgbClr val="33415C"/>
                </a:solidFill>
                <a:latin typeface="Noto Sans CJK KR" pitchFamily="34" charset="0"/>
                <a:ea typeface="Noto Sans CJK KR" pitchFamily="34" charset="-122"/>
                <a:cs typeface="Noto Sans CJK KR" pitchFamily="34" charset="-120"/>
              </a:rPr>
              <a:t> 값(</a:t>
            </a:r>
            <a:r>
              <a:rPr lang="en-US" sz="1400" dirty="0" err="1">
                <a:solidFill>
                  <a:srgbClr val="33415C"/>
                </a:solidFill>
                <a:latin typeface="Noto Sans CJK KR" pitchFamily="34" charset="0"/>
                <a:ea typeface="Noto Sans CJK KR" pitchFamily="34" charset="-122"/>
                <a:cs typeface="Noto Sans CJK KR" pitchFamily="34" charset="-120"/>
              </a:rPr>
              <a:t>벡터</a:t>
            </a:r>
            <a:r>
              <a:rPr lang="en-US" sz="1400" dirty="0">
                <a:solidFill>
                  <a:srgbClr val="33415C"/>
                </a:solidFill>
                <a:latin typeface="Noto Sans CJK KR" pitchFamily="34" charset="0"/>
                <a:ea typeface="Noto Sans CJK KR" pitchFamily="34" charset="-122"/>
                <a:cs typeface="Noto Sans CJK KR" pitchFamily="34" charset="-120"/>
              </a:rPr>
              <a:t>)</a:t>
            </a:r>
            <a:r>
              <a:rPr lang="en-US" sz="1400" dirty="0" err="1">
                <a:solidFill>
                  <a:srgbClr val="33415C"/>
                </a:solidFill>
                <a:latin typeface="Noto Sans CJK KR" pitchFamily="34" charset="0"/>
                <a:ea typeface="Noto Sans CJK KR" pitchFamily="34" charset="-122"/>
                <a:cs typeface="Noto Sans CJK KR" pitchFamily="34" charset="-120"/>
              </a:rPr>
              <a:t>으로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변환</a:t>
            </a:r>
            <a:r>
              <a:rPr lang="en-US" sz="1400" dirty="0">
                <a:solidFill>
                  <a:srgbClr val="33415C"/>
                </a:solidFill>
                <a:latin typeface="Noto Sans CJK KR" pitchFamily="34" charset="0"/>
                <a:ea typeface="Noto Sans CJK KR" pitchFamily="34" charset="-122"/>
                <a:cs typeface="Noto Sans CJK KR" pitchFamily="34" charset="-120"/>
              </a:rPr>
              <a:t> — '</a:t>
            </a:r>
            <a:r>
              <a:rPr lang="en-US" sz="1400" dirty="0" err="1">
                <a:solidFill>
                  <a:srgbClr val="33415C"/>
                </a:solidFill>
                <a:latin typeface="Noto Sans CJK KR" pitchFamily="34" charset="0"/>
                <a:ea typeface="Noto Sans CJK KR" pitchFamily="34" charset="-122"/>
                <a:cs typeface="Noto Sans CJK KR" pitchFamily="34" charset="-120"/>
              </a:rPr>
              <a:t>용도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상이'와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목적</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불일치'처럼</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표현은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다르지만</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뜻이</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비슷한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문구가</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서로</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가까운</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벡터</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값을</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갖게</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되는</a:t>
            </a:r>
            <a:r>
              <a:rPr lang="en-US" sz="1400" dirty="0">
                <a:solidFill>
                  <a:srgbClr val="33415C"/>
                </a:solidFill>
                <a:latin typeface="Noto Sans CJK KR" pitchFamily="34" charset="0"/>
                <a:ea typeface="Noto Sans CJK KR" pitchFamily="34" charset="-122"/>
                <a:cs typeface="Noto Sans CJK KR" pitchFamily="34" charset="-120"/>
              </a:rPr>
              <a:t> </a:t>
            </a:r>
            <a:r>
              <a:rPr lang="en-US" sz="1400" dirty="0" err="1">
                <a:solidFill>
                  <a:srgbClr val="33415C"/>
                </a:solidFill>
                <a:latin typeface="Noto Sans CJK KR" pitchFamily="34" charset="0"/>
                <a:ea typeface="Noto Sans CJK KR" pitchFamily="34" charset="-122"/>
                <a:cs typeface="Noto Sans CJK KR" pitchFamily="34" charset="-120"/>
              </a:rPr>
              <a:t>원리</a:t>
            </a:r>
            <a:endParaRPr lang="en-US" sz="1600" dirty="0"/>
          </a:p>
        </p:txBody>
      </p:sp>
      <p:sp>
        <p:nvSpPr>
          <p:cNvPr id="6"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ear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AI가 문장의 유사도를 판단하는 방법</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핵심 원리</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2.3.3에서 AI가 통관 거부 사유서 문장을 리스크 카테고리에 자동 매칭할 수 있는 것은, 임베딩 원리로 '사유서 문장의 벡터'와 '카테고리 대표 키워드의 벡터'가 얼마나 가까운지(유사도)를 계산하기 때문이다. 사전에 등록된 키워드와 글자가 완전히 같아야만 인식하는 단순 검색과 달리, 표현이 조금 달라도 의미가 비슷하면 같은 카테고리로 분류할 수 있다는 장점이 있다.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실습 연결 — Step6에서 AI에게 '카테고리 중 하나로 분류하고 근거 문장을 표시해줘'라고 요청하는 것은, 이 유사도 계산 결과와 근거를 사람이 눈으로 확인할 수 있게 드러내 달라는 지시다. 다만 유사도가 애매한 경우 AI가 잘못된 카테고리를 고를 수 있어 2.3.4의 검증 원칙이 함께 필요하다.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itBran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 기초 개념 — 규칙 기반 시스템 vs AI 기반 처리</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1965960"/>
        </p:xfrm>
        <a:graphic>
          <a:graphicData uri="http://schemas.openxmlformats.org/drawingml/2006/table">
            <a:tbl>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785055">
                  <a:extLst>
                    <a:ext uri="{9D8B030D-6E8A-4147-A177-3AD203B41FA5}">
                      <a16:colId xmlns:a16="http://schemas.microsoft.com/office/drawing/2014/main" val="20003"/>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구분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판단 방식</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장점</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단점</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규칙 기반 시스템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사람이 정한 조건(if-then)을 그대로 적용</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결과가 항상 일관되고, 왜 그렇게 처리했는지 설명하기 쉬움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미리 정의하지 못한 새로운 표현·예외 상황은 처리하지 못함</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AI 기반 처리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학습된 패턴과 문맥으로 유사도를 판단</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정의되지 않은 표현이나 문장도 유연하게 처리 가능</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판단 근거가 불투명하고, 할루시네이션이 발생할 수 있음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5"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오늘 실습의 cleaning_rules.csv(단위·표기 표준화 규칙표)는 규칙 기반 처리의 예이고, 통관 거부 사유서에서 리스크 키워드를 찾는 작업은 AI 기반 처리의 예다. '확실한 부분은 규칙으로, 다양한 부분은 AI로' 나누는 하이브리드 방식이 4일차에서 본격적으로 다뤄진다.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lob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관세 행정의 디지털 전환 — AI와 인보이스 데이터 연계 HS Code 자동매칭</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lnSpc>
                <a:spcPct val="200000"/>
              </a:lnSpc>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관세청</a:t>
            </a:r>
            <a:endParaRPr lang="en-US" sz="1600" dirty="0"/>
          </a:p>
          <a:p>
            <a:pPr marL="0" indent="0">
              <a:lnSpc>
                <a:spcPct val="200000"/>
              </a:lnSpc>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2018년 업무에 AI를 처음 도입, 현재 가장 많이 활용하는 분야는 품목분류(HS Code). 빅데이터 포털에 품목명을 입력하면 과거 5년치 신고 데이터를 근거로 품명·규격·HS Code까지 자동 추천 — 언론 보도 기준 정확도 약 80% 수준</a:t>
            </a:r>
            <a:endParaRPr lang="en-US" sz="1600" dirty="0"/>
          </a:p>
          <a:p>
            <a:pPr marL="228600" indent="-228600">
              <a:lnSpc>
                <a:spcPct val="200000"/>
              </a:lnSpc>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민간 — 관세법인 에이원</a:t>
            </a:r>
            <a:endParaRPr lang="en-US" sz="1600" dirty="0"/>
          </a:p>
          <a:p>
            <a:pPr marL="0" indent="0">
              <a:lnSpc>
                <a:spcPct val="200000"/>
              </a:lnSpc>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LLM으로 HS 해설서를 임베딩하고 RAG로 WCO·관세청의 품목분류 결정 사례를 학습시켜, 표준품명·거래품명·용도·재질을 입력하면 추천 HS Code와 분류 근거를 함께 제시하는 시스템 개발</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시사점 — 인보이스 원본 텍스트가 정제되지 않은 채로 들어가면 품목분류 자동매칭의 정확도는 그만큼 떨어진다. 오늘의 '서류 정제·표준화'가 실시간 HS Code 자동매칭이 작동하기 위한 전제 조건이다. (출처: 조세일보 2025.7, 한국세정신문 2024.11)</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Triang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2.3.1</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HS Code 불일치·수출 제한 품목 등 컴플라이언스 리스크 변수 정의</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3200400"/>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0593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리스크 변수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정의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예시</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HS Code 불일치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송장·신고서 간 품목분류 코드가 서로 다르게 기재된 경우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Invoice상 7616.99 vs 신고필증상 7616.91</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수출 제한·금지 품목</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특정 국가·품목에 대해 허가 없이는 수출이 제한되는 경우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이중용도(Dual-use) 품목, 전략물자</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 증빙 누락</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FTA 특혜관세 적용을 위한 원산지 증명서류가 누락·불일치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C/O 미첨부, 원산지 기준 미충족</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ESG 근거자료 미비</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탄소배출·노동환경 등 ESG 실사 문항에 대한 근거자료가 없음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배출계수 산출 근거 문서 없음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rge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리스크 변수를 먼저 정의해야 하는 이유</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핵심 원리</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200000"/>
              </a:lnSpc>
              <a:buNone/>
            </a:pPr>
            <a:r>
              <a:rPr lang="en-US" sz="1550" i="1" dirty="0">
                <a:solidFill>
                  <a:srgbClr val="1B2A4A"/>
                </a:solidFill>
                <a:latin typeface="Noto Sans CJK KR" pitchFamily="34" charset="0"/>
                <a:ea typeface="Noto Sans CJK KR" pitchFamily="34" charset="-122"/>
                <a:cs typeface="Noto Sans CJK KR" pitchFamily="34" charset="-120"/>
              </a:rPr>
              <a:t>'리스크 변수 정의' 없이 AI에게 '이상한 부분을 찾아줘'처럼 모호하게 지시하면 결과가 매번 달라진다. 반대로 무엇이 리스크인지 미리 카테고리로 못박아두면, 서류가 달라져도 AI는 항상 같은 4개 기준으로 판정하므로 결과를 비교·통계로 집계할 수 있다. 즉 리스크 변수 정의는 오늘 실습 전체가 일관된 기준으로 작동하게 만드는 '설계도' 역할을 한다.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G사(자동차 부품 수출기업) 사례 — 원산지 증빙 누락으로 FTA 특혜관세를 놓치는 일이 반복되자 이 항목을 리스크 변수로 명시 등록. 이후 신규 수출 건마다 AI가 C/O 첨부 여부를 자동 점검하도록 프롬프트에 포함시켜 관세 차액 발생 건수를 눈에 띄게 줄임.</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2.3.2</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법령/규제 데이터 정제 — 4단계</a:t>
            </a:r>
            <a:endParaRPr lang="en-US" sz="2600" dirty="0"/>
          </a:p>
        </p:txBody>
      </p:sp>
      <p:sp>
        <p:nvSpPr>
          <p:cNvPr id="6" name="Shape 3"/>
          <p:cNvSpPr/>
          <p:nvPr/>
        </p:nvSpPr>
        <p:spPr>
          <a:xfrm>
            <a:off x="548640" y="1828800"/>
            <a:ext cx="2602154" cy="2834640"/>
          </a:xfrm>
          <a:prstGeom prst="roundRect">
            <a:avLst>
              <a:gd name="adj" fmla="val 2811"/>
            </a:avLst>
          </a:prstGeom>
          <a:solidFill>
            <a:srgbClr val="E8EEF7"/>
          </a:solidFill>
          <a:ln/>
        </p:spPr>
        <p:txBody>
          <a:bodyPr/>
          <a:lstStyle/>
          <a:p>
            <a:endParaRPr lang="ko-KR" altLang="en-US"/>
          </a:p>
        </p:txBody>
      </p:sp>
      <p:sp>
        <p:nvSpPr>
          <p:cNvPr id="7" name="Shape 4"/>
          <p:cNvSpPr/>
          <p:nvPr/>
        </p:nvSpPr>
        <p:spPr>
          <a:xfrm>
            <a:off x="1593685" y="1572768"/>
            <a:ext cx="512064" cy="512064"/>
          </a:xfrm>
          <a:prstGeom prst="ellipse">
            <a:avLst/>
          </a:prstGeom>
          <a:solidFill>
            <a:srgbClr val="1B2A4A"/>
          </a:solidFill>
          <a:ln/>
        </p:spPr>
        <p:txBody>
          <a:bodyPr/>
          <a:lstStyle/>
          <a:p>
            <a:endParaRPr lang="ko-KR" altLang="en-US"/>
          </a:p>
        </p:txBody>
      </p:sp>
      <p:sp>
        <p:nvSpPr>
          <p:cNvPr id="8" name="Text 5"/>
          <p:cNvSpPr/>
          <p:nvPr/>
        </p:nvSpPr>
        <p:spPr>
          <a:xfrm>
            <a:off x="1593685"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9" name="Text 6"/>
          <p:cNvSpPr/>
          <p:nvPr/>
        </p:nvSpPr>
        <p:spPr>
          <a:xfrm>
            <a:off x="676656"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① 결측값 확인</a:t>
            </a:r>
            <a:endParaRPr lang="en-US" sz="1400" dirty="0"/>
          </a:p>
        </p:txBody>
      </p:sp>
      <p:sp>
        <p:nvSpPr>
          <p:cNvPr id="10" name="Text 7"/>
          <p:cNvSpPr/>
          <p:nvPr/>
        </p:nvSpPr>
        <p:spPr>
          <a:xfrm>
            <a:off x="676656"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표 형태 데이터에서 비어 있는 셀(품명, 수량, 금액 등)을 찾아낸다</a:t>
            </a:r>
            <a:endParaRPr lang="en-US" sz="1150" dirty="0"/>
          </a:p>
        </p:txBody>
      </p:sp>
      <p:sp>
        <p:nvSpPr>
          <p:cNvPr id="11" name="Text 8"/>
          <p:cNvSpPr/>
          <p:nvPr/>
        </p:nvSpPr>
        <p:spPr>
          <a:xfrm>
            <a:off x="3150794"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2" name="Shape 9"/>
          <p:cNvSpPr/>
          <p:nvPr/>
        </p:nvSpPr>
        <p:spPr>
          <a:xfrm>
            <a:off x="3379394" y="1828800"/>
            <a:ext cx="2602154" cy="2834640"/>
          </a:xfrm>
          <a:prstGeom prst="roundRect">
            <a:avLst>
              <a:gd name="adj" fmla="val 2811"/>
            </a:avLst>
          </a:prstGeom>
          <a:solidFill>
            <a:srgbClr val="E8EEF7"/>
          </a:solidFill>
          <a:ln/>
        </p:spPr>
        <p:txBody>
          <a:bodyPr/>
          <a:lstStyle/>
          <a:p>
            <a:endParaRPr lang="ko-KR" altLang="en-US"/>
          </a:p>
        </p:txBody>
      </p:sp>
      <p:sp>
        <p:nvSpPr>
          <p:cNvPr id="13" name="Shape 10"/>
          <p:cNvSpPr/>
          <p:nvPr/>
        </p:nvSpPr>
        <p:spPr>
          <a:xfrm>
            <a:off x="4424439" y="1572768"/>
            <a:ext cx="512064" cy="512064"/>
          </a:xfrm>
          <a:prstGeom prst="ellipse">
            <a:avLst/>
          </a:prstGeom>
          <a:solidFill>
            <a:srgbClr val="3E5C86"/>
          </a:solidFill>
          <a:ln/>
        </p:spPr>
        <p:txBody>
          <a:bodyPr/>
          <a:lstStyle/>
          <a:p>
            <a:endParaRPr lang="ko-KR" altLang="en-US"/>
          </a:p>
        </p:txBody>
      </p:sp>
      <p:sp>
        <p:nvSpPr>
          <p:cNvPr id="14" name="Text 11"/>
          <p:cNvSpPr/>
          <p:nvPr/>
        </p:nvSpPr>
        <p:spPr>
          <a:xfrm>
            <a:off x="4424439"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5" name="Text 12"/>
          <p:cNvSpPr/>
          <p:nvPr/>
        </p:nvSpPr>
        <p:spPr>
          <a:xfrm>
            <a:off x="3507410"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② 중복·잡음 제거</a:t>
            </a:r>
            <a:endParaRPr lang="en-US" sz="1400" dirty="0"/>
          </a:p>
        </p:txBody>
      </p:sp>
      <p:sp>
        <p:nvSpPr>
          <p:cNvPr id="16" name="Text 13"/>
          <p:cNvSpPr/>
          <p:nvPr/>
        </p:nvSpPr>
        <p:spPr>
          <a:xfrm>
            <a:off x="3507410"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동일 항목 중복 기재, 불필요한 공백·특수문자를 정리한다</a:t>
            </a:r>
            <a:endParaRPr lang="en-US" sz="1150" dirty="0"/>
          </a:p>
        </p:txBody>
      </p:sp>
      <p:sp>
        <p:nvSpPr>
          <p:cNvPr id="17" name="Text 14"/>
          <p:cNvSpPr/>
          <p:nvPr/>
        </p:nvSpPr>
        <p:spPr>
          <a:xfrm>
            <a:off x="5981548"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8" name="Shape 15"/>
          <p:cNvSpPr/>
          <p:nvPr/>
        </p:nvSpPr>
        <p:spPr>
          <a:xfrm>
            <a:off x="6210148" y="1828800"/>
            <a:ext cx="2602154" cy="2834640"/>
          </a:xfrm>
          <a:prstGeom prst="roundRect">
            <a:avLst>
              <a:gd name="adj" fmla="val 2811"/>
            </a:avLst>
          </a:prstGeom>
          <a:solidFill>
            <a:srgbClr val="E8EEF7"/>
          </a:solidFill>
          <a:ln/>
        </p:spPr>
        <p:txBody>
          <a:bodyPr/>
          <a:lstStyle/>
          <a:p>
            <a:endParaRPr lang="ko-KR" altLang="en-US"/>
          </a:p>
        </p:txBody>
      </p:sp>
      <p:sp>
        <p:nvSpPr>
          <p:cNvPr id="19" name="Shape 16"/>
          <p:cNvSpPr/>
          <p:nvPr/>
        </p:nvSpPr>
        <p:spPr>
          <a:xfrm>
            <a:off x="7255193" y="1572768"/>
            <a:ext cx="512064" cy="512064"/>
          </a:xfrm>
          <a:prstGeom prst="ellipse">
            <a:avLst/>
          </a:prstGeom>
          <a:solidFill>
            <a:srgbClr val="1B2A4A"/>
          </a:solidFill>
          <a:ln/>
        </p:spPr>
        <p:txBody>
          <a:bodyPr/>
          <a:lstStyle/>
          <a:p>
            <a:endParaRPr lang="ko-KR" altLang="en-US"/>
          </a:p>
        </p:txBody>
      </p:sp>
      <p:sp>
        <p:nvSpPr>
          <p:cNvPr id="20" name="Text 17"/>
          <p:cNvSpPr/>
          <p:nvPr/>
        </p:nvSpPr>
        <p:spPr>
          <a:xfrm>
            <a:off x="7255193"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3</a:t>
            </a:r>
            <a:endParaRPr lang="en-US" sz="1800" dirty="0"/>
          </a:p>
        </p:txBody>
      </p:sp>
      <p:sp>
        <p:nvSpPr>
          <p:cNvPr id="21" name="Text 18"/>
          <p:cNvSpPr/>
          <p:nvPr/>
        </p:nvSpPr>
        <p:spPr>
          <a:xfrm>
            <a:off x="6338164"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③ 표준화</a:t>
            </a:r>
            <a:endParaRPr lang="en-US" sz="1400" dirty="0"/>
          </a:p>
        </p:txBody>
      </p:sp>
      <p:sp>
        <p:nvSpPr>
          <p:cNvPr id="22" name="Text 19"/>
          <p:cNvSpPr/>
          <p:nvPr/>
        </p:nvSpPr>
        <p:spPr>
          <a:xfrm>
            <a:off x="6338164"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같은 의미를 다르게 표기한 값('KG'와 'kg' 등)을 하나의 형식으로 통일한다</a:t>
            </a:r>
            <a:endParaRPr lang="en-US" sz="1150" dirty="0"/>
          </a:p>
        </p:txBody>
      </p:sp>
      <p:sp>
        <p:nvSpPr>
          <p:cNvPr id="23" name="Text 20"/>
          <p:cNvSpPr/>
          <p:nvPr/>
        </p:nvSpPr>
        <p:spPr>
          <a:xfrm>
            <a:off x="8812301"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24" name="Shape 21"/>
          <p:cNvSpPr/>
          <p:nvPr/>
        </p:nvSpPr>
        <p:spPr>
          <a:xfrm>
            <a:off x="9040901" y="1828800"/>
            <a:ext cx="2602154" cy="2834640"/>
          </a:xfrm>
          <a:prstGeom prst="roundRect">
            <a:avLst>
              <a:gd name="adj" fmla="val 2811"/>
            </a:avLst>
          </a:prstGeom>
          <a:solidFill>
            <a:srgbClr val="E8EEF7"/>
          </a:solidFill>
          <a:ln/>
        </p:spPr>
        <p:txBody>
          <a:bodyPr/>
          <a:lstStyle/>
          <a:p>
            <a:endParaRPr lang="ko-KR" altLang="en-US"/>
          </a:p>
        </p:txBody>
      </p:sp>
      <p:sp>
        <p:nvSpPr>
          <p:cNvPr id="25" name="Shape 22"/>
          <p:cNvSpPr/>
          <p:nvPr/>
        </p:nvSpPr>
        <p:spPr>
          <a:xfrm>
            <a:off x="10085946" y="1572768"/>
            <a:ext cx="512064" cy="512064"/>
          </a:xfrm>
          <a:prstGeom prst="ellipse">
            <a:avLst/>
          </a:prstGeom>
          <a:solidFill>
            <a:srgbClr val="3E5C86"/>
          </a:solidFill>
          <a:ln/>
        </p:spPr>
        <p:txBody>
          <a:bodyPr/>
          <a:lstStyle/>
          <a:p>
            <a:endParaRPr lang="ko-KR" altLang="en-US"/>
          </a:p>
        </p:txBody>
      </p:sp>
      <p:sp>
        <p:nvSpPr>
          <p:cNvPr id="26" name="Text 23"/>
          <p:cNvSpPr/>
          <p:nvPr/>
        </p:nvSpPr>
        <p:spPr>
          <a:xfrm>
            <a:off x="10085946"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4</a:t>
            </a:r>
            <a:endParaRPr lang="en-US" sz="1800" dirty="0"/>
          </a:p>
        </p:txBody>
      </p:sp>
      <p:sp>
        <p:nvSpPr>
          <p:cNvPr id="27" name="Text 24"/>
          <p:cNvSpPr/>
          <p:nvPr/>
        </p:nvSpPr>
        <p:spPr>
          <a:xfrm>
            <a:off x="9168917"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④ 구조화</a:t>
            </a:r>
            <a:endParaRPr lang="en-US" sz="1400" dirty="0"/>
          </a:p>
        </p:txBody>
      </p:sp>
      <p:sp>
        <p:nvSpPr>
          <p:cNvPr id="28" name="Text 25"/>
          <p:cNvSpPr/>
          <p:nvPr/>
        </p:nvSpPr>
        <p:spPr>
          <a:xfrm>
            <a:off x="9168917"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정제된 값을 행·열 구조(.xlsx, .csv)로 재배열해 분석·매칭에 바로 쓸 수 있게 만든다</a:t>
            </a:r>
            <a:endParaRPr lang="en-US" sz="1150" dirty="0"/>
          </a:p>
        </p:txBody>
      </p:sp>
      <p:sp>
        <p:nvSpPr>
          <p:cNvPr id="29" name="Shape 26"/>
          <p:cNvSpPr/>
          <p:nvPr/>
        </p:nvSpPr>
        <p:spPr>
          <a:xfrm>
            <a:off x="548640" y="4937760"/>
            <a:ext cx="11094415" cy="777240"/>
          </a:xfrm>
          <a:prstGeom prst="roundRect">
            <a:avLst>
              <a:gd name="adj" fmla="val 9412"/>
            </a:avLst>
          </a:prstGeom>
          <a:solidFill>
            <a:srgbClr val="FBEEDC"/>
          </a:solidFill>
          <a:ln/>
        </p:spPr>
        <p:txBody>
          <a:bodyPr/>
          <a:lstStyle/>
          <a:p>
            <a:endParaRPr lang="ko-KR" altLang="en-US"/>
          </a:p>
        </p:txBody>
      </p:sp>
      <p:sp>
        <p:nvSpPr>
          <p:cNvPr id="30" name="Shape 27"/>
          <p:cNvSpPr/>
          <p:nvPr/>
        </p:nvSpPr>
        <p:spPr>
          <a:xfrm>
            <a:off x="694944" y="5056632"/>
            <a:ext cx="502920" cy="502920"/>
          </a:xfrm>
          <a:prstGeom prst="ellipse">
            <a:avLst/>
          </a:prstGeom>
          <a:solidFill>
            <a:srgbClr val="D98E2B"/>
          </a:solidFill>
          <a:ln/>
        </p:spPr>
        <p:txBody>
          <a:bodyPr/>
          <a:lstStyle/>
          <a:p>
            <a:endParaRPr lang="ko-KR" altLang="en-US"/>
          </a:p>
        </p:txBody>
      </p:sp>
      <p:pic>
        <p:nvPicPr>
          <p:cNvPr id="31" name="Image 1" descr="/home/claude/day2_ppt/icons/checkCircle.png"/>
          <p:cNvPicPr>
            <a:picLocks noChangeAspect="1"/>
          </p:cNvPicPr>
          <p:nvPr/>
        </p:nvPicPr>
        <p:blipFill>
          <a:blip r:embed="rId4"/>
          <a:stretch>
            <a:fillRect/>
          </a:stretch>
        </p:blipFill>
        <p:spPr>
          <a:xfrm>
            <a:off x="760324" y="5122012"/>
            <a:ext cx="372161" cy="372161"/>
          </a:xfrm>
          <a:prstGeom prst="rect">
            <a:avLst/>
          </a:prstGeom>
        </p:spPr>
      </p:pic>
      <p:sp>
        <p:nvSpPr>
          <p:cNvPr id="32" name="Text 28"/>
          <p:cNvSpPr/>
          <p:nvPr/>
        </p:nvSpPr>
        <p:spPr>
          <a:xfrm>
            <a:off x="1325880" y="4983480"/>
            <a:ext cx="10134295" cy="685800"/>
          </a:xfrm>
          <a:prstGeom prst="rect">
            <a:avLst/>
          </a:prstGeom>
          <a:noFill/>
          <a:ln/>
        </p:spPr>
        <p:txBody>
          <a:bodyPr wrap="square" rtlCol="0" anchor="ctr"/>
          <a:lstStyle/>
          <a:p>
            <a:pPr marL="0" indent="0">
              <a:buNone/>
            </a:pPr>
            <a:r>
              <a:rPr lang="en-US" sz="1250" dirty="0">
                <a:solidFill>
                  <a:srgbClr val="1B2A4A"/>
                </a:solidFill>
                <a:latin typeface="Noto Sans CJK KR" pitchFamily="34" charset="0"/>
                <a:ea typeface="Noto Sans CJK KR" pitchFamily="34" charset="-122"/>
                <a:cs typeface="Noto Sans CJK KR" pitchFamily="34" charset="-120"/>
              </a:rPr>
              <a:t>실습 팁 — 이 4단계는 손으로 하나하나 고치는 게 아니라, AI에게 '결측값이 있는 행을 찾아줘', '단위 표기를 kg로 통일해줘'처럼 프롬프트로 지시해 처리 속도를 높이는 것이 오늘 실습의 핵심이다.</a:t>
            </a:r>
            <a:endParaRPr lang="en-US" sz="1250" dirty="0"/>
          </a:p>
        </p:txBody>
      </p:sp>
      <p:sp>
        <p:nvSpPr>
          <p:cNvPr id="33" name="Text 29"/>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34" name="Text 30"/>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edi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표기가 제각각인 서류를 AI가 하나로 묶는 방식</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핵심 원리</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사람은 'KG'와 'kg'가 같은 단위라는 것을 당연히 알지만, 데이터를 기계적으로 집계하는 시스템은 두 표기를 서로 다른 값으로 처리한다. AI 기반 표준화는 이런 표기 차이를 '동일한 의미의 이표기(異表記)'로 인식해 한쪽으로 통일해주는 작업이다. 사전에 정해진 규칙(cleaning_rules.csv)이 있으면 정확도가 크게 높아진다.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H사(농식품 수출기업) 사례 — 포장 단위가 '박스', 'BOX', 'CTN' 등으로 서류마다 제각각이라 수출 물량 집계 시 매번 수작업 재입력이 필요했다. AI에게 '포장단위 표기를 모두 BOX로 통일해줘'라고 지시한 뒤 원본과 대조 검수하는 방식으로 집계 오류를 크게 줄임.</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무역 데이터 기초 항목 추출</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79089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기초 항목</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추출 대상 서류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활용처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품명·규격</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Invoice, Packing List</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HS Code 매핑(3일차)</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HS Code</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수출신고필증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품목분류 리스크 검증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수량·중량·금액</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Invoice, Packing List</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배출량·관세 계산 기초값</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C/O, 신고필증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FTA 특혜관세·원산지 리스크 판정</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정제가 끝난 서류에서는 이후 실습(3일차 이후)에 반복적으로 쓰이는 '기초 항목'을 별도 열로 뽑아둔다 — 서류 형식이 달라져도 같은 기준으로 데이터를 쌓을 수 있다.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ear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2.3.3</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 기반 해외 통관 거부 키워드 자동 분류</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입력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통관 거부 사유서 원문 텍스트 (예: "신고된 품목분류와 실제 물품의 용도가 상이하여 보류함")</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AI 처리</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핵심 키워드 추출("품목분류", "용도 상이") → 리스크 카테고리 매칭("HS Code 불일치")</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사유서 1건당 [리스크 카테고리, 근거 키워드, 원문 문장] 3개 열로 구성된 정형 데이터 1행</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8" name="Shape 5"/>
          <p:cNvSpPr/>
          <p:nvPr/>
        </p:nvSpPr>
        <p:spPr>
          <a:xfrm>
            <a:off x="713232" y="5596128"/>
            <a:ext cx="548640" cy="54864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통관 거부 사유서처럼 문장으로 서술된 비정형 문서에서 리스크 키워드를 사람이 매번 읽고 찾는 대신, AI가 문맥을 이해해 관련 단어를 추출하고 2.3.1의 리스크 변수 카테고리에 맞춰 분류해준다.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layers.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규제 대응 통합 마스터 데이터셋 구축</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사유서 여러 건을 같은 방식으로 처리한 결과(리스크 카테고리·근거 키워드)를, 2.3.2에서 추출한 서류 기초 항목(품명·HS Code·원산지 등)과 하나의 표로 통합하면 '규제 대응 통합 마스터 데이터셋'이 완성된다</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이 데이터셋은 이후 실습에서 반복적으로 참조하는 기준 데이터가 된다</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오늘 만드는 마스터 데이터셋은 3일차 'AI 기반 HS Code 및 ESG 리스크 예측·분류' 실습의 학습(참고) 데이터로 그대로 이어진다.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heck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키워드 매칭이 사람의 수작업보다 유리한 이유</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핵심 원리</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사람이 사유서를 읽고 리스크를 찾을 때는 읽는 속도와 집중력에 따라 판정이 흔들릴 수 있지만, AI에게 동일한 리스크 변수 카테고리를 기준으로 반복 지시하면 문서 수가 아무리 많아도 같은 기준을 계속 적용한다. 다만 카테고리 정의가 모호하면 서로 다른 카테고리에 비슷한 확신도로 걸치는 경우가 있어, 카테고리 정의를 명확히 해두는 것이 분류 정확도에 직접 영향을 준다.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I사(생활용품 수출기업) 사례 — 초기엔 '위생', '인증' 같은 단일 키워드로만 걸러내다 무관한 사유서까지 오분류됐다. 카테고리 정의에 '인증서 종류(위생증명서 vs 성분분석서)'를 구체적으로 명시한 뒤부터 오분류가 줄었다 — 카테고리 정의의 구체성이 분류 정확도를 좌우한다.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세 기업 사례 비교 — 같은 원리, 다른 적용</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5150815">
                  <a:extLst>
                    <a:ext uri="{9D8B030D-6E8A-4147-A177-3AD203B41FA5}">
                      <a16:colId xmlns:a16="http://schemas.microsoft.com/office/drawing/2014/main" val="20003"/>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기업</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겪은 문제</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AI 활용 지점</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결과</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G사 (자동차부품)</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 증빙 누락으로 FTA 특혜관세 반복 손실</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리스크 변수로 등록 후 C/O 첨부 여부 자동 점검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관세 차액 발생 건수 감소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H사 (농식품)</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포장단위 표기가 서류마다 제각각(박스/BOX/CTN)</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AI로 표기 통일 후 원본 대조 검수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집계 오류 감소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I사 (생활용품)</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단일 키워드 매칭으로 무관한 사유서까지 오분류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카테고리 정의를 구체화(인증서 종류 명시)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오분류 감소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공통 패턴 — 세 사례 모두 'AI를 처음 붙였을 때는 문제가 있었고, 기준(리스크 변수·표준 표기·카테고리 정의)을 구체화한 뒤에야 효과가 났다'는 흐름이다. 즉 AI 도입의 성패는 모델 성능보다 '얼마나 명확한 기준을 입력했는가'에 달려있는 경우가 많다.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lock.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규제 모니터링의 실시간화 — 자동 크롤링 기반 리스크 대시보드</a:t>
            </a:r>
            <a:endParaRPr lang="en-US" sz="2600" dirty="0"/>
          </a:p>
        </p:txBody>
      </p:sp>
      <p:sp>
        <p:nvSpPr>
          <p:cNvPr id="5" name="Text 2"/>
          <p:cNvSpPr/>
          <p:nvPr/>
        </p:nvSpPr>
        <p:spPr>
          <a:xfrm>
            <a:off x="548640" y="1536192"/>
            <a:ext cx="11094415" cy="448056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2.3.3에서 완성한 마스터 데이터셋은 '지금 이 순간의 스냅샷'일 뿐 — 해외 기술 규제와 인증 표준은 각국 정부가 수시로 개정하므로, 시간이 지날수록 실제 규제 현황과 어긋나게 된다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해결 접근 — 규제 모니터링의 실시간화</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사람이 매번 해외 사이트를 찾아다니는 대신, 규제 공지 페이지를 주기적으로 자동 수집(크롤링)하고 AI로 변동 내역을 분석해, 변화가 감지되면 마스터 데이터셋과 리스크 대시보드에 자동 반영하는 구조</a:t>
            </a:r>
            <a:endParaRPr lang="en-US" sz="1600" dirty="0"/>
          </a:p>
        </p:txBody>
      </p:sp>
      <p:sp>
        <p:nvSpPr>
          <p:cNvPr id="6"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lob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실제로 운영 중인 정부 차원의 규제 모니터링 시스템</a:t>
            </a:r>
            <a:endParaRPr lang="en-US" sz="2600" dirty="0"/>
          </a:p>
        </p:txBody>
      </p:sp>
      <p:sp>
        <p:nvSpPr>
          <p:cNvPr id="5" name="Shape 2"/>
          <p:cNvSpPr/>
          <p:nvPr/>
        </p:nvSpPr>
        <p:spPr>
          <a:xfrm>
            <a:off x="548640" y="1691640"/>
            <a:ext cx="3515258" cy="2286000"/>
          </a:xfrm>
          <a:prstGeom prst="roundRect">
            <a:avLst>
              <a:gd name="adj" fmla="val 3200"/>
            </a:avLst>
          </a:prstGeom>
          <a:solidFill>
            <a:srgbClr val="1B2A4A"/>
          </a:solidFill>
          <a:ln/>
        </p:spPr>
        <p:txBody>
          <a:bodyPr/>
          <a:lstStyle/>
          <a:p>
            <a:endParaRPr lang="ko-KR" altLang="en-US"/>
          </a:p>
        </p:txBody>
      </p:sp>
      <p:sp>
        <p:nvSpPr>
          <p:cNvPr id="6" name="Text 3"/>
          <p:cNvSpPr/>
          <p:nvPr/>
        </p:nvSpPr>
        <p:spPr>
          <a:xfrm>
            <a:off x="685800" y="1920240"/>
            <a:ext cx="3240938" cy="914400"/>
          </a:xfrm>
          <a:prstGeom prst="rect">
            <a:avLst/>
          </a:prstGeom>
          <a:noFill/>
          <a:ln/>
        </p:spPr>
        <p:txBody>
          <a:bodyPr wrap="square" rtlCol="0" anchor="ctr"/>
          <a:lstStyle/>
          <a:p>
            <a:pPr marL="0" indent="0" algn="ctr">
              <a:buNone/>
            </a:pPr>
            <a:r>
              <a:rPr lang="en-US" sz="3000" b="1" dirty="0">
                <a:solidFill>
                  <a:srgbClr val="D98E2B"/>
                </a:solidFill>
                <a:latin typeface="Noto Sans CJK KR" pitchFamily="34" charset="0"/>
                <a:ea typeface="Noto Sans CJK KR" pitchFamily="34" charset="-122"/>
                <a:cs typeface="Noto Sans CJK KR" pitchFamily="34" charset="-120"/>
              </a:rPr>
              <a:t>5만여 종</a:t>
            </a:r>
            <a:endParaRPr lang="en-US" sz="3000" dirty="0"/>
          </a:p>
        </p:txBody>
      </p:sp>
      <p:sp>
        <p:nvSpPr>
          <p:cNvPr id="7" name="Text 4"/>
          <p:cNvSpPr/>
          <p:nvPr/>
        </p:nvSpPr>
        <p:spPr>
          <a:xfrm>
            <a:off x="685800" y="2880360"/>
            <a:ext cx="3240938" cy="960120"/>
          </a:xfrm>
          <a:prstGeom prst="rect">
            <a:avLst/>
          </a:prstGeom>
          <a:noFill/>
          <a:ln/>
        </p:spPr>
        <p:txBody>
          <a:bodyPr wrap="square" rtlCol="0" anchor="t"/>
          <a:lstStyle/>
          <a:p>
            <a:pPr marL="0" indent="0" algn="ctr">
              <a:buNone/>
            </a:pPr>
            <a:r>
              <a:rPr lang="en-US" sz="1250" dirty="0">
                <a:solidFill>
                  <a:srgbClr val="FFFFFF"/>
                </a:solidFill>
                <a:latin typeface="Noto Sans CJK KR" pitchFamily="34" charset="0"/>
                <a:ea typeface="Noto Sans CJK KR" pitchFamily="34" charset="-122"/>
                <a:cs typeface="Noto Sans CJK KR" pitchFamily="34" charset="-120"/>
              </a:rPr>
              <a:t>e-나라표준인증(국가기술표준원) — 23개 부처의 표준·인증·기술기준·TBT 통보문 통합 제공 (2015년 개설)</a:t>
            </a:r>
            <a:endParaRPr lang="en-US" sz="1250" dirty="0"/>
          </a:p>
        </p:txBody>
      </p:sp>
      <p:sp>
        <p:nvSpPr>
          <p:cNvPr id="8" name="Shape 5"/>
          <p:cNvSpPr/>
          <p:nvPr/>
        </p:nvSpPr>
        <p:spPr>
          <a:xfrm>
            <a:off x="4338218" y="1691640"/>
            <a:ext cx="3515258" cy="2286000"/>
          </a:xfrm>
          <a:prstGeom prst="roundRect">
            <a:avLst>
              <a:gd name="adj" fmla="val 3200"/>
            </a:avLst>
          </a:prstGeom>
          <a:solidFill>
            <a:srgbClr val="E8EEF7"/>
          </a:solidFill>
          <a:ln/>
        </p:spPr>
        <p:txBody>
          <a:bodyPr/>
          <a:lstStyle/>
          <a:p>
            <a:endParaRPr lang="ko-KR" altLang="en-US"/>
          </a:p>
        </p:txBody>
      </p:sp>
      <p:sp>
        <p:nvSpPr>
          <p:cNvPr id="9" name="Text 6"/>
          <p:cNvSpPr/>
          <p:nvPr/>
        </p:nvSpPr>
        <p:spPr>
          <a:xfrm>
            <a:off x="4475378" y="1920240"/>
            <a:ext cx="3240938" cy="914400"/>
          </a:xfrm>
          <a:prstGeom prst="rect">
            <a:avLst/>
          </a:prstGeom>
          <a:noFill/>
          <a:ln/>
        </p:spPr>
        <p:txBody>
          <a:bodyPr wrap="square" rtlCol="0" anchor="ctr"/>
          <a:lstStyle/>
          <a:p>
            <a:pPr marL="0" indent="0" algn="ctr">
              <a:buNone/>
            </a:pPr>
            <a:r>
              <a:rPr lang="en-US" sz="3000" b="1" dirty="0">
                <a:solidFill>
                  <a:srgbClr val="1B2A4A"/>
                </a:solidFill>
                <a:latin typeface="Noto Sans CJK KR" pitchFamily="34" charset="0"/>
                <a:ea typeface="Noto Sans CJK KR" pitchFamily="34" charset="-122"/>
                <a:cs typeface="Noto Sans CJK KR" pitchFamily="34" charset="-120"/>
              </a:rPr>
              <a:t>200만 건+</a:t>
            </a:r>
            <a:endParaRPr lang="en-US" sz="3000" dirty="0"/>
          </a:p>
        </p:txBody>
      </p:sp>
      <p:sp>
        <p:nvSpPr>
          <p:cNvPr id="10" name="Text 7"/>
          <p:cNvSpPr/>
          <p:nvPr/>
        </p:nvSpPr>
        <p:spPr>
          <a:xfrm>
            <a:off x="4475378" y="2880360"/>
            <a:ext cx="3240938" cy="960120"/>
          </a:xfrm>
          <a:prstGeom prst="rect">
            <a:avLst/>
          </a:prstGeom>
          <a:noFill/>
          <a:ln/>
        </p:spPr>
        <p:txBody>
          <a:bodyPr wrap="square" rtlCol="0" anchor="t"/>
          <a:lstStyle/>
          <a:p>
            <a:pPr marL="0" indent="0" algn="ctr">
              <a:buNone/>
            </a:pPr>
            <a:r>
              <a:rPr lang="en-US" sz="1250" dirty="0">
                <a:solidFill>
                  <a:srgbClr val="33415C"/>
                </a:solidFill>
                <a:latin typeface="Noto Sans CJK KR" pitchFamily="34" charset="0"/>
                <a:ea typeface="Noto Sans CJK KR" pitchFamily="34" charset="-122"/>
                <a:cs typeface="Noto Sans CJK KR" pitchFamily="34" charset="-120"/>
              </a:rPr>
              <a:t>e-나라표준인증 연간 접속 건수 — 대표 정보포털로 자리 잡음</a:t>
            </a:r>
            <a:endParaRPr lang="en-US" sz="1250" dirty="0"/>
          </a:p>
        </p:txBody>
      </p:sp>
      <p:sp>
        <p:nvSpPr>
          <p:cNvPr id="11" name="Shape 8"/>
          <p:cNvSpPr/>
          <p:nvPr/>
        </p:nvSpPr>
        <p:spPr>
          <a:xfrm>
            <a:off x="8127797" y="1691640"/>
            <a:ext cx="3515258" cy="2286000"/>
          </a:xfrm>
          <a:prstGeom prst="roundRect">
            <a:avLst>
              <a:gd name="adj" fmla="val 3200"/>
            </a:avLst>
          </a:prstGeom>
          <a:solidFill>
            <a:srgbClr val="E8EEF7"/>
          </a:solidFill>
          <a:ln/>
        </p:spPr>
        <p:txBody>
          <a:bodyPr/>
          <a:lstStyle/>
          <a:p>
            <a:endParaRPr lang="ko-KR" altLang="en-US"/>
          </a:p>
        </p:txBody>
      </p:sp>
      <p:sp>
        <p:nvSpPr>
          <p:cNvPr id="12" name="Text 9"/>
          <p:cNvSpPr/>
          <p:nvPr/>
        </p:nvSpPr>
        <p:spPr>
          <a:xfrm>
            <a:off x="8264957" y="1920240"/>
            <a:ext cx="3240938" cy="914400"/>
          </a:xfrm>
          <a:prstGeom prst="rect">
            <a:avLst/>
          </a:prstGeom>
          <a:noFill/>
          <a:ln/>
        </p:spPr>
        <p:txBody>
          <a:bodyPr wrap="square" rtlCol="0" anchor="ctr"/>
          <a:lstStyle/>
          <a:p>
            <a:pPr marL="0" indent="0" algn="ctr">
              <a:buNone/>
            </a:pPr>
            <a:r>
              <a:rPr lang="en-US" sz="3000" b="1" dirty="0">
                <a:solidFill>
                  <a:srgbClr val="1B2A4A"/>
                </a:solidFill>
                <a:latin typeface="Noto Sans CJK KR" pitchFamily="34" charset="0"/>
                <a:ea typeface="Noto Sans CJK KR" pitchFamily="34" charset="-122"/>
                <a:cs typeface="Noto Sans CJK KR" pitchFamily="34" charset="-120"/>
              </a:rPr>
              <a:t>상시 모니터링</a:t>
            </a:r>
            <a:endParaRPr lang="en-US" sz="3000" dirty="0"/>
          </a:p>
        </p:txBody>
      </p:sp>
      <p:sp>
        <p:nvSpPr>
          <p:cNvPr id="13" name="Text 10"/>
          <p:cNvSpPr/>
          <p:nvPr/>
        </p:nvSpPr>
        <p:spPr>
          <a:xfrm>
            <a:off x="8264957" y="2880360"/>
            <a:ext cx="3240938" cy="960120"/>
          </a:xfrm>
          <a:prstGeom prst="rect">
            <a:avLst/>
          </a:prstGeom>
          <a:noFill/>
          <a:ln/>
        </p:spPr>
        <p:txBody>
          <a:bodyPr wrap="square" rtlCol="0" anchor="t"/>
          <a:lstStyle/>
          <a:p>
            <a:pPr marL="0" indent="0" algn="ctr">
              <a:buNone/>
            </a:pPr>
            <a:r>
              <a:rPr lang="en-US" sz="1250" dirty="0">
                <a:solidFill>
                  <a:srgbClr val="33415C"/>
                </a:solidFill>
                <a:latin typeface="Noto Sans CJK KR" pitchFamily="34" charset="0"/>
                <a:ea typeface="Noto Sans CJK KR" pitchFamily="34" charset="-122"/>
                <a:cs typeface="Noto Sans CJK KR" pitchFamily="34" charset="-120"/>
              </a:rPr>
              <a:t>KNOW TBT 해외인증기술규제정보포털 — 각국 기술규제를 상시 모니터링해 신속 전파</a:t>
            </a:r>
            <a:endParaRPr lang="en-US" sz="1250" dirty="0"/>
          </a:p>
        </p:txBody>
      </p:sp>
      <p:sp>
        <p:nvSpPr>
          <p:cNvPr id="14" name="Shape 11"/>
          <p:cNvSpPr/>
          <p:nvPr/>
        </p:nvSpPr>
        <p:spPr>
          <a:xfrm>
            <a:off x="548640" y="4297680"/>
            <a:ext cx="11094415" cy="1051560"/>
          </a:xfrm>
          <a:prstGeom prst="roundRect">
            <a:avLst>
              <a:gd name="adj" fmla="val 6957"/>
            </a:avLst>
          </a:prstGeom>
          <a:solidFill>
            <a:srgbClr val="FBEEDC"/>
          </a:solidFill>
          <a:ln/>
        </p:spPr>
        <p:txBody>
          <a:bodyPr/>
          <a:lstStyle/>
          <a:p>
            <a:endParaRPr lang="ko-KR" altLang="en-US"/>
          </a:p>
        </p:txBody>
      </p:sp>
      <p:sp>
        <p:nvSpPr>
          <p:cNvPr id="15" name="Shape 12"/>
          <p:cNvSpPr/>
          <p:nvPr/>
        </p:nvSpPr>
        <p:spPr>
          <a:xfrm>
            <a:off x="713232" y="4498848"/>
            <a:ext cx="566928" cy="566928"/>
          </a:xfrm>
          <a:prstGeom prst="ellipse">
            <a:avLst/>
          </a:prstGeom>
          <a:solidFill>
            <a:srgbClr val="D98E2B"/>
          </a:solidFill>
          <a:ln/>
        </p:spPr>
        <p:txBody>
          <a:bodyPr/>
          <a:lstStyle/>
          <a:p>
            <a:endParaRPr lang="ko-KR" altLang="en-US"/>
          </a:p>
        </p:txBody>
      </p:sp>
      <p:pic>
        <p:nvPicPr>
          <p:cNvPr id="16" name="Image 1" descr="/home/claude/day2_ppt/icons/alertCircle.png"/>
          <p:cNvPicPr>
            <a:picLocks noChangeAspect="1"/>
          </p:cNvPicPr>
          <p:nvPr/>
        </p:nvPicPr>
        <p:blipFill>
          <a:blip r:embed="rId4"/>
          <a:stretch>
            <a:fillRect/>
          </a:stretch>
        </p:blipFill>
        <p:spPr>
          <a:xfrm>
            <a:off x="786933" y="4572549"/>
            <a:ext cx="419527" cy="419527"/>
          </a:xfrm>
          <a:prstGeom prst="rect">
            <a:avLst/>
          </a:prstGeom>
        </p:spPr>
      </p:pic>
      <p:sp>
        <p:nvSpPr>
          <p:cNvPr id="17" name="Text 13"/>
          <p:cNvSpPr/>
          <p:nvPr/>
        </p:nvSpPr>
        <p:spPr>
          <a:xfrm>
            <a:off x="1444752" y="4389120"/>
            <a:ext cx="9997135" cy="868680"/>
          </a:xfrm>
          <a:prstGeom prst="rect">
            <a:avLst/>
          </a:prstGeom>
          <a:noFill/>
          <a:ln/>
        </p:spPr>
        <p:txBody>
          <a:bodyPr wrap="square" rtlCol="0" anchor="ctr"/>
          <a:lstStyle/>
          <a:p>
            <a:pPr marL="0" indent="0">
              <a:buNone/>
            </a:pPr>
            <a:r>
              <a:rPr lang="en-US" sz="1300" dirty="0">
                <a:solidFill>
                  <a:srgbClr val="1B2A4A"/>
                </a:solidFill>
                <a:latin typeface="Noto Sans CJK KR" pitchFamily="34" charset="0"/>
                <a:ea typeface="Noto Sans CJK KR" pitchFamily="34" charset="-122"/>
                <a:cs typeface="Noto Sans CJK KR" pitchFamily="34" charset="-120"/>
              </a:rPr>
              <a:t>시사점 — 정부 포털이 하는 일(상시 모니터링→변동 감지→신속 전파)의 축소판을 오늘의 마스터 데이터셋 위에 얹으면 '우리 회사 품목에 특화된 소규모 리스크 대시보드'가 된다. 크롤링 자동화·실시간 알림은 5일차에서 본격 구축한다.</a:t>
            </a:r>
            <a:endParaRPr lang="en-US" sz="1300" dirty="0"/>
          </a:p>
        </p:txBody>
      </p:sp>
      <p:sp>
        <p:nvSpPr>
          <p:cNvPr id="18" name="Text 1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9" name="Text 1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hield.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 시스템 자체도 규제 대상이 될 수 있다 — EU AI Act 개요</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9737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위험 등급</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정의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예시·제재</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수용 불가 AI</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인간 존엄성·평등·민주주의 등 EU 기본가치를 위배하는 AI — 원칙적으로 사용 금지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사회적 차별을 심화하거나 개인을 감시하는 AI. 위반 시 3,500만 유로와 전년도 글로벌 매출액 7% 중 큰 금액을 벌금으로 부과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고위험 AI</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교육·법집행·채용 등 인간의 건강·안전·기본권에 중대한 영향을 미치는 AI</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출시 전 적합성 평가, 출시 후에도 지속적인 모니터링 의무</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제한된·최소 위험 AI</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챗봇처럼 사용자에게 AI임을 고지하면 되는 수준의 낮은 위험 AI</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투명성 의무(AI임을 밝힐 것) 정도만 요구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왜 2일차에 이 내용이 필요한가 — 오늘 만든 리스크 분류 에이전트도 '누군가를 위험군으로 판정하는 AI'다. 직접 규제 대상은 아니더라도, '우리가 만드는 AI 시스템 자체도 언젠가 규제 대상이 될 수 있다'는 인식이 향후 시스템을 설계할 때 중요한 전제가 된다. AI 거버넌스는 5일차에서 더 깊이 다룬다.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hield.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2.3.4</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AI 결과 검증 원칙 재적용</a:t>
            </a:r>
            <a:endParaRPr lang="en-US" sz="2600" dirty="0"/>
          </a:p>
        </p:txBody>
      </p:sp>
      <p:sp>
        <p:nvSpPr>
          <p:cNvPr id="6" name="Text 3"/>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1일차 1.3.7에서 학습한 할루시네이션 방지 3원칙은 오늘 실습에도 동일하게 적용된다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특히 주의할 점</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AI가 '리스크 없음'으로 분류한 항목일수록, 실제로 원문에 문제 소지가 없는지 한 번 더 확인하는 습관이 중요하다 — AI가 실제로는 있는 리스크를 놓치는 것이 '과다 검출'보다 실무상 더 위험하기 때문</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정제 오류 vs 분류 오류</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정제 오류는 대부분 '눈에 보이는' 형태 오류(단위 표기, 중복행)라 상호 검수로 쉽게 잡히지만, 분류 오류는 '그럴듯해 보이지만 실제로는 다른 카테고리'인 경우가 많아 원문을 다시 읽지 않으면 잡히지 않는다</a:t>
            </a:r>
            <a:endParaRPr lang="en-US" sz="1600" dirty="0"/>
          </a:p>
        </p:txBody>
      </p:sp>
      <p:sp>
        <p:nvSpPr>
          <p:cNvPr id="7" name="Shape 4"/>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8" name="Shape 5"/>
          <p:cNvSpPr/>
          <p:nvPr/>
        </p:nvSpPr>
        <p:spPr>
          <a:xfrm>
            <a:off x="713232" y="5596128"/>
            <a:ext cx="548640" cy="54864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10" name="Text 6"/>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Step6·Step10에서 원문 대조를 반복적으로 요구하는 이유가 여기에 있다.</a:t>
            </a:r>
            <a:endParaRPr lang="en-US" sz="1300" dirty="0"/>
          </a:p>
        </p:txBody>
      </p:sp>
      <p:sp>
        <p:nvSpPr>
          <p:cNvPr id="11" name="Text 7"/>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8"/>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Triang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2.3.5</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실제 사례로 보는 수출통제·전략물자 리스크</a:t>
            </a:r>
            <a:endParaRPr lang="en-US" sz="2600" dirty="0"/>
          </a:p>
        </p:txBody>
      </p:sp>
      <p:sp>
        <p:nvSpPr>
          <p:cNvPr id="6" name="Text 3"/>
          <p:cNvSpPr/>
          <p:nvPr/>
        </p:nvSpPr>
        <p:spPr>
          <a:xfrm>
            <a:off x="548640" y="1536192"/>
            <a:ext cx="11094415" cy="448056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HS Code 불일치나 수출 제한 품목 여부를 놓치면 어떤 결과로 이어지는지, 실제 집행 사례 세 건을 통해 확인한다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세 사례의 축</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해외 기업(덴마크) · 제3국 파급(미국-화웨이) · 국내 기업 — 서로 다른 성격의 리스크를 보여준다</a:t>
            </a:r>
            <a:endParaRPr lang="en-US" sz="1600" dirty="0"/>
          </a:p>
        </p:txBody>
      </p:sp>
      <p:sp>
        <p:nvSpPr>
          <p:cNvPr id="7" name="Text 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Triang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가. 덴마크 Reson A/S — 자진신고에도 다국적 계열사 전체에 과징금</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사례</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덴마크 수중항법장비 제조사 Reson A/S는 2002~2006년 여러 국가에 국가안보상 수출 통제되는 수중항법장비를 미국 허가 없이 수출·재수출했다. 자진 신고해 조사에 협조했음에도 미국 산업안보국(BIS)에 과징금을 납부해야 했고, 과징금 부과 대상이 본사뿐 아니라 미국·영국·남아공 자회사까지 확대됐다. 여기에 '간주수출(deemed export)' 위반 2건도 추가 적발됐다.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시사점 — 자진신고·조사협조는 처벌 수위를 낮추는 데 도움이 되지만 위반 자체를 없던 일로 만들지는 못하며, 책임이 연결된 해외 자회사 전체로 확산될 수 있다. '수출제한품목 마스터 데이터셋'을 그룹사 전체 차원에서 공유·관리해야 하는 이유다.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lob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나. 2020년 미국의 화웨이 제재 — 제3국 기업까지 번진 파급력</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사례</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2020년 8월 미국의 화웨이 최종 제재안 발표로, 제3국(한국 포함)에서 수출되는 물품이라도 미국의 기술·소프트웨어·장비가 일정 기준 이상 포함되면 화웨이·계열사로의 최종 수출이 사실상 불가능해졌다. 한국 기업이 미국·화웨이와 직접 거래하지 않아도, 공급망 어딘가에 미국산 기술이 포함되어 있다면 EAR의 역외적용 대상이 될 수 있음을 보여준 사례다.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한국무역협회는 파급력이 크다고 판단해 미국 현지 로펌에 의뢰한 EAR 대응 매뉴얼을 별도 제작·배포했다.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다. 국내 사례 — 이중용도품목 인식 없이 발생한 15억 원대 무허가 수출</a:t>
            </a:r>
            <a:endParaRPr lang="en-US" sz="2600" dirty="0"/>
          </a:p>
        </p:txBody>
      </p:sp>
      <p:sp>
        <p:nvSpPr>
          <p:cNvPr id="5" name="Shape 2"/>
          <p:cNvSpPr/>
          <p:nvPr/>
        </p:nvSpPr>
        <p:spPr>
          <a:xfrm>
            <a:off x="548640" y="1600200"/>
            <a:ext cx="11094415" cy="3200400"/>
          </a:xfrm>
          <a:prstGeom prst="roundRect">
            <a:avLst>
              <a:gd name="adj" fmla="val 2857"/>
            </a:avLst>
          </a:prstGeom>
          <a:solidFill>
            <a:srgbClr val="E8EEF7"/>
          </a:solidFill>
          <a:ln/>
        </p:spPr>
        <p:txBody>
          <a:bodyPr/>
          <a:lstStyle/>
          <a:p>
            <a:endParaRPr lang="ko-KR" altLang="en-US"/>
          </a:p>
        </p:txBody>
      </p:sp>
      <p:sp>
        <p:nvSpPr>
          <p:cNvPr id="6" name="Text 3"/>
          <p:cNvSpPr/>
          <p:nvPr/>
        </p:nvSpPr>
        <p:spPr>
          <a:xfrm>
            <a:off x="960120" y="1856232"/>
            <a:ext cx="10271455" cy="365760"/>
          </a:xfrm>
          <a:prstGeom prst="rect">
            <a:avLst/>
          </a:prstGeom>
          <a:noFill/>
          <a:ln/>
        </p:spPr>
        <p:txBody>
          <a:bodyPr wrap="square" rtlCol="0" anchor="ctr"/>
          <a:lstStyle/>
          <a:p>
            <a:pPr marL="0" indent="0">
              <a:buNone/>
            </a:pPr>
            <a:r>
              <a:rPr lang="en-US" sz="1400" b="1" dirty="0">
                <a:solidFill>
                  <a:srgbClr val="D98E2B"/>
                </a:solidFill>
                <a:latin typeface="Noto Sans CJK KR" pitchFamily="34" charset="0"/>
                <a:ea typeface="Noto Sans CJK KR" pitchFamily="34" charset="-122"/>
                <a:cs typeface="Noto Sans CJK KR" pitchFamily="34" charset="-120"/>
              </a:rPr>
              <a:t>사례</a:t>
            </a:r>
            <a:endParaRPr lang="en-US" sz="1400" dirty="0"/>
          </a:p>
        </p:txBody>
      </p:sp>
      <p:sp>
        <p:nvSpPr>
          <p:cNvPr id="7" name="Text 4"/>
          <p:cNvSpPr/>
          <p:nvPr/>
        </p:nvSpPr>
        <p:spPr>
          <a:xfrm>
            <a:off x="960120" y="2286000"/>
            <a:ext cx="10271455" cy="2286000"/>
          </a:xfrm>
          <a:prstGeom prst="rect">
            <a:avLst/>
          </a:prstGeom>
          <a:noFill/>
          <a:ln/>
        </p:spPr>
        <p:txBody>
          <a:bodyPr wrap="square" rtlCol="0" anchor="t"/>
          <a:lstStyle/>
          <a:p>
            <a:pPr marL="0" indent="0">
              <a:lnSpc>
                <a:spcPct val="125000"/>
              </a:lnSpc>
              <a:buNone/>
            </a:pPr>
            <a:r>
              <a:rPr lang="en-US" sz="1550" i="1" dirty="0">
                <a:solidFill>
                  <a:srgbClr val="1B2A4A"/>
                </a:solidFill>
                <a:latin typeface="Noto Sans CJK KR" pitchFamily="34" charset="0"/>
                <a:ea typeface="Noto Sans CJK KR" pitchFamily="34" charset="-122"/>
                <a:cs typeface="Noto Sans CJK KR" pitchFamily="34" charset="-120"/>
              </a:rPr>
              <a:t>국내 통신장비 제조업체가 휴대폰 중계기용 IC칩을 수출하며, 해당 부품이 전략물자 수출입고시상 이중용도품목(민간·군사 겸용)에 해당함을 인지하지 못한 채 산업통상자원부 허가 없이 약 15억 원을 수출했다. 대외무역법 제53조 제1항은 7년 이하 징역 또는 물품가격 5배 벌금을 규정하나, 확정적 고의 없이 발생한 과실로 소명되어 벌금 500만 원으로 마무리됐다.</a:t>
            </a:r>
            <a:endParaRPr lang="en-US" sz="1550" dirty="0"/>
          </a:p>
        </p:txBody>
      </p:sp>
      <p:sp>
        <p:nvSpPr>
          <p:cNvPr id="8" name="Text 5"/>
          <p:cNvSpPr/>
          <p:nvPr/>
        </p:nvSpPr>
        <p:spPr>
          <a:xfrm>
            <a:off x="548640" y="5029200"/>
            <a:ext cx="11094415" cy="822960"/>
          </a:xfrm>
          <a:prstGeom prst="rect">
            <a:avLst/>
          </a:prstGeom>
          <a:noFill/>
          <a:ln/>
        </p:spPr>
        <p:txBody>
          <a:bodyPr wrap="square" rtlCol="0" anchor="ctr"/>
          <a:lstStyle/>
          <a:p>
            <a:pPr marL="0" indent="0">
              <a:buNone/>
            </a:pPr>
            <a:r>
              <a:rPr lang="en-US" sz="1400" dirty="0">
                <a:solidFill>
                  <a:srgbClr val="33415C"/>
                </a:solidFill>
                <a:latin typeface="Noto Sans CJK KR" pitchFamily="34" charset="0"/>
                <a:ea typeface="Noto Sans CJK KR" pitchFamily="34" charset="-122"/>
                <a:cs typeface="Noto Sans CJK KR" pitchFamily="34" charset="-120"/>
              </a:rPr>
              <a:t>법무법인은 이러한 사건 대부분이 '고의적 위반'이 아니라 '이중용도품목 해당 여부를 확인할 방법을 몰랐던' 경우에서 비롯된다고 설명한다.</a:t>
            </a:r>
            <a:endParaRPr lang="en-US" sz="1400" dirty="0"/>
          </a:p>
        </p:txBody>
      </p:sp>
      <p:sp>
        <p:nvSpPr>
          <p:cNvPr id="9"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0"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Triang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세 사례 비교</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4144975">
                  <a:extLst>
                    <a:ext uri="{9D8B030D-6E8A-4147-A177-3AD203B41FA5}">
                      <a16:colId xmlns:a16="http://schemas.microsoft.com/office/drawing/2014/main" val="20003"/>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구분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Reson A/S(덴마크)</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화웨이 제재(미국)</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IC칩 사례(국내)</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리스크 성격</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수출통제 품목 무허가 수출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역외적용 — 제3국 경유 공급망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이중용도품목 인식 부재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영향 범위</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본사 + 해외 자회사 전체</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미국산 기술 포함 전 세계 기업</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단일 기업</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결과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다국적 계열사 전체 과징금</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거래 자체 차단</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벌금 500만 원(경감)</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세 사례가 공통으로 보여주는 것 — 품목이 이중용도·전략물자에 해당하는지 사전 판별하는 능력이 곧 리스크 회피의 핵심이다. 오늘 만드는 'AI 기반 해외 통관 거부 키워드 자동 분류' 에이전트는 이 사전 판별 단계를 자동화하는 것이 목표다.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463040" y="4480560"/>
            <a:ext cx="4023360" cy="4023360"/>
          </a:xfrm>
          <a:prstGeom prst="ellipse">
            <a:avLst/>
          </a:prstGeom>
          <a:solidFill>
            <a:srgbClr val="13203A"/>
          </a:solidFill>
          <a:ln/>
        </p:spPr>
        <p:txBody>
          <a:bodyPr/>
          <a:lstStyle/>
          <a:p>
            <a:endParaRPr lang="ko-KR" altLang="en-US"/>
          </a:p>
        </p:txBody>
      </p:sp>
      <p:sp>
        <p:nvSpPr>
          <p:cNvPr id="3" name="Shape 1"/>
          <p:cNvSpPr/>
          <p:nvPr/>
        </p:nvSpPr>
        <p:spPr>
          <a:xfrm>
            <a:off x="9997135" y="-1828800"/>
            <a:ext cx="3291840" cy="3291840"/>
          </a:xfrm>
          <a:prstGeom prst="ellipse">
            <a:avLst/>
          </a:prstGeom>
          <a:solidFill>
            <a:srgbClr val="3E5C86">
              <a:alpha val="45000"/>
            </a:srgbClr>
          </a:solidFill>
          <a:ln/>
        </p:spPr>
        <p:txBody>
          <a:bodyPr/>
          <a:lstStyle/>
          <a:p>
            <a:endParaRPr lang="ko-KR" altLang="en-US"/>
          </a:p>
        </p:txBody>
      </p:sp>
      <p:sp>
        <p:nvSpPr>
          <p:cNvPr id="4" name="Text 2"/>
          <p:cNvSpPr/>
          <p:nvPr/>
        </p:nvSpPr>
        <p:spPr>
          <a:xfrm>
            <a:off x="548640" y="2331720"/>
            <a:ext cx="5486400" cy="914400"/>
          </a:xfrm>
          <a:prstGeom prst="rect">
            <a:avLst/>
          </a:prstGeom>
          <a:noFill/>
          <a:ln/>
        </p:spPr>
        <p:txBody>
          <a:bodyPr wrap="square" rtlCol="0" anchor="ctr"/>
          <a:lstStyle/>
          <a:p>
            <a:pPr marL="0" indent="0">
              <a:buNone/>
            </a:pPr>
            <a:r>
              <a:rPr lang="en-US" sz="2200" b="1" dirty="0">
                <a:solidFill>
                  <a:srgbClr val="D98E2B"/>
                </a:solidFill>
                <a:latin typeface="Noto Sans CJK KR" pitchFamily="34" charset="0"/>
                <a:ea typeface="Noto Sans CJK KR" pitchFamily="34" charset="-122"/>
                <a:cs typeface="Noto Sans CJK KR" pitchFamily="34" charset="-120"/>
              </a:rPr>
              <a:t>2.4 ~ 2.10</a:t>
            </a:r>
            <a:endParaRPr lang="en-US" sz="2200" dirty="0"/>
          </a:p>
        </p:txBody>
      </p:sp>
      <p:sp>
        <p:nvSpPr>
          <p:cNvPr id="5" name="Text 3"/>
          <p:cNvSpPr/>
          <p:nvPr/>
        </p:nvSpPr>
        <p:spPr>
          <a:xfrm>
            <a:off x="548640" y="2880360"/>
            <a:ext cx="10515600" cy="1463040"/>
          </a:xfrm>
          <a:prstGeom prst="rect">
            <a:avLst/>
          </a:prstGeom>
          <a:noFill/>
          <a:ln/>
        </p:spPr>
        <p:txBody>
          <a:bodyPr wrap="square" rtlCol="0" anchor="ctr"/>
          <a:lstStyle/>
          <a:p>
            <a:pPr marL="0" indent="0">
              <a:lnSpc>
                <a:spcPct val="110000"/>
              </a:lnSpc>
              <a:buNone/>
            </a:pPr>
            <a:r>
              <a:rPr lang="en-US" sz="3400" b="1" dirty="0">
                <a:solidFill>
                  <a:srgbClr val="FFFFFF"/>
                </a:solidFill>
                <a:latin typeface="Noto Sans CJK KR" pitchFamily="34" charset="0"/>
                <a:ea typeface="Noto Sans CJK KR" pitchFamily="34" charset="-122"/>
                <a:cs typeface="Noto Sans CJK KR" pitchFamily="34" charset="-120"/>
              </a:rPr>
              <a:t>실습 — 통관 서류 정제와</a:t>
            </a:r>
            <a:endParaRPr lang="en-US" sz="3400" dirty="0"/>
          </a:p>
          <a:p>
            <a:pPr marL="0" indent="0">
              <a:lnSpc>
                <a:spcPct val="110000"/>
              </a:lnSpc>
              <a:buNone/>
            </a:pPr>
            <a:r>
              <a:rPr lang="en-US" sz="3400" b="1" dirty="0">
                <a:solidFill>
                  <a:srgbClr val="FFFFFF"/>
                </a:solidFill>
                <a:latin typeface="Noto Sans CJK KR" pitchFamily="34" charset="0"/>
                <a:ea typeface="Noto Sans CJK KR" pitchFamily="34" charset="-122"/>
                <a:cs typeface="Noto Sans CJK KR" pitchFamily="34" charset="-120"/>
              </a:rPr>
              <a:t>AI 기반 리스크 마스터 데이터셋 구축</a:t>
            </a:r>
            <a:endParaRPr lang="en-US" sz="3400" dirty="0"/>
          </a:p>
        </p:txBody>
      </p:sp>
      <p:sp>
        <p:nvSpPr>
          <p:cNvPr id="6" name="Text 4"/>
          <p:cNvSpPr/>
          <p:nvPr/>
        </p:nvSpPr>
        <p:spPr>
          <a:xfrm>
            <a:off x="548640" y="4160520"/>
            <a:ext cx="9875520" cy="731520"/>
          </a:xfrm>
          <a:prstGeom prst="rect">
            <a:avLst/>
          </a:prstGeom>
          <a:noFill/>
          <a:ln/>
        </p:spPr>
        <p:txBody>
          <a:bodyPr wrap="square" rtlCol="0" anchor="ctr"/>
          <a:lstStyle/>
          <a:p>
            <a:pPr marL="0" indent="0">
              <a:buNone/>
            </a:pPr>
            <a:r>
              <a:rPr lang="en-US" sz="1600" dirty="0">
                <a:solidFill>
                  <a:srgbClr val="E8EEF7"/>
                </a:solidFill>
                <a:latin typeface="Noto Sans CJK KR" pitchFamily="34" charset="0"/>
                <a:ea typeface="Noto Sans CJK KR" pitchFamily="34" charset="-122"/>
                <a:cs typeface="Noto Sans CJK KR" pitchFamily="34" charset="-120"/>
              </a:rPr>
              <a:t>블록 A(서류 정제) → 블록 B(키워드 분류·통합) → 블록 C(Orange3 자동화) 순으로 진행</a:t>
            </a:r>
            <a:endParaRPr lang="en-US" sz="1600" dirty="0"/>
          </a:p>
        </p:txBody>
      </p:sp>
      <p:sp>
        <p:nvSpPr>
          <p:cNvPr id="7"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rge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2.4</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실습 개요</a:t>
            </a:r>
            <a:endParaRPr lang="en-US" sz="2600" dirty="0"/>
          </a:p>
        </p:txBody>
      </p:sp>
      <p:sp>
        <p:nvSpPr>
          <p:cNvPr id="6" name="Text 3"/>
          <p:cNvSpPr/>
          <p:nvPr/>
        </p:nvSpPr>
        <p:spPr>
          <a:xfrm>
            <a:off x="548640" y="1536192"/>
            <a:ext cx="11094415" cy="448056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배경</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실제 무역 현장 데이터(수출신고필증, 인보이스 등)는 줄바꿈·공백·오기가 섞여 있어 AI가 곧바로 학습·인식하기 어려움. 비정형 '통관 거부 사유서'에서 핵심 단어를 수작업으로 찾으려 하면 많은 시간과 인적 오류가 발생</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목표</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① 서류 정제·표준화 ② 사유서에서 리스크 키워드 자동 추출·분류 ③ Orange3로 '업로드→정제→분류→누적'이 한 번에 이어지는 미니 에이전트 조립</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실습 특징</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코딩 없이 AI 프롬프트와 스프레드시트만으로 완료하는 저코드·무코드 실습. Block A·B의 프롬프트 실습을 자동화 흐름으로 옮기는 Block C(에이전트 빌드) 포함</a:t>
            </a:r>
            <a:endParaRPr lang="en-US" sz="1600" dirty="0"/>
          </a:p>
        </p:txBody>
      </p:sp>
      <p:sp>
        <p:nvSpPr>
          <p:cNvPr id="7" name="Text 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2.5</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데이터 명세</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99855">
                  <a:extLst>
                    <a:ext uri="{9D8B030D-6E8A-4147-A177-3AD203B41FA5}">
                      <a16:colId xmlns:a16="http://schemas.microsoft.com/office/drawing/2014/main" val="20001"/>
                    </a:ext>
                  </a:extLst>
                </a:gridCol>
              </a:tblGrid>
              <a:tr h="640080">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항목</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내용</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데이터명</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정제된 자사 물품 정보 + AI가 추출한 위험 키워드를 결합한, 사내에서 즉시 활용 가능한 통관 리스크 대응 데이터셋</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수집 방법</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사내 DB·서류보관함에서 가공한 과거 수출신고필증·인보이스, EU 및 해외 세관 발급 비정형 통관 문서 일부 서식</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데이터 규모</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100~200행 내외의 정제 대상 무역 데이터, 20~30장 분량의 통관 거부 사유서 텍스트</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파일 형태</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.xlsx/.csv(정형 수출서류), .txt/.pdf(사유서·가이드라인 등 비정형 텍스트)</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r h="64008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분석 대상 항목</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물품명, 규격, 관세(HS Code), 공급망 탄소배출량 정보, 위반 사유 설명·근거 텍스트, ESG 법안 조항</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4"/>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빌드 실습용 데이터 (Block C)</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6517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파일명</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내용</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형태</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cleaning_rules.csv</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단위·표기 표준화 규칙(KG→kg, 개→EA) 목록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2열 CSV(원표기, 표준표기)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risk_category_ref.csv</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2.3.1의 리스크 변수 4종 카테고리 및 판정 키워드 목록</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카테고리·키워드 매핑표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reason_docs.csv</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Block B에서 사용한 통관 거부 사유서 텍스트 모음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1열 CSV(텍스트)</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7" name="Text 3"/>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itBran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2.6</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문제 해결 방안 설계</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4630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0593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단계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내용</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목적</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① 결측값 확인</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자사 보관 과거 수출입신고필증·인보이스 등을 로드하고 결측값 유무를 확인</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정제 대상 범위를 먼저 파악</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② 텍스트 전처리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전처리 이론을 활용해 무역 규정·서류 데이터의 중복 텍스트를 제거하고 일관된 구조로 정립</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AI가 일관되게 인식 가능한 정형 데이터 완성</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③ 자동 분류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해외 통관 거부 사유서 텍스트를 다수 활용, AI 프롬프트로 카테고리별 리스크 키워드를 자동 분류</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리스크 마스터 데이터셋 구축</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④ 자동화</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①~③ 과정을 Orange3 워크플로우로 묶어, 서류를 넣기만 하면 정제·분류·통합이 자동 반복되는 파이프라인 구축</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프롬프트 재입력 없이 반복 처리 가능한 흐름 확보</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8" name="Shape 4"/>
          <p:cNvSpPr/>
          <p:nvPr/>
        </p:nvSpPr>
        <p:spPr>
          <a:xfrm>
            <a:off x="694944" y="5650992"/>
            <a:ext cx="502920" cy="50292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2.7의 Step들이 이 4단계에 그대로 대응한다.</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edi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2.7 [블록 A]</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통관 서류 데이터 정제 — Step 1~4</a:t>
            </a:r>
            <a:endParaRPr lang="en-US" sz="2600" dirty="0"/>
          </a:p>
        </p:txBody>
      </p:sp>
      <p:sp>
        <p:nvSpPr>
          <p:cNvPr id="6" name="Shape 3"/>
          <p:cNvSpPr/>
          <p:nvPr/>
        </p:nvSpPr>
        <p:spPr>
          <a:xfrm>
            <a:off x="548640" y="1828800"/>
            <a:ext cx="2602154" cy="2834640"/>
          </a:xfrm>
          <a:prstGeom prst="roundRect">
            <a:avLst>
              <a:gd name="adj" fmla="val 2811"/>
            </a:avLst>
          </a:prstGeom>
          <a:solidFill>
            <a:srgbClr val="E8EEF7"/>
          </a:solidFill>
          <a:ln/>
        </p:spPr>
        <p:txBody>
          <a:bodyPr/>
          <a:lstStyle/>
          <a:p>
            <a:endParaRPr lang="ko-KR" altLang="en-US"/>
          </a:p>
        </p:txBody>
      </p:sp>
      <p:sp>
        <p:nvSpPr>
          <p:cNvPr id="7" name="Shape 4"/>
          <p:cNvSpPr/>
          <p:nvPr/>
        </p:nvSpPr>
        <p:spPr>
          <a:xfrm>
            <a:off x="1593685" y="1572768"/>
            <a:ext cx="512064" cy="512064"/>
          </a:xfrm>
          <a:prstGeom prst="ellipse">
            <a:avLst/>
          </a:prstGeom>
          <a:solidFill>
            <a:srgbClr val="1B2A4A"/>
          </a:solidFill>
          <a:ln/>
        </p:spPr>
        <p:txBody>
          <a:bodyPr/>
          <a:lstStyle/>
          <a:p>
            <a:endParaRPr lang="ko-KR" altLang="en-US"/>
          </a:p>
        </p:txBody>
      </p:sp>
      <p:sp>
        <p:nvSpPr>
          <p:cNvPr id="8" name="Text 5"/>
          <p:cNvSpPr/>
          <p:nvPr/>
        </p:nvSpPr>
        <p:spPr>
          <a:xfrm>
            <a:off x="1593685"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9" name="Text 6"/>
          <p:cNvSpPr/>
          <p:nvPr/>
        </p:nvSpPr>
        <p:spPr>
          <a:xfrm>
            <a:off x="676656"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1. 환경 준비</a:t>
            </a:r>
            <a:endParaRPr lang="en-US" sz="1400" dirty="0"/>
          </a:p>
        </p:txBody>
      </p:sp>
      <p:sp>
        <p:nvSpPr>
          <p:cNvPr id="10" name="Text 7"/>
          <p:cNvSpPr/>
          <p:nvPr/>
        </p:nvSpPr>
        <p:spPr>
          <a:xfrm>
            <a:off x="676656"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수출신고필증·인보이스 샘플(.xlsx/.csv, 100~200행) 다운로드, 자사 파일 업로드 후 셀 깨짐·누락 항목 1차 수동 점검</a:t>
            </a:r>
            <a:endParaRPr lang="en-US" sz="1150" dirty="0"/>
          </a:p>
        </p:txBody>
      </p:sp>
      <p:sp>
        <p:nvSpPr>
          <p:cNvPr id="11" name="Text 8"/>
          <p:cNvSpPr/>
          <p:nvPr/>
        </p:nvSpPr>
        <p:spPr>
          <a:xfrm>
            <a:off x="3150794"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2" name="Shape 9"/>
          <p:cNvSpPr/>
          <p:nvPr/>
        </p:nvSpPr>
        <p:spPr>
          <a:xfrm>
            <a:off x="3379394" y="1828800"/>
            <a:ext cx="2602154" cy="2834640"/>
          </a:xfrm>
          <a:prstGeom prst="roundRect">
            <a:avLst>
              <a:gd name="adj" fmla="val 2811"/>
            </a:avLst>
          </a:prstGeom>
          <a:solidFill>
            <a:srgbClr val="E8EEF7"/>
          </a:solidFill>
          <a:ln/>
        </p:spPr>
        <p:txBody>
          <a:bodyPr/>
          <a:lstStyle/>
          <a:p>
            <a:endParaRPr lang="ko-KR" altLang="en-US"/>
          </a:p>
        </p:txBody>
      </p:sp>
      <p:sp>
        <p:nvSpPr>
          <p:cNvPr id="13" name="Shape 10"/>
          <p:cNvSpPr/>
          <p:nvPr/>
        </p:nvSpPr>
        <p:spPr>
          <a:xfrm>
            <a:off x="4424439" y="1572768"/>
            <a:ext cx="512064" cy="512064"/>
          </a:xfrm>
          <a:prstGeom prst="ellipse">
            <a:avLst/>
          </a:prstGeom>
          <a:solidFill>
            <a:srgbClr val="3E5C86"/>
          </a:solidFill>
          <a:ln/>
        </p:spPr>
        <p:txBody>
          <a:bodyPr/>
          <a:lstStyle/>
          <a:p>
            <a:endParaRPr lang="ko-KR" altLang="en-US"/>
          </a:p>
        </p:txBody>
      </p:sp>
      <p:sp>
        <p:nvSpPr>
          <p:cNvPr id="14" name="Text 11"/>
          <p:cNvSpPr/>
          <p:nvPr/>
        </p:nvSpPr>
        <p:spPr>
          <a:xfrm>
            <a:off x="4424439"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5" name="Text 12"/>
          <p:cNvSpPr/>
          <p:nvPr/>
        </p:nvSpPr>
        <p:spPr>
          <a:xfrm>
            <a:off x="3507410"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2. 결측값 확인</a:t>
            </a:r>
            <a:endParaRPr lang="en-US" sz="1400" dirty="0"/>
          </a:p>
        </p:txBody>
      </p:sp>
      <p:sp>
        <p:nvSpPr>
          <p:cNvPr id="16" name="Text 13"/>
          <p:cNvSpPr/>
          <p:nvPr/>
        </p:nvSpPr>
        <p:spPr>
          <a:xfrm>
            <a:off x="3507410"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"값이 비어있는 행과 열을 모두 찾아줘" 프롬프트 요청 → 원본 서류로 보완 가능 여부 판단(임의 추정 금지)</a:t>
            </a:r>
            <a:endParaRPr lang="en-US" sz="1150" dirty="0"/>
          </a:p>
        </p:txBody>
      </p:sp>
      <p:sp>
        <p:nvSpPr>
          <p:cNvPr id="17" name="Text 14"/>
          <p:cNvSpPr/>
          <p:nvPr/>
        </p:nvSpPr>
        <p:spPr>
          <a:xfrm>
            <a:off x="5981548"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8" name="Shape 15"/>
          <p:cNvSpPr/>
          <p:nvPr/>
        </p:nvSpPr>
        <p:spPr>
          <a:xfrm>
            <a:off x="6210148" y="1828800"/>
            <a:ext cx="2602154" cy="2834640"/>
          </a:xfrm>
          <a:prstGeom prst="roundRect">
            <a:avLst>
              <a:gd name="adj" fmla="val 2811"/>
            </a:avLst>
          </a:prstGeom>
          <a:solidFill>
            <a:srgbClr val="E8EEF7"/>
          </a:solidFill>
          <a:ln/>
        </p:spPr>
        <p:txBody>
          <a:bodyPr/>
          <a:lstStyle/>
          <a:p>
            <a:endParaRPr lang="ko-KR" altLang="en-US"/>
          </a:p>
        </p:txBody>
      </p:sp>
      <p:sp>
        <p:nvSpPr>
          <p:cNvPr id="19" name="Shape 16"/>
          <p:cNvSpPr/>
          <p:nvPr/>
        </p:nvSpPr>
        <p:spPr>
          <a:xfrm>
            <a:off x="7255193" y="1572768"/>
            <a:ext cx="512064" cy="512064"/>
          </a:xfrm>
          <a:prstGeom prst="ellipse">
            <a:avLst/>
          </a:prstGeom>
          <a:solidFill>
            <a:srgbClr val="1B2A4A"/>
          </a:solidFill>
          <a:ln/>
        </p:spPr>
        <p:txBody>
          <a:bodyPr/>
          <a:lstStyle/>
          <a:p>
            <a:endParaRPr lang="ko-KR" altLang="en-US"/>
          </a:p>
        </p:txBody>
      </p:sp>
      <p:sp>
        <p:nvSpPr>
          <p:cNvPr id="20" name="Text 17"/>
          <p:cNvSpPr/>
          <p:nvPr/>
        </p:nvSpPr>
        <p:spPr>
          <a:xfrm>
            <a:off x="7255193"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3</a:t>
            </a:r>
            <a:endParaRPr lang="en-US" sz="1800" dirty="0"/>
          </a:p>
        </p:txBody>
      </p:sp>
      <p:sp>
        <p:nvSpPr>
          <p:cNvPr id="21" name="Text 18"/>
          <p:cNvSpPr/>
          <p:nvPr/>
        </p:nvSpPr>
        <p:spPr>
          <a:xfrm>
            <a:off x="6338164"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3. 중복·잡음 제거·표준화</a:t>
            </a:r>
            <a:endParaRPr lang="en-US" sz="1400" dirty="0"/>
          </a:p>
        </p:txBody>
      </p:sp>
      <p:sp>
        <p:nvSpPr>
          <p:cNvPr id="22" name="Text 19"/>
          <p:cNvSpPr/>
          <p:nvPr/>
        </p:nvSpPr>
        <p:spPr>
          <a:xfrm>
            <a:off x="6338164"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중복 행 제거, 공백·특수문자 제거, 단위 표기 통일(kg 등) → 표준화 전/후 비교 검수. CBAM 원문에도 동일 툴 적용</a:t>
            </a:r>
            <a:endParaRPr lang="en-US" sz="1150" dirty="0"/>
          </a:p>
        </p:txBody>
      </p:sp>
      <p:sp>
        <p:nvSpPr>
          <p:cNvPr id="23" name="Text 20"/>
          <p:cNvSpPr/>
          <p:nvPr/>
        </p:nvSpPr>
        <p:spPr>
          <a:xfrm>
            <a:off x="8812301"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24" name="Shape 21"/>
          <p:cNvSpPr/>
          <p:nvPr/>
        </p:nvSpPr>
        <p:spPr>
          <a:xfrm>
            <a:off x="9040901" y="1828800"/>
            <a:ext cx="2602154" cy="2834640"/>
          </a:xfrm>
          <a:prstGeom prst="roundRect">
            <a:avLst>
              <a:gd name="adj" fmla="val 2811"/>
            </a:avLst>
          </a:prstGeom>
          <a:solidFill>
            <a:srgbClr val="E8EEF7"/>
          </a:solidFill>
          <a:ln/>
        </p:spPr>
        <p:txBody>
          <a:bodyPr/>
          <a:lstStyle/>
          <a:p>
            <a:endParaRPr lang="ko-KR" altLang="en-US"/>
          </a:p>
        </p:txBody>
      </p:sp>
      <p:sp>
        <p:nvSpPr>
          <p:cNvPr id="25" name="Shape 22"/>
          <p:cNvSpPr/>
          <p:nvPr/>
        </p:nvSpPr>
        <p:spPr>
          <a:xfrm>
            <a:off x="10085946" y="1572768"/>
            <a:ext cx="512064" cy="512064"/>
          </a:xfrm>
          <a:prstGeom prst="ellipse">
            <a:avLst/>
          </a:prstGeom>
          <a:solidFill>
            <a:srgbClr val="3E5C86"/>
          </a:solidFill>
          <a:ln/>
        </p:spPr>
        <p:txBody>
          <a:bodyPr/>
          <a:lstStyle/>
          <a:p>
            <a:endParaRPr lang="ko-KR" altLang="en-US"/>
          </a:p>
        </p:txBody>
      </p:sp>
      <p:sp>
        <p:nvSpPr>
          <p:cNvPr id="26" name="Text 23"/>
          <p:cNvSpPr/>
          <p:nvPr/>
        </p:nvSpPr>
        <p:spPr>
          <a:xfrm>
            <a:off x="10085946"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4</a:t>
            </a:r>
            <a:endParaRPr lang="en-US" sz="1800" dirty="0"/>
          </a:p>
        </p:txBody>
      </p:sp>
      <p:sp>
        <p:nvSpPr>
          <p:cNvPr id="27" name="Text 24"/>
          <p:cNvSpPr/>
          <p:nvPr/>
        </p:nvSpPr>
        <p:spPr>
          <a:xfrm>
            <a:off x="9168917" y="2212848"/>
            <a:ext cx="2346122"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4. 저장 및 1차 검증</a:t>
            </a:r>
            <a:endParaRPr lang="en-US" sz="1400" dirty="0"/>
          </a:p>
        </p:txBody>
      </p:sp>
      <p:sp>
        <p:nvSpPr>
          <p:cNvPr id="28" name="Text 25"/>
          <p:cNvSpPr/>
          <p:nvPr/>
        </p:nvSpPr>
        <p:spPr>
          <a:xfrm>
            <a:off x="9168917" y="2907792"/>
            <a:ext cx="2346122"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'2일차_통관데이터_정제본.xlsx' 저장 → 조원과 정제본 교환, 무작위 5개 행 상호 검수</a:t>
            </a:r>
            <a:endParaRPr lang="en-US" sz="1150" dirty="0"/>
          </a:p>
        </p:txBody>
      </p:sp>
      <p:sp>
        <p:nvSpPr>
          <p:cNvPr id="29" name="Shape 26"/>
          <p:cNvSpPr/>
          <p:nvPr/>
        </p:nvSpPr>
        <p:spPr>
          <a:xfrm>
            <a:off x="548640" y="4937760"/>
            <a:ext cx="11094415" cy="777240"/>
          </a:xfrm>
          <a:prstGeom prst="roundRect">
            <a:avLst>
              <a:gd name="adj" fmla="val 9412"/>
            </a:avLst>
          </a:prstGeom>
          <a:solidFill>
            <a:srgbClr val="FBEEDC"/>
          </a:solidFill>
          <a:ln/>
        </p:spPr>
        <p:txBody>
          <a:bodyPr/>
          <a:lstStyle/>
          <a:p>
            <a:endParaRPr lang="ko-KR" altLang="en-US"/>
          </a:p>
        </p:txBody>
      </p:sp>
      <p:sp>
        <p:nvSpPr>
          <p:cNvPr id="30" name="Shape 27"/>
          <p:cNvSpPr/>
          <p:nvPr/>
        </p:nvSpPr>
        <p:spPr>
          <a:xfrm>
            <a:off x="694944" y="5056632"/>
            <a:ext cx="502920" cy="502920"/>
          </a:xfrm>
          <a:prstGeom prst="ellipse">
            <a:avLst/>
          </a:prstGeom>
          <a:solidFill>
            <a:srgbClr val="D98E2B"/>
          </a:solidFill>
          <a:ln/>
        </p:spPr>
        <p:txBody>
          <a:bodyPr/>
          <a:lstStyle/>
          <a:p>
            <a:endParaRPr lang="ko-KR" altLang="en-US"/>
          </a:p>
        </p:txBody>
      </p:sp>
      <p:pic>
        <p:nvPicPr>
          <p:cNvPr id="31" name="Image 1" descr="/home/claude/day2_ppt/icons/checkCircle.png"/>
          <p:cNvPicPr>
            <a:picLocks noChangeAspect="1"/>
          </p:cNvPicPr>
          <p:nvPr/>
        </p:nvPicPr>
        <p:blipFill>
          <a:blip r:embed="rId4"/>
          <a:stretch>
            <a:fillRect/>
          </a:stretch>
        </p:blipFill>
        <p:spPr>
          <a:xfrm>
            <a:off x="760324" y="5122012"/>
            <a:ext cx="372161" cy="372161"/>
          </a:xfrm>
          <a:prstGeom prst="rect">
            <a:avLst/>
          </a:prstGeom>
        </p:spPr>
      </p:pic>
      <p:sp>
        <p:nvSpPr>
          <p:cNvPr id="32" name="Text 28"/>
          <p:cNvSpPr/>
          <p:nvPr/>
        </p:nvSpPr>
        <p:spPr>
          <a:xfrm>
            <a:off x="1325880" y="4983480"/>
            <a:ext cx="10134295" cy="685800"/>
          </a:xfrm>
          <a:prstGeom prst="rect">
            <a:avLst/>
          </a:prstGeom>
          <a:noFill/>
          <a:ln/>
        </p:spPr>
        <p:txBody>
          <a:bodyPr wrap="square" rtlCol="0" anchor="ctr"/>
          <a:lstStyle/>
          <a:p>
            <a:pPr marL="0" indent="0">
              <a:buNone/>
            </a:pPr>
            <a:r>
              <a:rPr lang="en-US" sz="1250" dirty="0">
                <a:solidFill>
                  <a:srgbClr val="1B2A4A"/>
                </a:solidFill>
                <a:latin typeface="Noto Sans CJK KR" pitchFamily="34" charset="0"/>
                <a:ea typeface="Noto Sans CJK KR" pitchFamily="34" charset="-122"/>
                <a:cs typeface="Noto Sans CJK KR" pitchFamily="34" charset="-120"/>
              </a:rPr>
              <a:t>완료 기준(블록A) — ① 결측값 처리 내역 기록 ② 중복·공백·단위 표준화 완료 ③ 동료 상호 검수 완료</a:t>
            </a:r>
            <a:endParaRPr lang="en-US" sz="1250" dirty="0"/>
          </a:p>
        </p:txBody>
      </p:sp>
      <p:sp>
        <p:nvSpPr>
          <p:cNvPr id="33" name="Text 29"/>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34" name="Text 30"/>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2 실행 예시 — 결측값 확인</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8229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4144975">
                  <a:extLst>
                    <a:ext uri="{9D8B030D-6E8A-4147-A177-3AD203B41FA5}">
                      <a16:colId xmlns:a16="http://schemas.microsoft.com/office/drawing/2014/main" val="20005"/>
                    </a:ext>
                  </a:extLst>
                </a:gridCol>
              </a:tblGrid>
              <a:tr h="594360">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번호</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품명</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수량</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단위</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HS코드</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원산지</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1</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알루미늄 압출재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1,200</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kg</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7604.29</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KR</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2</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알루미늄 압출재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1.2</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ton</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7604.29</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KR</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59436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3</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알루미늄 판재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800</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kg</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(비어있음)</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KR</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4</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알루미늄 압출재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1,200</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kg</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7604.29</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KR</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r h="59436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5</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알루미늄 봉재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500</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kg</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7604.21</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(비어있음)</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AI 출력: "3번 행의 HS코드가 비어있음, 5번 행의 원산지가 비어있음. 총 2개 항목에 결측값 발견."</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3 실행 예시 — 중복·잡음 제거 및 표준화</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9737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처리</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중복 제거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1번·4번 행 내용 동일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4번 행 삭제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단위 통일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2번 행 "1.2 ton"</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"1,200 kg"로 환산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결측값 보완</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3번 행 HS코드 없음</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원본 서류 대조 후 "7604.29"로 보완</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 최종 정제 결과: 중복이 제거되고 단위·HS코드가 정리된 4행짜리 표(2일차_통관데이터_정제본.xlsx)</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ear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2.7 [블록 B]</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통관 거부 사유 분류·ESG 조항 추출 — Step 5~6</a:t>
            </a:r>
            <a:endParaRPr lang="en-US" sz="2600" dirty="0"/>
          </a:p>
        </p:txBody>
      </p:sp>
      <p:sp>
        <p:nvSpPr>
          <p:cNvPr id="6" name="Shape 3"/>
          <p:cNvSpPr/>
          <p:nvPr/>
        </p:nvSpPr>
        <p:spPr>
          <a:xfrm>
            <a:off x="548640" y="1828800"/>
            <a:ext cx="5432908" cy="3566160"/>
          </a:xfrm>
          <a:prstGeom prst="roundRect">
            <a:avLst>
              <a:gd name="adj" fmla="val 2051"/>
            </a:avLst>
          </a:prstGeom>
          <a:solidFill>
            <a:srgbClr val="E8EEF7"/>
          </a:solidFill>
          <a:ln/>
        </p:spPr>
        <p:txBody>
          <a:bodyPr/>
          <a:lstStyle/>
          <a:p>
            <a:endParaRPr lang="ko-KR" altLang="en-US"/>
          </a:p>
        </p:txBody>
      </p:sp>
      <p:sp>
        <p:nvSpPr>
          <p:cNvPr id="7" name="Shape 4"/>
          <p:cNvSpPr/>
          <p:nvPr/>
        </p:nvSpPr>
        <p:spPr>
          <a:xfrm>
            <a:off x="3009062" y="1572768"/>
            <a:ext cx="512064" cy="512064"/>
          </a:xfrm>
          <a:prstGeom prst="ellipse">
            <a:avLst/>
          </a:prstGeom>
          <a:solidFill>
            <a:srgbClr val="1B2A4A"/>
          </a:solidFill>
          <a:ln/>
        </p:spPr>
        <p:txBody>
          <a:bodyPr/>
          <a:lstStyle/>
          <a:p>
            <a:endParaRPr lang="ko-KR" altLang="en-US"/>
          </a:p>
        </p:txBody>
      </p:sp>
      <p:sp>
        <p:nvSpPr>
          <p:cNvPr id="8" name="Text 5"/>
          <p:cNvSpPr/>
          <p:nvPr/>
        </p:nvSpPr>
        <p:spPr>
          <a:xfrm>
            <a:off x="3009062"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9" name="Text 6"/>
          <p:cNvSpPr/>
          <p:nvPr/>
        </p:nvSpPr>
        <p:spPr>
          <a:xfrm>
            <a:off x="676656" y="2212848"/>
            <a:ext cx="517687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5. 사유서 업로드 및 1차 추출</a:t>
            </a:r>
            <a:endParaRPr lang="en-US" sz="1400" dirty="0"/>
          </a:p>
        </p:txBody>
      </p:sp>
      <p:sp>
        <p:nvSpPr>
          <p:cNvPr id="10" name="Text 7"/>
          <p:cNvSpPr/>
          <p:nvPr/>
        </p:nvSpPr>
        <p:spPr>
          <a:xfrm>
            <a:off x="676656" y="2907792"/>
            <a:ext cx="5176876" cy="235915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통관 거부 사유서 샘플(.txt/.pdf) 중 5건 업로드 → "리스크 원인이 된 핵심 단어를 찾아줘" 프롬프트로 1차 키워드 추출</a:t>
            </a:r>
            <a:endParaRPr lang="en-US" sz="1150" dirty="0"/>
          </a:p>
        </p:txBody>
      </p:sp>
      <p:sp>
        <p:nvSpPr>
          <p:cNvPr id="11" name="Text 8"/>
          <p:cNvSpPr/>
          <p:nvPr/>
        </p:nvSpPr>
        <p:spPr>
          <a:xfrm>
            <a:off x="5981548" y="329184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2" name="Shape 9"/>
          <p:cNvSpPr/>
          <p:nvPr/>
        </p:nvSpPr>
        <p:spPr>
          <a:xfrm>
            <a:off x="6210148" y="1828800"/>
            <a:ext cx="5432908" cy="3566160"/>
          </a:xfrm>
          <a:prstGeom prst="roundRect">
            <a:avLst>
              <a:gd name="adj" fmla="val 2051"/>
            </a:avLst>
          </a:prstGeom>
          <a:solidFill>
            <a:srgbClr val="E8EEF7"/>
          </a:solidFill>
          <a:ln/>
        </p:spPr>
        <p:txBody>
          <a:bodyPr/>
          <a:lstStyle/>
          <a:p>
            <a:endParaRPr lang="ko-KR" altLang="en-US"/>
          </a:p>
        </p:txBody>
      </p:sp>
      <p:sp>
        <p:nvSpPr>
          <p:cNvPr id="13" name="Shape 10"/>
          <p:cNvSpPr/>
          <p:nvPr/>
        </p:nvSpPr>
        <p:spPr>
          <a:xfrm>
            <a:off x="8670569" y="1572768"/>
            <a:ext cx="512064" cy="512064"/>
          </a:xfrm>
          <a:prstGeom prst="ellipse">
            <a:avLst/>
          </a:prstGeom>
          <a:solidFill>
            <a:srgbClr val="3E5C86"/>
          </a:solidFill>
          <a:ln/>
        </p:spPr>
        <p:txBody>
          <a:bodyPr/>
          <a:lstStyle/>
          <a:p>
            <a:endParaRPr lang="ko-KR" altLang="en-US"/>
          </a:p>
        </p:txBody>
      </p:sp>
      <p:sp>
        <p:nvSpPr>
          <p:cNvPr id="14" name="Text 11"/>
          <p:cNvSpPr/>
          <p:nvPr/>
        </p:nvSpPr>
        <p:spPr>
          <a:xfrm>
            <a:off x="8670569"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5" name="Text 12"/>
          <p:cNvSpPr/>
          <p:nvPr/>
        </p:nvSpPr>
        <p:spPr>
          <a:xfrm>
            <a:off x="6338164" y="2212848"/>
            <a:ext cx="517687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6. 리스크 카테고리 자동 분류</a:t>
            </a:r>
            <a:endParaRPr lang="en-US" sz="1400" dirty="0"/>
          </a:p>
        </p:txBody>
      </p:sp>
      <p:sp>
        <p:nvSpPr>
          <p:cNvPr id="16" name="Text 13"/>
          <p:cNvSpPr/>
          <p:nvPr/>
        </p:nvSpPr>
        <p:spPr>
          <a:xfrm>
            <a:off x="6338164" y="2907792"/>
            <a:ext cx="5176876" cy="235915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2.3.1의 4개 카테고리를 프롬프트에 제시 → "키워드를 카테고리 중 하나로 분류하고 근거 문장을 표시해줘" 요청 → 5건 모두 원문 대조 검증</a:t>
            </a:r>
            <a:endParaRPr lang="en-US" sz="1150" dirty="0"/>
          </a:p>
        </p:txBody>
      </p:sp>
      <p:sp>
        <p:nvSpPr>
          <p:cNvPr id="17" name="Text 1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8" name="Text 1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6 실행 예시</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근거 문장</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핵심 키워드</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리스크 카테고리</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"원산지증명서가 협정 요건을 충족하지 못하여"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원산지증명서 요건 미충족</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 증빙 누락</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예시 원문: "수입국 세관은 상기 화물의 원산지증명서가 협정 요건을 충족하지 못하여 특혜관세 적용을 거부함."</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6-1~6-3. ESG 법안 조항 추출·매핑·해석</a:t>
            </a:r>
            <a:endParaRPr lang="en-US" sz="2600" dirty="0"/>
          </a:p>
        </p:txBody>
      </p:sp>
      <p:sp>
        <p:nvSpPr>
          <p:cNvPr id="5" name="Shape 2"/>
          <p:cNvSpPr/>
          <p:nvPr/>
        </p:nvSpPr>
        <p:spPr>
          <a:xfrm>
            <a:off x="548640" y="1828800"/>
            <a:ext cx="3545738" cy="2834640"/>
          </a:xfrm>
          <a:prstGeom prst="roundRect">
            <a:avLst>
              <a:gd name="adj" fmla="val 2581"/>
            </a:avLst>
          </a:prstGeom>
          <a:solidFill>
            <a:srgbClr val="E8EEF7"/>
          </a:solidFill>
          <a:ln/>
        </p:spPr>
        <p:txBody>
          <a:bodyPr/>
          <a:lstStyle/>
          <a:p>
            <a:endParaRPr lang="ko-KR" altLang="en-US"/>
          </a:p>
        </p:txBody>
      </p:sp>
      <p:sp>
        <p:nvSpPr>
          <p:cNvPr id="6" name="Shape 3"/>
          <p:cNvSpPr/>
          <p:nvPr/>
        </p:nvSpPr>
        <p:spPr>
          <a:xfrm>
            <a:off x="2065477" y="1572768"/>
            <a:ext cx="512064" cy="512064"/>
          </a:xfrm>
          <a:prstGeom prst="ellipse">
            <a:avLst/>
          </a:prstGeom>
          <a:solidFill>
            <a:srgbClr val="1B2A4A"/>
          </a:solidFill>
          <a:ln/>
        </p:spPr>
        <p:txBody>
          <a:bodyPr/>
          <a:lstStyle/>
          <a:p>
            <a:endParaRPr lang="ko-KR" altLang="en-US"/>
          </a:p>
        </p:txBody>
      </p:sp>
      <p:sp>
        <p:nvSpPr>
          <p:cNvPr id="7" name="Text 4"/>
          <p:cNvSpPr/>
          <p:nvPr/>
        </p:nvSpPr>
        <p:spPr>
          <a:xfrm>
            <a:off x="2065477"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8" name="Text 5"/>
          <p:cNvSpPr/>
          <p:nvPr/>
        </p:nvSpPr>
        <p:spPr>
          <a:xfrm>
            <a:off x="676656" y="2212848"/>
            <a:ext cx="328970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6-1. ESG 조항 추출</a:t>
            </a:r>
            <a:endParaRPr lang="en-US" sz="1400" dirty="0"/>
          </a:p>
        </p:txBody>
      </p:sp>
      <p:sp>
        <p:nvSpPr>
          <p:cNvPr id="9" name="Text 6"/>
          <p:cNvSpPr/>
          <p:nvPr/>
        </p:nvSpPr>
        <p:spPr>
          <a:xfrm>
            <a:off x="676656" y="2907792"/>
            <a:ext cx="3289706"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담당 품목 관련 ESG 법안 발췌본(CSRD·CSDDD 등) 업로드 → CoT로 "①적용대상→②의무사항→③벌칙" 정리 → 조항번호 원문 대조</a:t>
            </a:r>
            <a:endParaRPr lang="en-US" sz="1150" dirty="0"/>
          </a:p>
        </p:txBody>
      </p:sp>
      <p:sp>
        <p:nvSpPr>
          <p:cNvPr id="10" name="Text 7"/>
          <p:cNvSpPr/>
          <p:nvPr/>
        </p:nvSpPr>
        <p:spPr>
          <a:xfrm>
            <a:off x="4094378"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1" name="Shape 8"/>
          <p:cNvSpPr/>
          <p:nvPr/>
        </p:nvSpPr>
        <p:spPr>
          <a:xfrm>
            <a:off x="4322978" y="1828800"/>
            <a:ext cx="3545738" cy="2834640"/>
          </a:xfrm>
          <a:prstGeom prst="roundRect">
            <a:avLst>
              <a:gd name="adj" fmla="val 2581"/>
            </a:avLst>
          </a:prstGeom>
          <a:solidFill>
            <a:srgbClr val="E8EEF7"/>
          </a:solidFill>
          <a:ln/>
        </p:spPr>
        <p:txBody>
          <a:bodyPr/>
          <a:lstStyle/>
          <a:p>
            <a:endParaRPr lang="ko-KR" altLang="en-US"/>
          </a:p>
        </p:txBody>
      </p:sp>
      <p:sp>
        <p:nvSpPr>
          <p:cNvPr id="12" name="Shape 9"/>
          <p:cNvSpPr/>
          <p:nvPr/>
        </p:nvSpPr>
        <p:spPr>
          <a:xfrm>
            <a:off x="5839816" y="1572768"/>
            <a:ext cx="512064" cy="512064"/>
          </a:xfrm>
          <a:prstGeom prst="ellipse">
            <a:avLst/>
          </a:prstGeom>
          <a:solidFill>
            <a:srgbClr val="3E5C86"/>
          </a:solidFill>
          <a:ln/>
        </p:spPr>
        <p:txBody>
          <a:bodyPr/>
          <a:lstStyle/>
          <a:p>
            <a:endParaRPr lang="ko-KR" altLang="en-US"/>
          </a:p>
        </p:txBody>
      </p:sp>
      <p:sp>
        <p:nvSpPr>
          <p:cNvPr id="13" name="Text 10"/>
          <p:cNvSpPr/>
          <p:nvPr/>
        </p:nvSpPr>
        <p:spPr>
          <a:xfrm>
            <a:off x="5839816"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4" name="Text 11"/>
          <p:cNvSpPr/>
          <p:nvPr/>
        </p:nvSpPr>
        <p:spPr>
          <a:xfrm>
            <a:off x="4450994" y="2212848"/>
            <a:ext cx="328970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6-2. 리스크 카테고리 매핑</a:t>
            </a:r>
            <a:endParaRPr lang="en-US" sz="1400" dirty="0"/>
          </a:p>
        </p:txBody>
      </p:sp>
      <p:sp>
        <p:nvSpPr>
          <p:cNvPr id="15" name="Text 12"/>
          <p:cNvSpPr/>
          <p:nvPr/>
        </p:nvSpPr>
        <p:spPr>
          <a:xfrm>
            <a:off x="4450994" y="2907792"/>
            <a:ext cx="3289706"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추출한 조항 중 'ESG 근거자료 미비' 카테고리 해당 조항만 선별 → [조항번호, 의무사항 요지, 자사 해당여부]로 정리</a:t>
            </a:r>
            <a:endParaRPr lang="en-US" sz="1150" dirty="0"/>
          </a:p>
        </p:txBody>
      </p:sp>
      <p:sp>
        <p:nvSpPr>
          <p:cNvPr id="16" name="Text 13"/>
          <p:cNvSpPr/>
          <p:nvPr/>
        </p:nvSpPr>
        <p:spPr>
          <a:xfrm>
            <a:off x="7868717"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7" name="Shape 14"/>
          <p:cNvSpPr/>
          <p:nvPr/>
        </p:nvSpPr>
        <p:spPr>
          <a:xfrm>
            <a:off x="8097317" y="1828800"/>
            <a:ext cx="3545738" cy="2834640"/>
          </a:xfrm>
          <a:prstGeom prst="roundRect">
            <a:avLst>
              <a:gd name="adj" fmla="val 2581"/>
            </a:avLst>
          </a:prstGeom>
          <a:solidFill>
            <a:srgbClr val="E8EEF7"/>
          </a:solidFill>
          <a:ln/>
        </p:spPr>
        <p:txBody>
          <a:bodyPr/>
          <a:lstStyle/>
          <a:p>
            <a:endParaRPr lang="ko-KR" altLang="en-US"/>
          </a:p>
        </p:txBody>
      </p:sp>
      <p:sp>
        <p:nvSpPr>
          <p:cNvPr id="18" name="Shape 15"/>
          <p:cNvSpPr/>
          <p:nvPr/>
        </p:nvSpPr>
        <p:spPr>
          <a:xfrm>
            <a:off x="9614154" y="1572768"/>
            <a:ext cx="512064" cy="512064"/>
          </a:xfrm>
          <a:prstGeom prst="ellipse">
            <a:avLst/>
          </a:prstGeom>
          <a:solidFill>
            <a:srgbClr val="1B2A4A"/>
          </a:solidFill>
          <a:ln/>
        </p:spPr>
        <p:txBody>
          <a:bodyPr/>
          <a:lstStyle/>
          <a:p>
            <a:endParaRPr lang="ko-KR" altLang="en-US"/>
          </a:p>
        </p:txBody>
      </p:sp>
      <p:sp>
        <p:nvSpPr>
          <p:cNvPr id="19" name="Text 16"/>
          <p:cNvSpPr/>
          <p:nvPr/>
        </p:nvSpPr>
        <p:spPr>
          <a:xfrm>
            <a:off x="9614154"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3</a:t>
            </a:r>
            <a:endParaRPr lang="en-US" sz="1800" dirty="0"/>
          </a:p>
        </p:txBody>
      </p:sp>
      <p:sp>
        <p:nvSpPr>
          <p:cNvPr id="20" name="Text 17"/>
          <p:cNvSpPr/>
          <p:nvPr/>
        </p:nvSpPr>
        <p:spPr>
          <a:xfrm>
            <a:off x="8225333" y="2212848"/>
            <a:ext cx="328970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6-3. 독소조항·규제수치 해석</a:t>
            </a:r>
            <a:endParaRPr lang="en-US" sz="1400" dirty="0"/>
          </a:p>
        </p:txBody>
      </p:sp>
      <p:sp>
        <p:nvSpPr>
          <p:cNvPr id="21" name="Text 18"/>
          <p:cNvSpPr/>
          <p:nvPr/>
        </p:nvSpPr>
        <p:spPr>
          <a:xfrm>
            <a:off x="8225333" y="2907792"/>
            <a:ext cx="3289706"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데이터 분석 기능 활성화 → CoT로 "①수치포함 조항 탐색→②재무영향 큰 독소조항 판단→③수치 표 정리" → 원문 산식과 재계산 검증</a:t>
            </a:r>
            <a:endParaRPr lang="en-US" sz="1150" dirty="0"/>
          </a:p>
        </p:txBody>
      </p:sp>
      <p:sp>
        <p:nvSpPr>
          <p:cNvPr id="22" name="Shape 19"/>
          <p:cNvSpPr/>
          <p:nvPr/>
        </p:nvSpPr>
        <p:spPr>
          <a:xfrm>
            <a:off x="548640" y="4937760"/>
            <a:ext cx="11094415" cy="777240"/>
          </a:xfrm>
          <a:prstGeom prst="roundRect">
            <a:avLst>
              <a:gd name="adj" fmla="val 9412"/>
            </a:avLst>
          </a:prstGeom>
          <a:solidFill>
            <a:srgbClr val="FBEEDC"/>
          </a:solidFill>
          <a:ln/>
        </p:spPr>
        <p:txBody>
          <a:bodyPr/>
          <a:lstStyle/>
          <a:p>
            <a:endParaRPr lang="ko-KR" altLang="en-US"/>
          </a:p>
        </p:txBody>
      </p:sp>
      <p:sp>
        <p:nvSpPr>
          <p:cNvPr id="23" name="Shape 20"/>
          <p:cNvSpPr/>
          <p:nvPr/>
        </p:nvSpPr>
        <p:spPr>
          <a:xfrm>
            <a:off x="694944" y="5056632"/>
            <a:ext cx="502920" cy="502920"/>
          </a:xfrm>
          <a:prstGeom prst="ellipse">
            <a:avLst/>
          </a:prstGeom>
          <a:solidFill>
            <a:srgbClr val="D98E2B"/>
          </a:solidFill>
          <a:ln/>
        </p:spPr>
        <p:txBody>
          <a:bodyPr/>
          <a:lstStyle/>
          <a:p>
            <a:endParaRPr lang="ko-KR" altLang="en-US"/>
          </a:p>
        </p:txBody>
      </p:sp>
      <p:pic>
        <p:nvPicPr>
          <p:cNvPr id="24" name="Image 1" descr="/home/claude/day2_ppt/icons/checkCircle.png"/>
          <p:cNvPicPr>
            <a:picLocks noChangeAspect="1"/>
          </p:cNvPicPr>
          <p:nvPr/>
        </p:nvPicPr>
        <p:blipFill>
          <a:blip r:embed="rId4"/>
          <a:stretch>
            <a:fillRect/>
          </a:stretch>
        </p:blipFill>
        <p:spPr>
          <a:xfrm>
            <a:off x="760324" y="5122012"/>
            <a:ext cx="372161" cy="372161"/>
          </a:xfrm>
          <a:prstGeom prst="rect">
            <a:avLst/>
          </a:prstGeom>
        </p:spPr>
      </p:pic>
      <p:sp>
        <p:nvSpPr>
          <p:cNvPr id="25" name="Text 21"/>
          <p:cNvSpPr/>
          <p:nvPr/>
        </p:nvSpPr>
        <p:spPr>
          <a:xfrm>
            <a:off x="1325880" y="4983480"/>
            <a:ext cx="10134295" cy="685800"/>
          </a:xfrm>
          <a:prstGeom prst="rect">
            <a:avLst/>
          </a:prstGeom>
          <a:noFill/>
          <a:ln/>
        </p:spPr>
        <p:txBody>
          <a:bodyPr wrap="square" rtlCol="0" anchor="ctr"/>
          <a:lstStyle/>
          <a:p>
            <a:pPr marL="0" indent="0">
              <a:buNone/>
            </a:pPr>
            <a:r>
              <a:rPr lang="en-US" sz="1250" dirty="0">
                <a:solidFill>
                  <a:srgbClr val="1B2A4A"/>
                </a:solidFill>
                <a:latin typeface="Noto Sans CJK KR" pitchFamily="34" charset="0"/>
                <a:ea typeface="Noto Sans CJK KR" pitchFamily="34" charset="-122"/>
                <a:cs typeface="Noto Sans CJK KR" pitchFamily="34" charset="-120"/>
              </a:rPr>
              <a:t>무엇이 '독소조항'인가 — 이행기한이 촉박하거나, 벌금·과징금 액수가 크거나, 우리 회사 품목에 직접 해당할수록 독소조항에 가깝다.</a:t>
            </a:r>
            <a:endParaRPr lang="en-US" sz="1250" dirty="0"/>
          </a:p>
        </p:txBody>
      </p:sp>
      <p:sp>
        <p:nvSpPr>
          <p:cNvPr id="26" name="Text 22"/>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27" name="Text 23"/>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6-3 실행 예시 — 독소조항 판정</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2801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50593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조항</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내용</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유형</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제12조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공급망 실사보고서 미제출 시 연매출 2% 과징금</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독소조항 (벌금율 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제8조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실사보고서는 회계연도 종료 후 90일 이내 제출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일반 의무사항</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bl>
          </a:graphicData>
        </a:graphic>
      </p:graphicFrame>
      <p:sp>
        <p:nvSpPr>
          <p:cNvPr id="6" name="Text 2"/>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7" name="Text 3"/>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7~8. 마스터 데이터셋 통합 및 저장</a:t>
            </a:r>
            <a:endParaRPr lang="en-US" sz="2600" dirty="0"/>
          </a:p>
        </p:txBody>
      </p:sp>
      <p:sp>
        <p:nvSpPr>
          <p:cNvPr id="5" name="Shape 2"/>
          <p:cNvSpPr/>
          <p:nvPr/>
        </p:nvSpPr>
        <p:spPr>
          <a:xfrm>
            <a:off x="548640" y="1828800"/>
            <a:ext cx="5432908" cy="2834640"/>
          </a:xfrm>
          <a:prstGeom prst="roundRect">
            <a:avLst>
              <a:gd name="adj" fmla="val 2581"/>
            </a:avLst>
          </a:prstGeom>
          <a:solidFill>
            <a:srgbClr val="E8EEF7"/>
          </a:solidFill>
          <a:ln/>
        </p:spPr>
        <p:txBody>
          <a:bodyPr/>
          <a:lstStyle/>
          <a:p>
            <a:endParaRPr lang="ko-KR" altLang="en-US"/>
          </a:p>
        </p:txBody>
      </p:sp>
      <p:sp>
        <p:nvSpPr>
          <p:cNvPr id="6" name="Shape 3"/>
          <p:cNvSpPr/>
          <p:nvPr/>
        </p:nvSpPr>
        <p:spPr>
          <a:xfrm>
            <a:off x="3009062" y="1572768"/>
            <a:ext cx="512064" cy="512064"/>
          </a:xfrm>
          <a:prstGeom prst="ellipse">
            <a:avLst/>
          </a:prstGeom>
          <a:solidFill>
            <a:srgbClr val="1B2A4A"/>
          </a:solidFill>
          <a:ln/>
        </p:spPr>
        <p:txBody>
          <a:bodyPr/>
          <a:lstStyle/>
          <a:p>
            <a:endParaRPr lang="ko-KR" altLang="en-US"/>
          </a:p>
        </p:txBody>
      </p:sp>
      <p:sp>
        <p:nvSpPr>
          <p:cNvPr id="7" name="Text 4"/>
          <p:cNvSpPr/>
          <p:nvPr/>
        </p:nvSpPr>
        <p:spPr>
          <a:xfrm>
            <a:off x="3009062"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1</a:t>
            </a:r>
            <a:endParaRPr lang="en-US" sz="1800" dirty="0"/>
          </a:p>
        </p:txBody>
      </p:sp>
      <p:sp>
        <p:nvSpPr>
          <p:cNvPr id="8" name="Text 5"/>
          <p:cNvSpPr/>
          <p:nvPr/>
        </p:nvSpPr>
        <p:spPr>
          <a:xfrm>
            <a:off x="676656" y="2212848"/>
            <a:ext cx="517687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7. 마스터 데이터셋 통합</a:t>
            </a:r>
            <a:endParaRPr lang="en-US" sz="1400" dirty="0"/>
          </a:p>
        </p:txBody>
      </p:sp>
      <p:sp>
        <p:nvSpPr>
          <p:cNvPr id="9" name="Text 6"/>
          <p:cNvSpPr/>
          <p:nvPr/>
        </p:nvSpPr>
        <p:spPr>
          <a:xfrm>
            <a:off x="676656" y="2907792"/>
            <a:ext cx="5176876"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Step4(정제본)·Step6(리스크분류)·Step6-2(ESG매핑)·Step6-3(독소조항표)을 [문서번호,품목명,HS Code,리스크카테고리,근거키워드,원문문장,ESG조항] 열로 통합</a:t>
            </a:r>
            <a:endParaRPr lang="en-US" sz="1150" dirty="0"/>
          </a:p>
        </p:txBody>
      </p:sp>
      <p:sp>
        <p:nvSpPr>
          <p:cNvPr id="10" name="Text 7"/>
          <p:cNvSpPr/>
          <p:nvPr/>
        </p:nvSpPr>
        <p:spPr>
          <a:xfrm>
            <a:off x="5981548" y="2926080"/>
            <a:ext cx="228600" cy="457200"/>
          </a:xfrm>
          <a:prstGeom prst="rect">
            <a:avLst/>
          </a:prstGeom>
          <a:noFill/>
          <a:ln/>
        </p:spPr>
        <p:txBody>
          <a:bodyPr wrap="square" rtlCol="0" anchor="ctr"/>
          <a:lstStyle/>
          <a:p>
            <a:pPr marL="0" indent="0" algn="ctr">
              <a:buNone/>
            </a:pPr>
            <a:r>
              <a:rPr lang="en-US" sz="2000" dirty="0">
                <a:solidFill>
                  <a:srgbClr val="6B7A93"/>
                </a:solidFill>
              </a:rPr>
              <a:t>→</a:t>
            </a:r>
            <a:endParaRPr lang="en-US" sz="2000" dirty="0"/>
          </a:p>
        </p:txBody>
      </p:sp>
      <p:sp>
        <p:nvSpPr>
          <p:cNvPr id="11" name="Shape 8"/>
          <p:cNvSpPr/>
          <p:nvPr/>
        </p:nvSpPr>
        <p:spPr>
          <a:xfrm>
            <a:off x="6210148" y="1828800"/>
            <a:ext cx="5432908" cy="2834640"/>
          </a:xfrm>
          <a:prstGeom prst="roundRect">
            <a:avLst>
              <a:gd name="adj" fmla="val 2581"/>
            </a:avLst>
          </a:prstGeom>
          <a:solidFill>
            <a:srgbClr val="E8EEF7"/>
          </a:solidFill>
          <a:ln/>
        </p:spPr>
        <p:txBody>
          <a:bodyPr/>
          <a:lstStyle/>
          <a:p>
            <a:endParaRPr lang="ko-KR" altLang="en-US"/>
          </a:p>
        </p:txBody>
      </p:sp>
      <p:sp>
        <p:nvSpPr>
          <p:cNvPr id="12" name="Shape 9"/>
          <p:cNvSpPr/>
          <p:nvPr/>
        </p:nvSpPr>
        <p:spPr>
          <a:xfrm>
            <a:off x="8670569" y="1572768"/>
            <a:ext cx="512064" cy="512064"/>
          </a:xfrm>
          <a:prstGeom prst="ellipse">
            <a:avLst/>
          </a:prstGeom>
          <a:solidFill>
            <a:srgbClr val="3E5C86"/>
          </a:solidFill>
          <a:ln/>
        </p:spPr>
        <p:txBody>
          <a:bodyPr/>
          <a:lstStyle/>
          <a:p>
            <a:endParaRPr lang="ko-KR" altLang="en-US"/>
          </a:p>
        </p:txBody>
      </p:sp>
      <p:sp>
        <p:nvSpPr>
          <p:cNvPr id="13" name="Text 10"/>
          <p:cNvSpPr/>
          <p:nvPr/>
        </p:nvSpPr>
        <p:spPr>
          <a:xfrm>
            <a:off x="8670569" y="1572768"/>
            <a:ext cx="512064" cy="512064"/>
          </a:xfrm>
          <a:prstGeom prst="rect">
            <a:avLst/>
          </a:prstGeom>
          <a:noFill/>
          <a:ln/>
        </p:spPr>
        <p:txBody>
          <a:bodyPr wrap="square" rtlCol="0" anchor="ct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2</a:t>
            </a:r>
            <a:endParaRPr lang="en-US" sz="1800" dirty="0"/>
          </a:p>
        </p:txBody>
      </p:sp>
      <p:sp>
        <p:nvSpPr>
          <p:cNvPr id="14" name="Text 11"/>
          <p:cNvSpPr/>
          <p:nvPr/>
        </p:nvSpPr>
        <p:spPr>
          <a:xfrm>
            <a:off x="6338164" y="2212848"/>
            <a:ext cx="5176876" cy="685800"/>
          </a:xfrm>
          <a:prstGeom prst="rect">
            <a:avLst/>
          </a:prstGeom>
          <a:noFill/>
          <a:ln/>
        </p:spPr>
        <p:txBody>
          <a:bodyPr wrap="square" rtlCol="0" anchor="t"/>
          <a:lstStyle/>
          <a:p>
            <a:pPr marL="0" indent="0">
              <a:buNone/>
            </a:pPr>
            <a:r>
              <a:rPr lang="en-US" sz="1400" b="1" dirty="0">
                <a:solidFill>
                  <a:srgbClr val="1B2A4A"/>
                </a:solidFill>
                <a:latin typeface="Noto Sans CJK KR" pitchFamily="34" charset="0"/>
                <a:ea typeface="Noto Sans CJK KR" pitchFamily="34" charset="-122"/>
                <a:cs typeface="Noto Sans CJK KR" pitchFamily="34" charset="-120"/>
              </a:rPr>
              <a:t>Step 8. 저장 및 공유</a:t>
            </a:r>
            <a:endParaRPr lang="en-US" sz="1400" dirty="0"/>
          </a:p>
        </p:txBody>
      </p:sp>
      <p:sp>
        <p:nvSpPr>
          <p:cNvPr id="15" name="Text 12"/>
          <p:cNvSpPr/>
          <p:nvPr/>
        </p:nvSpPr>
        <p:spPr>
          <a:xfrm>
            <a:off x="6338164" y="2907792"/>
            <a:ext cx="5176876" cy="1627632"/>
          </a:xfrm>
          <a:prstGeom prst="rect">
            <a:avLst/>
          </a:prstGeom>
          <a:noFill/>
          <a:ln/>
        </p:spPr>
        <p:txBody>
          <a:bodyPr wrap="square" rtlCol="0" anchor="t"/>
          <a:lstStyle/>
          <a:p>
            <a:pPr marL="0" indent="0">
              <a:lnSpc>
                <a:spcPct val="115000"/>
              </a:lnSpc>
              <a:buNone/>
            </a:pPr>
            <a:r>
              <a:rPr lang="en-US" sz="1150" dirty="0">
                <a:solidFill>
                  <a:srgbClr val="33415C"/>
                </a:solidFill>
                <a:latin typeface="Noto Sans CJK KR" pitchFamily="34" charset="0"/>
                <a:ea typeface="Noto Sans CJK KR" pitchFamily="34" charset="-122"/>
                <a:cs typeface="Noto Sans CJK KR" pitchFamily="34" charset="-120"/>
              </a:rPr>
              <a:t>완성한 마스터 데이터셋 저장, 조원과 정제·분류 결과 비교 공유</a:t>
            </a:r>
            <a:endParaRPr lang="en-US" sz="1150" dirty="0"/>
          </a:p>
        </p:txBody>
      </p:sp>
      <p:sp>
        <p:nvSpPr>
          <p:cNvPr id="16" name="Shape 13"/>
          <p:cNvSpPr/>
          <p:nvPr/>
        </p:nvSpPr>
        <p:spPr>
          <a:xfrm>
            <a:off x="548640" y="4937760"/>
            <a:ext cx="11094415" cy="777240"/>
          </a:xfrm>
          <a:prstGeom prst="roundRect">
            <a:avLst>
              <a:gd name="adj" fmla="val 9412"/>
            </a:avLst>
          </a:prstGeom>
          <a:solidFill>
            <a:srgbClr val="FBEEDC"/>
          </a:solidFill>
          <a:ln/>
        </p:spPr>
        <p:txBody>
          <a:bodyPr/>
          <a:lstStyle/>
          <a:p>
            <a:endParaRPr lang="ko-KR" altLang="en-US"/>
          </a:p>
        </p:txBody>
      </p:sp>
      <p:sp>
        <p:nvSpPr>
          <p:cNvPr id="17" name="Shape 14"/>
          <p:cNvSpPr/>
          <p:nvPr/>
        </p:nvSpPr>
        <p:spPr>
          <a:xfrm>
            <a:off x="694944" y="5056632"/>
            <a:ext cx="502920" cy="502920"/>
          </a:xfrm>
          <a:prstGeom prst="ellipse">
            <a:avLst/>
          </a:prstGeom>
          <a:solidFill>
            <a:srgbClr val="D98E2B"/>
          </a:solidFill>
          <a:ln/>
        </p:spPr>
        <p:txBody>
          <a:bodyPr/>
          <a:lstStyle/>
          <a:p>
            <a:endParaRPr lang="ko-KR" altLang="en-US"/>
          </a:p>
        </p:txBody>
      </p:sp>
      <p:pic>
        <p:nvPicPr>
          <p:cNvPr id="18" name="Image 1" descr="/home/claude/day2_ppt/icons/checkCircle.png"/>
          <p:cNvPicPr>
            <a:picLocks noChangeAspect="1"/>
          </p:cNvPicPr>
          <p:nvPr/>
        </p:nvPicPr>
        <p:blipFill>
          <a:blip r:embed="rId4"/>
          <a:stretch>
            <a:fillRect/>
          </a:stretch>
        </p:blipFill>
        <p:spPr>
          <a:xfrm>
            <a:off x="760324" y="5122012"/>
            <a:ext cx="372161" cy="372161"/>
          </a:xfrm>
          <a:prstGeom prst="rect">
            <a:avLst/>
          </a:prstGeom>
        </p:spPr>
      </p:pic>
      <p:sp>
        <p:nvSpPr>
          <p:cNvPr id="19" name="Text 15"/>
          <p:cNvSpPr/>
          <p:nvPr/>
        </p:nvSpPr>
        <p:spPr>
          <a:xfrm>
            <a:off x="1325880" y="4983480"/>
            <a:ext cx="10134295" cy="685800"/>
          </a:xfrm>
          <a:prstGeom prst="rect">
            <a:avLst/>
          </a:prstGeom>
          <a:noFill/>
          <a:ln/>
        </p:spPr>
        <p:txBody>
          <a:bodyPr wrap="square" rtlCol="0" anchor="ctr"/>
          <a:lstStyle/>
          <a:p>
            <a:pPr marL="0" indent="0">
              <a:buNone/>
            </a:pPr>
            <a:r>
              <a:rPr lang="en-US" sz="1250" dirty="0">
                <a:solidFill>
                  <a:srgbClr val="1B2A4A"/>
                </a:solidFill>
                <a:latin typeface="Noto Sans CJK KR" pitchFamily="34" charset="0"/>
                <a:ea typeface="Noto Sans CJK KR" pitchFamily="34" charset="-122"/>
                <a:cs typeface="Noto Sans CJK KR" pitchFamily="34" charset="-120"/>
              </a:rPr>
              <a:t>완료 기준(블록B) — ① 5건 사유서 분류 완료 ② ESG 조항 추출·매핑 완료 ③ 독소조항·규제수치 해석 완료 ④ 원문 대조 검증 완료 ⑤ 마스터 데이터셋 통합 완료</a:t>
            </a:r>
            <a:endParaRPr lang="en-US" sz="1250" dirty="0"/>
          </a:p>
        </p:txBody>
      </p:sp>
      <p:sp>
        <p:nvSpPr>
          <p:cNvPr id="20" name="Text 1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21" name="Text 1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완성된 마스터 데이터셋 1행 예시</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3504895">
                  <a:extLst>
                    <a:ext uri="{9D8B030D-6E8A-4147-A177-3AD203B41FA5}">
                      <a16:colId xmlns:a16="http://schemas.microsoft.com/office/drawing/2014/main" val="20005"/>
                    </a:ext>
                  </a:extLst>
                </a:gridCol>
              </a:tblGrid>
              <a:tr h="640080">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문서번호</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품목명</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HS코드</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리스크카테고리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근거키워드</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Noto Sans CJK KR" pitchFamily="34" charset="0"/>
                          <a:ea typeface="Noto Sans CJK KR" pitchFamily="34" charset="-122"/>
                          <a:cs typeface="Noto Sans CJK KR" pitchFamily="34" charset="-120"/>
                        </a:rPr>
                        <a:t>ESG조항</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INV-001</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알루미늄 압출재</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7604.29</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원산지 증빙 누락</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원산지증명서 요건 미충족</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3415C"/>
                          </a:solidFill>
                          <a:latin typeface="Noto Sans CJK KR" pitchFamily="34" charset="0"/>
                          <a:ea typeface="Noto Sans CJK KR" pitchFamily="34" charset="-122"/>
                          <a:cs typeface="Noto Sans CJK KR" pitchFamily="34" charset="-120"/>
                        </a:rPr>
                        <a:t>제12조</a:t>
                      </a:r>
                      <a:endParaRPr lang="en-US" sz="11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이 표가 블록 A·B를 사람이 직접 완성한 최종 결과물(정답)이다 — 블록 C에서는 이것과 동일한 결과가 자동으로 나오는지 확인한다.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itBran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2.7 [블록 C]</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Orange3 노코드 에이전트 빌드 — 개요</a:t>
            </a:r>
            <a:endParaRPr lang="en-US" sz="2600" dirty="0"/>
          </a:p>
        </p:txBody>
      </p:sp>
      <p:sp>
        <p:nvSpPr>
          <p:cNvPr id="6" name="Text 3"/>
          <p:cNvSpPr/>
          <p:nvPr/>
        </p:nvSpPr>
        <p:spPr>
          <a:xfrm>
            <a:off x="548640" y="1536192"/>
            <a:ext cx="11094415" cy="448056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지금까지 블록 A·B는 매 서류마다 프롬프트를 새로 입력해야 했다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블록 C의 목표</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같은 처리 로직을 Orange3 워크플로우로 한 번만 만들어두면, 이후에는 서류만 바꿔 넣어도 정제·분류·통합이 자동으로 반복되는 구조를 직접 만들어본다</a:t>
            </a:r>
            <a:endParaRPr lang="en-US" sz="1600" dirty="0"/>
          </a:p>
        </p:txBody>
      </p:sp>
      <p:sp>
        <p:nvSpPr>
          <p:cNvPr id="7" name="Text 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8" name="Text 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gitBran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9. 정제·분류 자동화 워크플로우 구성</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Orange3 캔버스에 File 위젯 3개를 배치해 원본 서류 데이터, cleaning_rules.csv, risk_category_ref.csv를 각각 연결</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Preprocess Text / Find &amp; Replace 계열 위젯으로 cleaning_rules 기준의 표준화(단위·표기 통일)를 자동 적용</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Word Count(또는 유사 매칭) 위젯으로 reason_docs.csv 텍스트와 risk_category_ref의 키워드를 매칭해 카테고리를 자동 부여</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트러블슈팅 — 위젯 연결선이 빨갛게 표시되면 입력·출력 데이터 형식(텍스트/표) 불일치이므로 중간에 변환 위젯을 추가한다.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heck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10. 파이프라인 테스트 및 결과 비교</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5059375">
                  <a:extLst>
                    <a:ext uri="{9D8B030D-6E8A-4147-A177-3AD203B41FA5}">
                      <a16:colId xmlns:a16="http://schemas.microsoft.com/office/drawing/2014/main" val="20003"/>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구분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문서번호</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리스크카테고리</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ESG조항</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Step 7 (수작업 결과)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INV-001</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 증빙 누락</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제12조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Step 10 (Orange 자동 출력)</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INV-001</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원산지 증빙 누락</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제12조</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bl>
          </a:graphicData>
        </a:graphic>
      </p:graphicFrame>
      <p:sp>
        <p:nvSpPr>
          <p:cNvPr id="6" name="Shape 2"/>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7" name="Shape 3"/>
          <p:cNvSpPr/>
          <p:nvPr/>
        </p:nvSpPr>
        <p:spPr>
          <a:xfrm>
            <a:off x="694944" y="5650992"/>
            <a:ext cx="502920" cy="50292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9" name="Text 4"/>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핵심 포인트 — 사람이 순서대로 밟았던 판단이 이제는 서류를 입력하는 즉시 자동으로 재현된다는 점이 오늘 에이전트 실습의 핵심이다. 이 워크플로우는 5일차 통합 대응 대시보드의 기초 구성 요소로 재사용된다.</a:t>
            </a:r>
            <a:endParaRPr lang="en-US" sz="1250" dirty="0"/>
          </a:p>
        </p:txBody>
      </p:sp>
      <p:sp>
        <p:nvSpPr>
          <p:cNvPr id="10" name="Text 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barChar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11. 리스크 분포 시각화</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Step10의 마스터 데이터셋(국가·품목별 리스크 신호등 값, 규제 강도 분석 결과, 공급망 실사 지표)을 Orange3에 다시 불러오기</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Bar Chart(또는 Scatter Plot) 위젯으로 국가별 규제 강도(x축) × 리스크 신호등 값(y축/색상)을 시각화</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리스크가 몰려 있는 국가·품목 구간을 눈으로 확인하고, 표로 볼 때와 비교해 추가 인사이트 공유</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표는 정확한 값 확인에 유리하지만 수백 행이 넘으면 어디에 리스크가 몰려있는지 파악이 어렵다 — 이 그래프는 5일차 통합 대응 대시보드의 시각화 화면 설계에 그대로 참고 자료로 활용된다.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search.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12. ESG 법안 독소조항 1차 후보 자동 추출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Step6-1~6-3에서 사람이 직접 CoT로 판단했던 작업을, Orange3로 '1차 후보 추출'까지만 자동화 — 최종 판단은 계속 사람이 맡는다</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Regular Expression Filter(또는 유사 패턴 매칭) 위젯으로 숫자+단위(%, 톤, 유로, 일 등)가 함께 등장하는 문장을 자동 필터링</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Word Count 위젯으로 '벌금','과징금','기한','의무' 등 리스크 신호 키워드에 가중치를 부여해 후보 문장을 위험도 순으로 정렬</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왜 완전 자동화가 아닌가 — '숫자+리스크 키워드가 있다'는 것과 '실제로 재무적으로 중요한 조항'이라는 것은 다른 판단이다. 이 에이전트의 가치는 검토해야 할 후보를 먼저 추려준다는 데 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ab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12 실행 예시 — 위험도순 정렬 결과</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9144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059375">
                  <a:extLst>
                    <a:ext uri="{9D8B030D-6E8A-4147-A177-3AD203B41FA5}">
                      <a16:colId xmlns:a16="http://schemas.microsoft.com/office/drawing/2014/main" val="20002"/>
                    </a:ext>
                  </a:extLst>
                </a:gridCol>
              </a:tblGrid>
              <a:tr h="640080">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순위</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후보 문장</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400" b="1" dirty="0">
                          <a:solidFill>
                            <a:srgbClr val="FFFFFF"/>
                          </a:solidFill>
                          <a:latin typeface="Noto Sans CJK KR" pitchFamily="34" charset="0"/>
                          <a:ea typeface="Noto Sans CJK KR" pitchFamily="34" charset="-122"/>
                          <a:cs typeface="Noto Sans CJK KR" pitchFamily="34" charset="-120"/>
                        </a:rPr>
                        <a:t>위험 키워드 점수</a:t>
                      </a:r>
                      <a:endParaRPr lang="en-US" sz="14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1</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"위반 시 연매출 2% 과징금 부과"</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5</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2</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"90일 이내 제출 의무"</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300" dirty="0">
                          <a:solidFill>
                            <a:srgbClr val="33415C"/>
                          </a:solidFill>
                          <a:latin typeface="Noto Sans CJK KR" pitchFamily="34" charset="0"/>
                          <a:ea typeface="Noto Sans CJK KR" pitchFamily="34" charset="-122"/>
                          <a:cs typeface="Noto Sans CJK KR" pitchFamily="34" charset="-120"/>
                        </a:rPr>
                        <a:t>2</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bl>
          </a:graphicData>
        </a:graphic>
      </p:graphicFrame>
      <p:sp>
        <p:nvSpPr>
          <p:cNvPr id="6" name="Text 2"/>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7" name="Text 3"/>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Step 13. 자사 무역·ESG 장벽 리스크 정의서 완성</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Step11의 리스크 분포 그래프를 캡처해 정의서 서두에 삽입</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리스크 변수 4종과 Step6-3에서 찾은 독소조항 목록을 정의서 본문에 표로 정리</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각 리스크 변수마다 [정의, 대표 예시, 발견 시 대응 담당자] 열을 채워 실무 참고 문서로 완성</a:t>
            </a:r>
            <a:endParaRPr lang="en-US" sz="1600" dirty="0"/>
          </a:p>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조원과 교차 검토 후 최종본 확정</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완료 기준(블록C) — ① Orange3 워크플로우 완성 ② 자동·수작업 결과 비교 검증 ③ 리스크 분포 시각화 ④ 독소조항 후보 자동 추출 ⑤ 리스크 정의서 완성 ⑥ 조별 공유 완료</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zap.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2.8</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추가 에이전트 예제 (심화·선택) — 개관</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967935">
                  <a:extLst>
                    <a:ext uri="{9D8B030D-6E8A-4147-A177-3AD203B41FA5}">
                      <a16:colId xmlns:a16="http://schemas.microsoft.com/office/drawing/2014/main" val="20002"/>
                    </a:ext>
                  </a:extLst>
                </a:gridCol>
              </a:tblGrid>
              <a:tr h="356616">
                <a:tc>
                  <a:txBody>
                    <a:bodyPr/>
                    <a:lstStyle/>
                    <a:p>
                      <a:pPr marL="0" indent="0" algn="l">
                        <a:buNone/>
                      </a:pPr>
                      <a:r>
                        <a:rPr lang="en-US" sz="1300" b="1" dirty="0">
                          <a:solidFill>
                            <a:srgbClr val="FFFFFF"/>
                          </a:solidFill>
                          <a:latin typeface="Noto Sans CJK KR" pitchFamily="34" charset="0"/>
                          <a:ea typeface="Noto Sans CJK KR" pitchFamily="34" charset="-122"/>
                          <a:cs typeface="Noto Sans CJK KR" pitchFamily="34" charset="-120"/>
                        </a:rPr>
                        <a:t>예제</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Noto Sans CJK KR" pitchFamily="34" charset="0"/>
                          <a:ea typeface="Noto Sans CJK KR" pitchFamily="34" charset="-122"/>
                          <a:cs typeface="Noto Sans CJK KR" pitchFamily="34" charset="-120"/>
                        </a:rPr>
                        <a:t>핵심 도구</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Noto Sans CJK KR" pitchFamily="34" charset="0"/>
                          <a:ea typeface="Noto Sans CJK KR" pitchFamily="34" charset="-122"/>
                          <a:cs typeface="Noto Sans CJK KR" pitchFamily="34" charset="-120"/>
                        </a:rPr>
                        <a:t>AI 프롬프트 필요 여부</a:t>
                      </a:r>
                      <a:endParaRPr lang="en-US" sz="13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2. 리스크 알림 자동 발송</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Orange3 집계 + ChatGPT</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3. 신규 서류 자동 반영</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Orange3 Append/Concatenate</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불필요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4. 이상치 자동 탐지</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Orange3 규칙 기반 필터</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불필요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5. 리스크 카테고리 통계 자동 집계</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Orange3 Group By</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불필요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6. 정제 규칙 업데이트 제안</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ChatGPT 프롬프트만</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7. 다중 서식 인보이스 표준화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파이썬 + AI 페어 프로그래밍</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필요(코드생성)</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6"/>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8. 거래처별 리스크 스코어 집계</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Orange3 Group By+Formula+Sort</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불필요</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9. 스캔 통관서류 OCR 자동 추출</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파이썬 OCR 라이브러리</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필요(코드생성)</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8"/>
                  </a:ext>
                </a:extLst>
              </a:tr>
              <a:tr h="356616">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예제 10. 리스크 정의서 자동 문서 생성</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파이썬 문서 생성 라이브러리</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C"/>
                          </a:solidFill>
                          <a:latin typeface="Noto Sans CJK KR" pitchFamily="34" charset="0"/>
                          <a:ea typeface="Noto Sans CJK KR" pitchFamily="34" charset="-122"/>
                          <a:cs typeface="Noto Sans CJK KR" pitchFamily="34" charset="-120"/>
                        </a:rPr>
                        <a:t>필요(코드생성)</a:t>
                      </a:r>
                      <a:endParaRPr lang="en-US" sz="120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8" name="Shape 4"/>
          <p:cNvSpPr/>
          <p:nvPr/>
        </p:nvSpPr>
        <p:spPr>
          <a:xfrm>
            <a:off x="694944" y="5650992"/>
            <a:ext cx="502920" cy="50292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시간 여유가 있는 조는 이 중 하나를 선택해 추가로 만들어보거나, 강사가 시연 중심으로 소개할 수 있다. 예제2·3·4·5·8은 하나의 Streamlit 웹 UI로도 통합해볼 수 있다(뒤에서 소개).</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2 — 리스크 알림 자동 발송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마스터 데이터셋에 새 고위험 항목이 추가될 때마다 담당자가 매번 열어 확인하지 않아도, 요약 알림이 자동으로 만들어지는 흐름</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마스터 데이터셋에서 리스크 카테고리별 건수를 집계하는 위젯 → 기준치 초과 시 알림 문구를 자동 생성하는 프롬프트 템플릿 연동</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"금주 HS Code 불일치 3건 발생 — 확인 요망"과 같은 알림 초안 텍스트</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3"/>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사용 도구: Orange3 집계 위젯 + ChatGPT 알림 문구 생성 프롬프트. 파이썬 대안 경로도 함께 제공되어 pandas로 동일 결과를 재현·검증할 수 있다(HS Code 불일치 3건 → 동일한 알림 문구 생성 확인).</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link.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3 — 신규 서류 자동 반영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실무에서는 서류가 매일 새로 들어온다 — 새 서류가 추가될 때마다 Block A·B의 처리 로직(정제→분류)을 자동 적용해 마스터 데이터셋에 이어 붙이는 흐름</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File 위젯에 신규 파일 연결 → Block C 정제·분류 워크플로우를 그대로 통과 → 기존 마스터 데이터셋에 신규 행으로 추가(Append)</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신규 건이 반영되어 행 수가 늘어난 마스터 데이터셋 (예: 13행 → 15행, INV-014·015 자동 추가)</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이 예제는 '한 번 만든 워크플로우를 계속 재사용한다'는 에이전트의 핵심 가치를 가장 직접적으로 보여준다 — 새로 작성할 프롬프트가 없다.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alertTriang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4 — 이상치 자동 탐지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정제·분류가 끝난 마스터 데이터셋이라도 HS Code 누락, 금액 0원 기재 등 눈에 띄지 않는 이상치가 섞여 있을 수 있다 — 이를 자동으로 표시</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각 열(HS Code, 금액, 원산지 등)에 '값이 비어있는지', '범위를 벗어나는지'를 점검하는 규칙 위젯 연결 → 이상 발견 행에 '검토필요' 표시 열 추가</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'검토필요' 표시가 붙은 마스터 데이터셋 (예: INV-007 금액0원, INV-009 HS Code 누락 → 검토필요=예)</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값이 비어있는지·범위를 벗어나는지 확인하는 규칙 기반 필터만으로 동작하므로 AI 프롬프트가 필요 없다 — 2.3의 '규칙 기반 시스템' 개념을 그대로 적용한 예다.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barChar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5 — 리스크 카테고리 통계 자동 집계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마스터 데이터셋이 쌓일수록 '어떤 리스크가 가장 자주 발생하는지'를 손으로 세지 않도록, 카테고리별 건수·비율을 자동 집계</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File 위젯으로 데이터셋 로드 → 리스크 카테고리 열 기준 Group By(집계) 위젯 연결 → 카테고리별 건수와 전체 대비 비율 자동 계산</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예: 원산지 증빙 누락 6건(40%), HS Code 불일치 5건(33%), ESG 근거자료 미비 3건(20%), 수출 제한 품목 1건(7%)</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Group By 위젯의 단순 통계 계산만으로 동작하므로 AI 프롬프트가 필요 없다. 신규 서류(예제3)가 누적될 때마다 다시 실행하면 자동으로 최신화된다.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edi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6 — 정제 규칙 업데이트 제안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cleaning_rules.csv에 아직 등록되지 않은 새로운 표기 오류(예: 새 약어)가 반복되면, AI가 이를 감지해 규칙표에 추가할 후보를 제안</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정제 과정에서 표준화되지 못하고 남은 값들을 모아 AI에게 '같은 의미로 묶을 수 있는 것을 찾아 표준 표기 후보를 제안해줘' 요청</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[발견된 표기 / 제안 표준 표기 / 등록 여부(검토중)] 목록 — 담당자가 검토 후 cleaning_rules.csv에 반영</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규칙 기반 시스템의 한계(미리 정의 못한 표현은 처리 못함)를 AI로 보완하는 하이브리드 구조 — 다만 규칙표 반영은 반드시 사람이 최종 승인한다. Orange3 위젯 없이 AI 프롬프트만으로 진행된다.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erminal.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7 — 파이썬 기반 다중 서식 인보이스 표준화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거래처마다 열 이름·순서가 제각각인 인보이스(A거래처 '품명', B거래처 '제품명', C거래처 'Item Name')를 표준 서식으로 맞추는 작업은 Orange3 위젯 조합만으로는 감당하기 어려움 — 파이썬이 더 적합</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ChatGPT에게 "거래처별로 열 이름이 다른 인보이스를 읽어 [품목명·수량·단가·금액] 4개 표준 열로 통일하는 스크립트를 만들어줘" 요청 → 코드 생성·실행 → 오류 시 재질의·재실행 반복</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거래처에 관계없이 동일한 4개 열 구조로 통일된 인보이스 마스터 파일</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Orange3와의 차이 — Merge 위젯은 '이미 같은 열 구조인 파일 합치기'는 잘하지만, '거래처마다 다른 이름 매핑'처럼 조건이 계속 늘어나는 작업은 위젯만으로 구현이 어렵다. 1.3.8의 '파이썬 기반 에이전트=제한 없는 맞춤형 자동화'가 바로 이 상황이다.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barChar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8 — 거래처별 리스크 스코어 자동 집계 에이전트</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마스터 데이터셋이 누적될수록 어떤 거래처가 반복적으로 리스크를 유발하는지 사람이 매번 세는 것은 비효율적 — 거래처별 리스크 점수를 자동 계산·랭킹</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Group By 위젯으로 거래처별 리스크 카테고리 건수 집계 → Feature Constructor(또는 Formula)로 건수×가중치 합산 → Sort 위젯으로 내림차순 정렬</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[거래처명, 리스크 스코어, 주요 리스크 유형] 랭킹표 (예: OO물산 11점, △△트레이딩 4점)</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예제5가 '전체적으로 어떤 리스크가 많은가'를 본다면, 예제8은 '어떤 거래처를 우선 관리해야 하는가'를 답한다는 점에서 상호 보완적이다.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link.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예제 2·3·4·5·8 통합 웹 UI (Streamlit)</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1400"/>
              </a:spcAft>
              <a:buSzPct val="100000"/>
              <a:buChar char="•"/>
            </a:pPr>
            <a:r>
              <a:rPr lang="en-US" sz="1600" dirty="0">
                <a:solidFill>
                  <a:srgbClr val="33415C"/>
                </a:solidFill>
                <a:latin typeface="Noto Sans CJK KR" pitchFamily="34" charset="0"/>
                <a:ea typeface="Noto Sans CJK KR" pitchFamily="34" charset="-122"/>
                <a:cs typeface="Noto Sans CJK KR" pitchFamily="34" charset="-120"/>
              </a:rPr>
              <a:t>지금까지 각 예제를 콘솔에서 따로 실행했다면, 하나의 웹 화면에서 예제를 선택하고 파일을 업로드하는 것만으로 결과를 바로 확인할 수 있는 통합 UI로도 만들 수 있다</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화면 구성</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왼쪽 사이드바에서 5개 예제 중 라디오 버튼으로 선택 → 예제에 맞는 파일 업로드 칸 자동 표시 → 예제 성격에 맞는 결과(지표카드/막대그래프/랭킹표 등) 출력</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실행 방법</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pip install streamlit pandas → streamlit run app.py</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계산 로직은 앞서 검증한 각 예제의 코드와 동일하게 유지된다 — Orange, 콘솔 스크립트, 웹 UI 세 가지 방식이 같은 결과를 낸다는 것이 핵심이다.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heck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Streamlit 통합 UI — 실제 실행 검증 결과</a:t>
            </a:r>
            <a:endParaRPr lang="en-US" sz="2600" dirty="0"/>
          </a:p>
        </p:txBody>
      </p:sp>
      <p:sp>
        <p:nvSpPr>
          <p:cNvPr id="5" name="Shape 2"/>
          <p:cNvSpPr/>
          <p:nvPr/>
        </p:nvSpPr>
        <p:spPr>
          <a:xfrm>
            <a:off x="548640" y="1691640"/>
            <a:ext cx="3515258" cy="2286000"/>
          </a:xfrm>
          <a:prstGeom prst="roundRect">
            <a:avLst>
              <a:gd name="adj" fmla="val 3200"/>
            </a:avLst>
          </a:prstGeom>
          <a:solidFill>
            <a:srgbClr val="1B2A4A"/>
          </a:solidFill>
          <a:ln/>
        </p:spPr>
        <p:txBody>
          <a:bodyPr/>
          <a:lstStyle/>
          <a:p>
            <a:endParaRPr lang="ko-KR" altLang="en-US"/>
          </a:p>
        </p:txBody>
      </p:sp>
      <p:sp>
        <p:nvSpPr>
          <p:cNvPr id="6" name="Text 3"/>
          <p:cNvSpPr/>
          <p:nvPr/>
        </p:nvSpPr>
        <p:spPr>
          <a:xfrm>
            <a:off x="685800" y="1920240"/>
            <a:ext cx="3240938" cy="914400"/>
          </a:xfrm>
          <a:prstGeom prst="rect">
            <a:avLst/>
          </a:prstGeom>
          <a:noFill/>
          <a:ln/>
        </p:spPr>
        <p:txBody>
          <a:bodyPr wrap="square" rtlCol="0" anchor="ctr"/>
          <a:lstStyle/>
          <a:p>
            <a:pPr marL="0" indent="0" algn="ctr">
              <a:buNone/>
            </a:pPr>
            <a:r>
              <a:rPr lang="en-US" sz="3000" b="1" dirty="0">
                <a:solidFill>
                  <a:srgbClr val="D98E2B"/>
                </a:solidFill>
                <a:latin typeface="Noto Sans CJK KR" pitchFamily="34" charset="0"/>
                <a:ea typeface="Noto Sans CJK KR" pitchFamily="34" charset="-122"/>
                <a:cs typeface="Noto Sans CJK KR" pitchFamily="34" charset="-120"/>
              </a:rPr>
              <a:t>5/5</a:t>
            </a:r>
            <a:endParaRPr lang="en-US" sz="3000" dirty="0"/>
          </a:p>
        </p:txBody>
      </p:sp>
      <p:sp>
        <p:nvSpPr>
          <p:cNvPr id="7" name="Text 4"/>
          <p:cNvSpPr/>
          <p:nvPr/>
        </p:nvSpPr>
        <p:spPr>
          <a:xfrm>
            <a:off x="685800" y="2880360"/>
            <a:ext cx="3240938" cy="960120"/>
          </a:xfrm>
          <a:prstGeom prst="rect">
            <a:avLst/>
          </a:prstGeom>
          <a:noFill/>
          <a:ln/>
        </p:spPr>
        <p:txBody>
          <a:bodyPr wrap="square" rtlCol="0" anchor="t"/>
          <a:lstStyle/>
          <a:p>
            <a:pPr marL="0" indent="0" algn="ctr">
              <a:buNone/>
            </a:pPr>
            <a:r>
              <a:rPr lang="en-US" sz="1250" dirty="0">
                <a:solidFill>
                  <a:srgbClr val="FFFFFF"/>
                </a:solidFill>
                <a:latin typeface="Noto Sans CJK KR" pitchFamily="34" charset="0"/>
                <a:ea typeface="Noto Sans CJK KR" pitchFamily="34" charset="-122"/>
                <a:cs typeface="Noto Sans CJK KR" pitchFamily="34" charset="-120"/>
              </a:rPr>
              <a:t>예제 2·3·4·5·8 전부 실제 실행해 결과 화면 확보</a:t>
            </a:r>
            <a:endParaRPr lang="en-US" sz="1250" dirty="0"/>
          </a:p>
        </p:txBody>
      </p:sp>
      <p:sp>
        <p:nvSpPr>
          <p:cNvPr id="8" name="Shape 5"/>
          <p:cNvSpPr/>
          <p:nvPr/>
        </p:nvSpPr>
        <p:spPr>
          <a:xfrm>
            <a:off x="4338218" y="1691640"/>
            <a:ext cx="3515258" cy="2286000"/>
          </a:xfrm>
          <a:prstGeom prst="roundRect">
            <a:avLst>
              <a:gd name="adj" fmla="val 3200"/>
            </a:avLst>
          </a:prstGeom>
          <a:solidFill>
            <a:srgbClr val="E8EEF7"/>
          </a:solidFill>
          <a:ln/>
        </p:spPr>
        <p:txBody>
          <a:bodyPr/>
          <a:lstStyle/>
          <a:p>
            <a:endParaRPr lang="ko-KR" altLang="en-US"/>
          </a:p>
        </p:txBody>
      </p:sp>
      <p:sp>
        <p:nvSpPr>
          <p:cNvPr id="9" name="Text 6"/>
          <p:cNvSpPr/>
          <p:nvPr/>
        </p:nvSpPr>
        <p:spPr>
          <a:xfrm>
            <a:off x="4475378" y="1920240"/>
            <a:ext cx="3240938" cy="914400"/>
          </a:xfrm>
          <a:prstGeom prst="rect">
            <a:avLst/>
          </a:prstGeom>
          <a:noFill/>
          <a:ln/>
        </p:spPr>
        <p:txBody>
          <a:bodyPr wrap="square" rtlCol="0" anchor="ctr"/>
          <a:lstStyle/>
          <a:p>
            <a:pPr marL="0" indent="0" algn="ctr">
              <a:buNone/>
            </a:pPr>
            <a:r>
              <a:rPr lang="en-US" sz="3000" b="1" dirty="0">
                <a:solidFill>
                  <a:srgbClr val="1B2A4A"/>
                </a:solidFill>
                <a:latin typeface="Noto Sans CJK KR" pitchFamily="34" charset="0"/>
                <a:ea typeface="Noto Sans CJK KR" pitchFamily="34" charset="-122"/>
                <a:cs typeface="Noto Sans CJK KR" pitchFamily="34" charset="-120"/>
              </a:rPr>
              <a:t>13→15행</a:t>
            </a:r>
            <a:endParaRPr lang="en-US" sz="3000" dirty="0"/>
          </a:p>
        </p:txBody>
      </p:sp>
      <p:sp>
        <p:nvSpPr>
          <p:cNvPr id="10" name="Text 7"/>
          <p:cNvSpPr/>
          <p:nvPr/>
        </p:nvSpPr>
        <p:spPr>
          <a:xfrm>
            <a:off x="4475378" y="2880360"/>
            <a:ext cx="3240938" cy="960120"/>
          </a:xfrm>
          <a:prstGeom prst="rect">
            <a:avLst/>
          </a:prstGeom>
          <a:noFill/>
          <a:ln/>
        </p:spPr>
        <p:txBody>
          <a:bodyPr wrap="square" rtlCol="0" anchor="t"/>
          <a:lstStyle/>
          <a:p>
            <a:pPr marL="0" indent="0" algn="ctr">
              <a:buNone/>
            </a:pPr>
            <a:r>
              <a:rPr lang="en-US" sz="1250" dirty="0">
                <a:solidFill>
                  <a:srgbClr val="33415C"/>
                </a:solidFill>
                <a:latin typeface="Noto Sans CJK KR" pitchFamily="34" charset="0"/>
                <a:ea typeface="Noto Sans CJK KR" pitchFamily="34" charset="-122"/>
                <a:cs typeface="Noto Sans CJK KR" pitchFamily="34" charset="-120"/>
              </a:rPr>
              <a:t>예제3: 신규 서류 2건 반영(INV-014·015) 후 행수 변화, 문서 기록과 정확히 일치</a:t>
            </a:r>
            <a:endParaRPr lang="en-US" sz="1250" dirty="0"/>
          </a:p>
        </p:txBody>
      </p:sp>
      <p:sp>
        <p:nvSpPr>
          <p:cNvPr id="11" name="Shape 8"/>
          <p:cNvSpPr/>
          <p:nvPr/>
        </p:nvSpPr>
        <p:spPr>
          <a:xfrm>
            <a:off x="8127797" y="1691640"/>
            <a:ext cx="3515258" cy="2286000"/>
          </a:xfrm>
          <a:prstGeom prst="roundRect">
            <a:avLst>
              <a:gd name="adj" fmla="val 3200"/>
            </a:avLst>
          </a:prstGeom>
          <a:solidFill>
            <a:srgbClr val="E8EEF7"/>
          </a:solidFill>
          <a:ln/>
        </p:spPr>
        <p:txBody>
          <a:bodyPr/>
          <a:lstStyle/>
          <a:p>
            <a:endParaRPr lang="ko-KR" altLang="en-US"/>
          </a:p>
        </p:txBody>
      </p:sp>
      <p:sp>
        <p:nvSpPr>
          <p:cNvPr id="12" name="Text 9"/>
          <p:cNvSpPr/>
          <p:nvPr/>
        </p:nvSpPr>
        <p:spPr>
          <a:xfrm>
            <a:off x="8264957" y="1920240"/>
            <a:ext cx="3240938" cy="914400"/>
          </a:xfrm>
          <a:prstGeom prst="rect">
            <a:avLst/>
          </a:prstGeom>
          <a:noFill/>
          <a:ln/>
        </p:spPr>
        <p:txBody>
          <a:bodyPr wrap="square" rtlCol="0" anchor="ctr"/>
          <a:lstStyle/>
          <a:p>
            <a:pPr marL="0" indent="0" algn="ctr">
              <a:buNone/>
            </a:pPr>
            <a:r>
              <a:rPr lang="en-US" sz="3000" b="1" dirty="0">
                <a:solidFill>
                  <a:srgbClr val="1B2A4A"/>
                </a:solidFill>
                <a:latin typeface="Noto Sans CJK KR" pitchFamily="34" charset="0"/>
                <a:ea typeface="Noto Sans CJK KR" pitchFamily="34" charset="-122"/>
                <a:cs typeface="Noto Sans CJK KR" pitchFamily="34" charset="-120"/>
              </a:rPr>
              <a:t>100% 일치</a:t>
            </a:r>
            <a:endParaRPr lang="en-US" sz="3000" dirty="0"/>
          </a:p>
        </p:txBody>
      </p:sp>
      <p:sp>
        <p:nvSpPr>
          <p:cNvPr id="13" name="Text 10"/>
          <p:cNvSpPr/>
          <p:nvPr/>
        </p:nvSpPr>
        <p:spPr>
          <a:xfrm>
            <a:off x="8264957" y="2880360"/>
            <a:ext cx="3240938" cy="960120"/>
          </a:xfrm>
          <a:prstGeom prst="rect">
            <a:avLst/>
          </a:prstGeom>
          <a:noFill/>
          <a:ln/>
        </p:spPr>
        <p:txBody>
          <a:bodyPr wrap="square" rtlCol="0" anchor="t"/>
          <a:lstStyle/>
          <a:p>
            <a:pPr marL="0" indent="0" algn="ctr">
              <a:buNone/>
            </a:pPr>
            <a:r>
              <a:rPr lang="en-US" sz="1250" dirty="0">
                <a:solidFill>
                  <a:srgbClr val="33415C"/>
                </a:solidFill>
                <a:latin typeface="Noto Sans CJK KR" pitchFamily="34" charset="0"/>
                <a:ea typeface="Noto Sans CJK KR" pitchFamily="34" charset="-122"/>
                <a:cs typeface="Noto Sans CJK KR" pitchFamily="34" charset="-120"/>
              </a:rPr>
              <a:t>예제2·4·5·8 모두 Orange3·파이썬 스크립트로 미리 검증한 값과 웹 UI 결과가 정확히 일치</a:t>
            </a:r>
            <a:endParaRPr lang="en-US" sz="1250" dirty="0"/>
          </a:p>
        </p:txBody>
      </p:sp>
      <p:sp>
        <p:nvSpPr>
          <p:cNvPr id="14" name="Shape 11"/>
          <p:cNvSpPr/>
          <p:nvPr/>
        </p:nvSpPr>
        <p:spPr>
          <a:xfrm>
            <a:off x="548640" y="4297680"/>
            <a:ext cx="11094415" cy="1051560"/>
          </a:xfrm>
          <a:prstGeom prst="roundRect">
            <a:avLst>
              <a:gd name="adj" fmla="val 6957"/>
            </a:avLst>
          </a:prstGeom>
          <a:solidFill>
            <a:srgbClr val="FBEEDC"/>
          </a:solidFill>
          <a:ln/>
        </p:spPr>
        <p:txBody>
          <a:bodyPr/>
          <a:lstStyle/>
          <a:p>
            <a:endParaRPr lang="ko-KR" altLang="en-US"/>
          </a:p>
        </p:txBody>
      </p:sp>
      <p:sp>
        <p:nvSpPr>
          <p:cNvPr id="15" name="Shape 12"/>
          <p:cNvSpPr/>
          <p:nvPr/>
        </p:nvSpPr>
        <p:spPr>
          <a:xfrm>
            <a:off x="713232" y="4498848"/>
            <a:ext cx="566928" cy="566928"/>
          </a:xfrm>
          <a:prstGeom prst="ellipse">
            <a:avLst/>
          </a:prstGeom>
          <a:solidFill>
            <a:srgbClr val="D98E2B"/>
          </a:solidFill>
          <a:ln/>
        </p:spPr>
        <p:txBody>
          <a:bodyPr/>
          <a:lstStyle/>
          <a:p>
            <a:endParaRPr lang="ko-KR" altLang="en-US"/>
          </a:p>
        </p:txBody>
      </p:sp>
      <p:pic>
        <p:nvPicPr>
          <p:cNvPr id="16" name="Image 1" descr="/home/claude/day2_ppt/icons/alertCircle.png"/>
          <p:cNvPicPr>
            <a:picLocks noChangeAspect="1"/>
          </p:cNvPicPr>
          <p:nvPr/>
        </p:nvPicPr>
        <p:blipFill>
          <a:blip r:embed="rId4"/>
          <a:stretch>
            <a:fillRect/>
          </a:stretch>
        </p:blipFill>
        <p:spPr>
          <a:xfrm>
            <a:off x="786933" y="4572549"/>
            <a:ext cx="419527" cy="419527"/>
          </a:xfrm>
          <a:prstGeom prst="rect">
            <a:avLst/>
          </a:prstGeom>
        </p:spPr>
      </p:pic>
      <p:sp>
        <p:nvSpPr>
          <p:cNvPr id="17" name="Text 13"/>
          <p:cNvSpPr/>
          <p:nvPr/>
        </p:nvSpPr>
        <p:spPr>
          <a:xfrm>
            <a:off x="1444752" y="4389120"/>
            <a:ext cx="9997135" cy="868680"/>
          </a:xfrm>
          <a:prstGeom prst="rect">
            <a:avLst/>
          </a:prstGeom>
          <a:noFill/>
          <a:ln/>
        </p:spPr>
        <p:txBody>
          <a:bodyPr wrap="square" rtlCol="0" anchor="ctr"/>
          <a:lstStyle/>
          <a:p>
            <a:pPr marL="0" indent="0">
              <a:buNone/>
            </a:pPr>
            <a:r>
              <a:rPr lang="en-US" sz="1300" dirty="0">
                <a:solidFill>
                  <a:srgbClr val="1B2A4A"/>
                </a:solidFill>
                <a:latin typeface="Noto Sans CJK KR" pitchFamily="34" charset="0"/>
                <a:ea typeface="Noto Sans CJK KR" pitchFamily="34" charset="-122"/>
                <a:cs typeface="Noto Sans CJK KR" pitchFamily="34" charset="-120"/>
              </a:rPr>
              <a:t>종합 확인 — 사이드바에서 예제를 전환할 때마다 업로드 칸과 결과 화면이 자동으로 바뀌고, 각 예제 계산 결과가 Orange3·콘솔 스크립트 결과와 모두 일치함이 확인됐다. '같은 로직이 세 가지 방식 모두에서 동일한 결과를 낸다'는 것이 실제로 증명됐다.</a:t>
            </a:r>
            <a:endParaRPr lang="en-US" sz="1300" dirty="0"/>
          </a:p>
        </p:txBody>
      </p:sp>
      <p:sp>
        <p:nvSpPr>
          <p:cNvPr id="18" name="Text 14"/>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9" name="Text 15"/>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terminal.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9 — 스캔 통관서류 OCR 자동 추출 에이전트 (Python)</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이미지 형태로 스캔된 PDF(예: 팩스로 받은 원산지증명서)는 지금까지의 실습(텍스트 파일 처리)으로는 다룰 수 없다 — 컴퓨터가 보기엔 글자가 아니라 그림이기 때문. OCR(광학문자인식)로 해결</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ChatGPT에게 "스캔된 PDF에서 텍스트를 추출하는 OCR 스크립트를 만들어줘" 요청 → 코드 생성·실행 → 추출 텍스트를 원본과 육안 대조해 오인식 확인</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검증을 마친 텍스트 — 오늘 Block A·B의 정제 파이프라인 입력값으로 그대로 재사용</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OCR 결과는 스캔 품질에 따라 정확도가 달라진다. 특히 숫자(HS Code, 금액)는 오인식되면 관세 계산 자체가 틀어질 수 있어('1,2OO'↔'1,200'), 1.3.7 할루시네이션 검증 원칙과 동일하게 원본 대조가 필요하다.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502920"/>
            <a:ext cx="10271455" cy="54864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에이전트 예제 10 — 리스크 정의서 자동 문서 생성 에이전트 (Python)</a:t>
            </a:r>
            <a:endParaRPr lang="en-US" sz="2600" dirty="0"/>
          </a:p>
        </p:txBody>
      </p:sp>
      <p:sp>
        <p:nvSpPr>
          <p:cNvPr id="5" name="Text 2"/>
          <p:cNvSpPr/>
          <p:nvPr/>
        </p:nvSpPr>
        <p:spPr>
          <a:xfrm>
            <a:off x="548640" y="1536192"/>
            <a:ext cx="11094415" cy="3246120"/>
          </a:xfrm>
          <a:prstGeom prst="rect">
            <a:avLst/>
          </a:prstGeom>
          <a:noFill/>
          <a:ln/>
        </p:spPr>
        <p:txBody>
          <a:bodyPr wrap="square" rtlCol="0" anchor="t"/>
          <a:lstStyle/>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목적</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Step13에서는 그래프·표·독소조항 목록을 사람이 직접 문서에 옮겨 정의서를 완성했다 — 이 에이전트는 같은 자료로 서식 갖춘 문서를 파이썬으로 자동 생성</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처리 흐름</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ChatGPT에게 "마스터 데이터셋의 표와 그래프 이미지를 넣어 제목·목차·표·이미지가 포함된 워드 문서를 자동 생성하는 스크립트를 만들어줘" 요청 → 코드 생성·실행 → 초안 검토·다듬기</a:t>
            </a:r>
            <a:endParaRPr lang="en-US" sz="1600" dirty="0"/>
          </a:p>
          <a:p>
            <a:pPr marL="228600" indent="-228600">
              <a:spcAft>
                <a:spcPts val="200"/>
              </a:spcAft>
              <a:buSzPct val="100000"/>
              <a:buChar char="•"/>
            </a:pPr>
            <a:r>
              <a:rPr lang="en-US" sz="1600" b="1" dirty="0">
                <a:solidFill>
                  <a:srgbClr val="1B2A4A"/>
                </a:solidFill>
                <a:latin typeface="Noto Sans CJK KR" pitchFamily="34" charset="0"/>
                <a:ea typeface="Noto Sans CJK KR" pitchFamily="34" charset="-122"/>
                <a:cs typeface="Noto Sans CJK KR" pitchFamily="34" charset="-120"/>
              </a:rPr>
              <a:t>출력</a:t>
            </a:r>
            <a:endParaRPr lang="en-US" sz="1600" dirty="0"/>
          </a:p>
          <a:p>
            <a:pPr marL="0" indent="0">
              <a:spcAft>
                <a:spcPts val="1400"/>
              </a:spcAft>
              <a:buNone/>
            </a:pPr>
            <a:r>
              <a:rPr lang="en-US" sz="1400" dirty="0">
                <a:solidFill>
                  <a:srgbClr val="33415C"/>
                </a:solidFill>
                <a:latin typeface="Noto Sans CJK KR" pitchFamily="34" charset="0"/>
                <a:ea typeface="Noto Sans CJK KR" pitchFamily="34" charset="-122"/>
                <a:cs typeface="Noto Sans CJK KR" pitchFamily="34" charset="-120"/>
              </a:rPr>
              <a:t>제목·표·그래프가 포함된 '자사 무역·ESG 장벽 리스크 정의서' 초안 문서 파일</a:t>
            </a:r>
            <a:endParaRPr lang="en-US" sz="1600" dirty="0"/>
          </a:p>
        </p:txBody>
      </p:sp>
      <p:sp>
        <p:nvSpPr>
          <p:cNvPr id="6" name="Shape 3"/>
          <p:cNvSpPr/>
          <p:nvPr/>
        </p:nvSpPr>
        <p:spPr>
          <a:xfrm>
            <a:off x="548640" y="5440680"/>
            <a:ext cx="11094415" cy="868680"/>
          </a:xfrm>
          <a:prstGeom prst="roundRect">
            <a:avLst>
              <a:gd name="adj" fmla="val 8421"/>
            </a:avLst>
          </a:prstGeom>
          <a:solidFill>
            <a:srgbClr val="FBEEDC"/>
          </a:solidFill>
          <a:ln/>
        </p:spPr>
        <p:txBody>
          <a:bodyPr/>
          <a:lstStyle/>
          <a:p>
            <a:endParaRPr lang="ko-KR" altLang="en-US"/>
          </a:p>
        </p:txBody>
      </p:sp>
      <p:sp>
        <p:nvSpPr>
          <p:cNvPr id="7" name="Shape 4"/>
          <p:cNvSpPr/>
          <p:nvPr/>
        </p:nvSpPr>
        <p:spPr>
          <a:xfrm>
            <a:off x="713232" y="5596128"/>
            <a:ext cx="548640" cy="548640"/>
          </a:xfrm>
          <a:prstGeom prst="ellipse">
            <a:avLst/>
          </a:prstGeom>
          <a:solidFill>
            <a:srgbClr val="D98E2B"/>
          </a:solidFill>
          <a:ln/>
        </p:spPr>
        <p:txBody>
          <a:bodyPr/>
          <a:lstStyle/>
          <a:p>
            <a:endParaRPr lang="ko-KR" altLang="en-US"/>
          </a:p>
        </p:txBody>
      </p:sp>
      <p:pic>
        <p:nvPicPr>
          <p:cNvPr id="8" name="Image 1" descr="/home/claude/day2_ppt/icons/alertCircle.png"/>
          <p:cNvPicPr>
            <a:picLocks noChangeAspect="1"/>
          </p:cNvPicPr>
          <p:nvPr/>
        </p:nvPicPr>
        <p:blipFill>
          <a:blip r:embed="rId4"/>
          <a:stretch>
            <a:fillRect/>
          </a:stretch>
        </p:blipFill>
        <p:spPr>
          <a:xfrm>
            <a:off x="784555" y="5667451"/>
            <a:ext cx="405994" cy="405994"/>
          </a:xfrm>
          <a:prstGeom prst="rect">
            <a:avLst/>
          </a:prstGeom>
        </p:spPr>
      </p:pic>
      <p:sp>
        <p:nvSpPr>
          <p:cNvPr id="9" name="Text 5"/>
          <p:cNvSpPr/>
          <p:nvPr/>
        </p:nvSpPr>
        <p:spPr>
          <a:xfrm>
            <a:off x="1417320" y="5513832"/>
            <a:ext cx="10042855" cy="731520"/>
          </a:xfrm>
          <a:prstGeom prst="rect">
            <a:avLst/>
          </a:prstGeom>
          <a:noFill/>
          <a:ln/>
        </p:spPr>
        <p:txBody>
          <a:bodyPr wrap="square" rtlCol="0" anchor="ctr"/>
          <a:lstStyle/>
          <a:p>
            <a:pPr marL="0" indent="0">
              <a:buNone/>
            </a:pPr>
            <a:r>
              <a:rPr lang="en-US" sz="1300" i="1" dirty="0">
                <a:solidFill>
                  <a:srgbClr val="1B2A4A"/>
                </a:solidFill>
                <a:latin typeface="Noto Sans CJK KR" pitchFamily="34" charset="0"/>
                <a:ea typeface="Noto Sans CJK KR" pitchFamily="34" charset="-122"/>
                <a:cs typeface="Noto Sans CJK KR" pitchFamily="34" charset="-120"/>
              </a:rPr>
              <a:t>Step13과의 차이 — Step13은 1회성 수작업이었다면, 이 에이전트는 스크립트로 만들어두어 마스터 데이터셋이 갱신될 때마다 재실행만 하면 정의서가 자동 재생성된다. 다만 배포 전 사람의 최종 검토는 항상 필요하다.</a:t>
            </a:r>
            <a:endParaRPr lang="en-US" sz="1300" dirty="0"/>
          </a:p>
        </p:txBody>
      </p:sp>
      <p:sp>
        <p:nvSpPr>
          <p:cNvPr id="10"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1"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fileText.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2.9</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실습 결과 제출 양식</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445770">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항목</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Noto Sans CJK KR" pitchFamily="34" charset="0"/>
                          <a:ea typeface="Noto Sans CJK KR" pitchFamily="34" charset="-122"/>
                          <a:cs typeface="Noto Sans CJK KR" pitchFamily="34" charset="-120"/>
                        </a:rPr>
                        <a:t>작성 내용</a:t>
                      </a:r>
                      <a:endParaRPr lang="en-US" sz="13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정제 전 결측값 건수</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예: 12건</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정제 후 표준화 항목</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예: 단위 kg 통일, 품명 공백 제거 등</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분석한 사유서 건수</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5건</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카테고리별 검출 건수</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HS Code 불일치 O건 / 수출제한품목 O건 / 원산지증빙누락 O건 / ESG근거미비 O건</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AI 분류 오류 발견 여부</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원문 대조 결과 이상 없음 / 재분류 필요 항목 기재</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에이전트 자동 출력 검증 결과</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수작업 결과와 일치 여부, 불일치 시 원인</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E8EEF7"/>
                    </a:solidFill>
                  </a:tcPr>
                </a:tc>
                <a:extLst>
                  <a:ext uri="{0D108BD9-81ED-4DB2-BD59-A6C34878D82A}">
                    <a16:rowId xmlns:a16="http://schemas.microsoft.com/office/drawing/2014/main" val="10006"/>
                  </a:ext>
                </a:extLst>
              </a:tr>
              <a:tr h="445770">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오늘 실습에서 느낀 인사이트</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3415C"/>
                          </a:solidFill>
                          <a:latin typeface="Noto Sans CJK KR" pitchFamily="34" charset="0"/>
                          <a:ea typeface="Noto Sans CJK KR" pitchFamily="34" charset="-122"/>
                          <a:cs typeface="Noto Sans CJK KR" pitchFamily="34" charset="-120"/>
                        </a:rPr>
                        <a:t>자유 서술 2~3문장</a:t>
                      </a:r>
                      <a:endParaRPr lang="en-US" sz="1250" dirty="0">
                        <a:latin typeface="Noto Sans CJK KR" charset="0"/>
                        <a:ea typeface="Noto Sans CJK KR" charset="0"/>
                        <a:cs typeface="Noto Sans CJK KR" charset="0"/>
                      </a:endParaRPr>
                    </a:p>
                  </a:txBody>
                  <a:tcPr anchor="ctr">
                    <a:lnL w="9525" cap="flat" cmpd="sng" algn="ctr">
                      <a:solidFill>
                        <a:srgbClr val="D7E3F2"/>
                      </a:solidFill>
                      <a:prstDash val="solid"/>
                      <a:round/>
                      <a:headEnd type="none" w="med" len="med"/>
                      <a:tailEnd type="none" w="med" len="med"/>
                    </a:lnL>
                    <a:lnR w="9525" cap="flat" cmpd="sng" algn="ctr">
                      <a:solidFill>
                        <a:srgbClr val="D7E3F2"/>
                      </a:solidFill>
                      <a:prstDash val="solid"/>
                      <a:round/>
                      <a:headEnd type="none" w="med" len="med"/>
                      <a:tailEnd type="none" w="med" len="med"/>
                    </a:lnR>
                    <a:lnT w="9525" cap="flat" cmpd="sng" algn="ctr">
                      <a:solidFill>
                        <a:srgbClr val="D7E3F2"/>
                      </a:solidFill>
                      <a:prstDash val="solid"/>
                      <a:round/>
                      <a:headEnd type="none" w="med" len="med"/>
                      <a:tailEnd type="none" w="med" len="med"/>
                    </a:lnT>
                    <a:lnB w="9525" cap="flat" cmpd="sng" algn="ctr">
                      <a:solidFill>
                        <a:srgbClr val="D7E3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3"/>
          <p:cNvSpPr/>
          <p:nvPr/>
        </p:nvSpPr>
        <p:spPr>
          <a:xfrm>
            <a:off x="548640" y="5532120"/>
            <a:ext cx="11094415" cy="777240"/>
          </a:xfrm>
          <a:prstGeom prst="roundRect">
            <a:avLst>
              <a:gd name="adj" fmla="val 9412"/>
            </a:avLst>
          </a:prstGeom>
          <a:solidFill>
            <a:srgbClr val="FBEEDC"/>
          </a:solidFill>
          <a:ln/>
        </p:spPr>
        <p:txBody>
          <a:bodyPr/>
          <a:lstStyle/>
          <a:p>
            <a:endParaRPr lang="ko-KR" altLang="en-US"/>
          </a:p>
        </p:txBody>
      </p:sp>
      <p:sp>
        <p:nvSpPr>
          <p:cNvPr id="8" name="Shape 4"/>
          <p:cNvSpPr/>
          <p:nvPr/>
        </p:nvSpPr>
        <p:spPr>
          <a:xfrm>
            <a:off x="694944" y="5650992"/>
            <a:ext cx="502920" cy="502920"/>
          </a:xfrm>
          <a:prstGeom prst="ellipse">
            <a:avLst/>
          </a:prstGeom>
          <a:solidFill>
            <a:srgbClr val="D98E2B"/>
          </a:solidFill>
          <a:ln/>
        </p:spPr>
        <p:txBody>
          <a:bodyPr/>
          <a:lstStyle/>
          <a:p>
            <a:endParaRPr lang="ko-KR" altLang="en-US"/>
          </a:p>
        </p:txBody>
      </p:sp>
      <p:pic>
        <p:nvPicPr>
          <p:cNvPr id="9" name="Image 1" descr="/home/claude/day2_ppt/icons/alertCircle.png"/>
          <p:cNvPicPr>
            <a:picLocks noChangeAspect="1"/>
          </p:cNvPicPr>
          <p:nvPr/>
        </p:nvPicPr>
        <p:blipFill>
          <a:blip r:embed="rId4"/>
          <a:stretch>
            <a:fillRect/>
          </a:stretch>
        </p:blipFill>
        <p:spPr>
          <a:xfrm>
            <a:off x="760324" y="5716372"/>
            <a:ext cx="372161" cy="372161"/>
          </a:xfrm>
          <a:prstGeom prst="rect">
            <a:avLst/>
          </a:prstGeom>
        </p:spPr>
      </p:pic>
      <p:sp>
        <p:nvSpPr>
          <p:cNvPr id="10" name="Text 5"/>
          <p:cNvSpPr/>
          <p:nvPr/>
        </p:nvSpPr>
        <p:spPr>
          <a:xfrm>
            <a:off x="1325880" y="5586984"/>
            <a:ext cx="10134295" cy="685800"/>
          </a:xfrm>
          <a:prstGeom prst="rect">
            <a:avLst/>
          </a:prstGeom>
          <a:noFill/>
          <a:ln/>
        </p:spPr>
        <p:txBody>
          <a:bodyPr wrap="square" rtlCol="0" anchor="ctr"/>
          <a:lstStyle/>
          <a:p>
            <a:pPr marL="0" indent="0">
              <a:buNone/>
            </a:pPr>
            <a:r>
              <a:rPr lang="en-US" sz="1250" i="1" dirty="0">
                <a:solidFill>
                  <a:srgbClr val="1B2A4A"/>
                </a:solidFill>
                <a:latin typeface="Noto Sans CJK KR" pitchFamily="34" charset="0"/>
                <a:ea typeface="Noto Sans CJK KR" pitchFamily="34" charset="-122"/>
                <a:cs typeface="Noto Sans CJK KR" pitchFamily="34" charset="-120"/>
              </a:rPr>
              <a:t>파일명 규칙: 2일차_실습결과_성명.xlsx — Step13에서 완성한 '자사 무역·ESG 장벽 리스크 정의서' 파일도 함께 제출</a:t>
            </a:r>
            <a:endParaRPr lang="en-US" sz="1250" dirty="0"/>
          </a:p>
        </p:txBody>
      </p:sp>
      <p:sp>
        <p:nvSpPr>
          <p:cNvPr id="11" name="Text 6"/>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2" name="Text 7"/>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B2A4A"/>
          </a:solidFill>
          <a:ln/>
        </p:spPr>
        <p:txBody>
          <a:bodyPr/>
          <a:lstStyle/>
          <a:p>
            <a:endParaRPr lang="ko-KR" altLang="en-US"/>
          </a:p>
        </p:txBody>
      </p:sp>
      <p:pic>
        <p:nvPicPr>
          <p:cNvPr id="3" name="Image 0" descr="/home/claude/day2_ppt/icons/checkCircle.png"/>
          <p:cNvPicPr>
            <a:picLocks noChangeAspect="1"/>
          </p:cNvPicPr>
          <p:nvPr/>
        </p:nvPicPr>
        <p:blipFill>
          <a:blip r:embed="rId3"/>
          <a:stretch>
            <a:fillRect/>
          </a:stretch>
        </p:blipFill>
        <p:spPr>
          <a:xfrm>
            <a:off x="622341" y="530901"/>
            <a:ext cx="419527" cy="419527"/>
          </a:xfrm>
          <a:prstGeom prst="rect">
            <a:avLst/>
          </a:prstGeom>
        </p:spPr>
      </p:pic>
      <p:sp>
        <p:nvSpPr>
          <p:cNvPr id="4" name="Text 1"/>
          <p:cNvSpPr/>
          <p:nvPr/>
        </p:nvSpPr>
        <p:spPr>
          <a:xfrm>
            <a:off x="1371600" y="438912"/>
            <a:ext cx="7315200" cy="256032"/>
          </a:xfrm>
          <a:prstGeom prst="rect">
            <a:avLst/>
          </a:prstGeom>
          <a:noFill/>
          <a:ln/>
        </p:spPr>
        <p:txBody>
          <a:bodyPr wrap="square" rtlCol="0" anchor="ctr"/>
          <a:lstStyle/>
          <a:p>
            <a:pPr marL="0" indent="0">
              <a:buNone/>
            </a:pPr>
            <a:r>
              <a:rPr lang="en-US" sz="1300" b="1" dirty="0">
                <a:solidFill>
                  <a:srgbClr val="D98E2B"/>
                </a:solidFill>
                <a:latin typeface="Noto Sans CJK KR" pitchFamily="34" charset="0"/>
                <a:ea typeface="Noto Sans CJK KR" pitchFamily="34" charset="-122"/>
                <a:cs typeface="Noto Sans CJK KR" pitchFamily="34" charset="-120"/>
              </a:rPr>
              <a:t>2.10</a:t>
            </a:r>
            <a:endParaRPr lang="en-US" sz="1300" dirty="0"/>
          </a:p>
        </p:txBody>
      </p:sp>
      <p:sp>
        <p:nvSpPr>
          <p:cNvPr id="5" name="Text 2"/>
          <p:cNvSpPr/>
          <p:nvPr/>
        </p:nvSpPr>
        <p:spPr>
          <a:xfrm>
            <a:off x="1371600" y="676656"/>
            <a:ext cx="10271455" cy="457200"/>
          </a:xfrm>
          <a:prstGeom prst="rect">
            <a:avLst/>
          </a:prstGeom>
          <a:noFill/>
          <a:ln/>
        </p:spPr>
        <p:txBody>
          <a:bodyPr wrap="square" rtlCol="0" anchor="ctr"/>
          <a:lstStyle/>
          <a:p>
            <a:pPr marL="0" indent="0">
              <a:buNone/>
            </a:pPr>
            <a:r>
              <a:rPr lang="en-US" sz="2600" b="1" dirty="0">
                <a:solidFill>
                  <a:srgbClr val="1B2A4A"/>
                </a:solidFill>
                <a:latin typeface="Noto Sans CJK KR" pitchFamily="34" charset="0"/>
                <a:ea typeface="Noto Sans CJK KR" pitchFamily="34" charset="-122"/>
                <a:cs typeface="Noto Sans CJK KR" pitchFamily="34" charset="-120"/>
              </a:rPr>
              <a:t>정리 및 다음 날 연계 — 2일차 자가진단</a:t>
            </a:r>
            <a:endParaRPr lang="en-US" sz="2600" dirty="0"/>
          </a:p>
        </p:txBody>
      </p:sp>
      <p:sp>
        <p:nvSpPr>
          <p:cNvPr id="6" name="Text 3"/>
          <p:cNvSpPr/>
          <p:nvPr/>
        </p:nvSpPr>
        <p:spPr>
          <a:xfrm>
            <a:off x="548640" y="1600200"/>
            <a:ext cx="11094415" cy="457200"/>
          </a:xfrm>
          <a:prstGeom prst="rect">
            <a:avLst/>
          </a:prstGeom>
          <a:noFill/>
          <a:ln/>
        </p:spPr>
        <p:txBody>
          <a:bodyPr wrap="square" rtlCol="0" anchor="ctr"/>
          <a:lstStyle/>
          <a:p>
            <a:pPr marL="0" indent="0">
              <a:buNone/>
            </a:pPr>
            <a:r>
              <a:rPr lang="en-US" sz="1400" i="1" dirty="0">
                <a:solidFill>
                  <a:srgbClr val="33415C"/>
                </a:solidFill>
                <a:latin typeface="Noto Sans CJK KR" pitchFamily="34" charset="0"/>
                <a:ea typeface="Noto Sans CJK KR" pitchFamily="34" charset="-122"/>
                <a:cs typeface="Noto Sans CJK KR" pitchFamily="34" charset="-120"/>
              </a:rPr>
              <a:t>오늘은 비정형·반정형 통관 서류를 AI로 정제해 정형 데이터로 만들고, 통관 거부 사유서에서 리스크 키워드를 자동 추출·분류해 마스터 데이터셋을 구축하는 과정을 익혔다. 이 처리 로직을 Orange3로 자동화하는 것까지 경험했다.</a:t>
            </a:r>
            <a:endParaRPr lang="en-US" sz="1400" dirty="0"/>
          </a:p>
        </p:txBody>
      </p:sp>
      <p:sp>
        <p:nvSpPr>
          <p:cNvPr id="7" name="Shape 4"/>
          <p:cNvSpPr/>
          <p:nvPr/>
        </p:nvSpPr>
        <p:spPr>
          <a:xfrm>
            <a:off x="548640" y="2155789"/>
            <a:ext cx="384048" cy="384048"/>
          </a:xfrm>
          <a:prstGeom prst="roundRect">
            <a:avLst>
              <a:gd name="adj" fmla="val 14286"/>
            </a:avLst>
          </a:prstGeom>
          <a:solidFill>
            <a:srgbClr val="FFFFFF"/>
          </a:solidFill>
          <a:ln w="19050">
            <a:solidFill>
              <a:srgbClr val="1B2A4A"/>
            </a:solidFill>
            <a:prstDash val="solid"/>
          </a:ln>
        </p:spPr>
        <p:txBody>
          <a:bodyPr/>
          <a:lstStyle/>
          <a:p>
            <a:endParaRPr lang="ko-KR" altLang="en-US"/>
          </a:p>
        </p:txBody>
      </p:sp>
      <p:sp>
        <p:nvSpPr>
          <p:cNvPr id="8" name="Text 5"/>
          <p:cNvSpPr/>
          <p:nvPr/>
        </p:nvSpPr>
        <p:spPr>
          <a:xfrm>
            <a:off x="1097280" y="2103120"/>
            <a:ext cx="10545775" cy="658368"/>
          </a:xfrm>
          <a:prstGeom prst="rect">
            <a:avLst/>
          </a:prstGeom>
          <a:noFill/>
          <a:ln/>
        </p:spPr>
        <p:txBody>
          <a:bodyPr wrap="square" rtlCol="0" anchor="ctr"/>
          <a:lstStyle/>
          <a:p>
            <a:pPr marL="0" indent="0">
              <a:buNone/>
            </a:pPr>
            <a:r>
              <a:rPr lang="en-US" sz="1450" dirty="0">
                <a:solidFill>
                  <a:srgbClr val="1B2A4A"/>
                </a:solidFill>
                <a:latin typeface="Noto Sans CJK KR" pitchFamily="34" charset="0"/>
                <a:ea typeface="Noto Sans CJK KR" pitchFamily="34" charset="-122"/>
                <a:cs typeface="Noto Sans CJK KR" pitchFamily="34" charset="-120"/>
              </a:rPr>
              <a:t>나는 결측값·중복·단위 불일치를 AI 프롬프트로 찾아 정제할 수 있다.</a:t>
            </a:r>
            <a:endParaRPr lang="en-US" sz="1450" dirty="0"/>
          </a:p>
        </p:txBody>
      </p:sp>
      <p:sp>
        <p:nvSpPr>
          <p:cNvPr id="9" name="Shape 6"/>
          <p:cNvSpPr/>
          <p:nvPr/>
        </p:nvSpPr>
        <p:spPr>
          <a:xfrm>
            <a:off x="548640" y="2814157"/>
            <a:ext cx="384048" cy="384048"/>
          </a:xfrm>
          <a:prstGeom prst="roundRect">
            <a:avLst>
              <a:gd name="adj" fmla="val 14286"/>
            </a:avLst>
          </a:prstGeom>
          <a:solidFill>
            <a:srgbClr val="FFFFFF"/>
          </a:solidFill>
          <a:ln w="19050">
            <a:solidFill>
              <a:srgbClr val="1B2A4A"/>
            </a:solidFill>
            <a:prstDash val="solid"/>
          </a:ln>
        </p:spPr>
        <p:txBody>
          <a:bodyPr/>
          <a:lstStyle/>
          <a:p>
            <a:endParaRPr lang="ko-KR" altLang="en-US"/>
          </a:p>
        </p:txBody>
      </p:sp>
      <p:sp>
        <p:nvSpPr>
          <p:cNvPr id="10" name="Text 7"/>
          <p:cNvSpPr/>
          <p:nvPr/>
        </p:nvSpPr>
        <p:spPr>
          <a:xfrm>
            <a:off x="1097280" y="2761488"/>
            <a:ext cx="10545775" cy="658368"/>
          </a:xfrm>
          <a:prstGeom prst="rect">
            <a:avLst/>
          </a:prstGeom>
          <a:noFill/>
          <a:ln/>
        </p:spPr>
        <p:txBody>
          <a:bodyPr wrap="square" rtlCol="0" anchor="ctr"/>
          <a:lstStyle/>
          <a:p>
            <a:pPr marL="0" indent="0">
              <a:buNone/>
            </a:pPr>
            <a:r>
              <a:rPr lang="en-US" sz="1450" dirty="0">
                <a:solidFill>
                  <a:srgbClr val="1B2A4A"/>
                </a:solidFill>
                <a:latin typeface="Noto Sans CJK KR" pitchFamily="34" charset="0"/>
                <a:ea typeface="Noto Sans CJK KR" pitchFamily="34" charset="-122"/>
                <a:cs typeface="Noto Sans CJK KR" pitchFamily="34" charset="-120"/>
              </a:rPr>
              <a:t>나는 근거 없는 값을 임의로 채우지 않고, 확인이 필요한 항목을 구분해낼 수 있다.</a:t>
            </a:r>
            <a:endParaRPr lang="en-US" sz="1450" dirty="0"/>
          </a:p>
        </p:txBody>
      </p:sp>
      <p:sp>
        <p:nvSpPr>
          <p:cNvPr id="11" name="Shape 8"/>
          <p:cNvSpPr/>
          <p:nvPr/>
        </p:nvSpPr>
        <p:spPr>
          <a:xfrm>
            <a:off x="548640" y="3472525"/>
            <a:ext cx="384048" cy="384048"/>
          </a:xfrm>
          <a:prstGeom prst="roundRect">
            <a:avLst>
              <a:gd name="adj" fmla="val 14286"/>
            </a:avLst>
          </a:prstGeom>
          <a:solidFill>
            <a:srgbClr val="FFFFFF"/>
          </a:solidFill>
          <a:ln w="19050">
            <a:solidFill>
              <a:srgbClr val="1B2A4A"/>
            </a:solidFill>
            <a:prstDash val="solid"/>
          </a:ln>
        </p:spPr>
        <p:txBody>
          <a:bodyPr/>
          <a:lstStyle/>
          <a:p>
            <a:endParaRPr lang="ko-KR" altLang="en-US"/>
          </a:p>
        </p:txBody>
      </p:sp>
      <p:sp>
        <p:nvSpPr>
          <p:cNvPr id="12" name="Text 9"/>
          <p:cNvSpPr/>
          <p:nvPr/>
        </p:nvSpPr>
        <p:spPr>
          <a:xfrm>
            <a:off x="1097280" y="3419856"/>
            <a:ext cx="10545775" cy="658368"/>
          </a:xfrm>
          <a:prstGeom prst="rect">
            <a:avLst/>
          </a:prstGeom>
          <a:noFill/>
          <a:ln/>
        </p:spPr>
        <p:txBody>
          <a:bodyPr wrap="square" rtlCol="0" anchor="ctr"/>
          <a:lstStyle/>
          <a:p>
            <a:pPr marL="0" indent="0">
              <a:buNone/>
            </a:pPr>
            <a:r>
              <a:rPr lang="en-US" sz="1450" dirty="0">
                <a:solidFill>
                  <a:srgbClr val="1B2A4A"/>
                </a:solidFill>
                <a:latin typeface="Noto Sans CJK KR" pitchFamily="34" charset="0"/>
                <a:ea typeface="Noto Sans CJK KR" pitchFamily="34" charset="-122"/>
                <a:cs typeface="Noto Sans CJK KR" pitchFamily="34" charset="-120"/>
              </a:rPr>
              <a:t>나는 비정형 사유서에서 리스크 키워드를 추출하고 정해진 카테고리로 분류할 수 있다.</a:t>
            </a:r>
            <a:endParaRPr lang="en-US" sz="1450" dirty="0"/>
          </a:p>
        </p:txBody>
      </p:sp>
      <p:sp>
        <p:nvSpPr>
          <p:cNvPr id="13" name="Shape 10"/>
          <p:cNvSpPr/>
          <p:nvPr/>
        </p:nvSpPr>
        <p:spPr>
          <a:xfrm>
            <a:off x="548640" y="4130893"/>
            <a:ext cx="384048" cy="384048"/>
          </a:xfrm>
          <a:prstGeom prst="roundRect">
            <a:avLst>
              <a:gd name="adj" fmla="val 14286"/>
            </a:avLst>
          </a:prstGeom>
          <a:solidFill>
            <a:srgbClr val="FFFFFF"/>
          </a:solidFill>
          <a:ln w="19050">
            <a:solidFill>
              <a:srgbClr val="1B2A4A"/>
            </a:solidFill>
            <a:prstDash val="solid"/>
          </a:ln>
        </p:spPr>
        <p:txBody>
          <a:bodyPr/>
          <a:lstStyle/>
          <a:p>
            <a:endParaRPr lang="ko-KR" altLang="en-US"/>
          </a:p>
        </p:txBody>
      </p:sp>
      <p:sp>
        <p:nvSpPr>
          <p:cNvPr id="14" name="Text 11"/>
          <p:cNvSpPr/>
          <p:nvPr/>
        </p:nvSpPr>
        <p:spPr>
          <a:xfrm>
            <a:off x="1097280" y="4078224"/>
            <a:ext cx="10545775" cy="658368"/>
          </a:xfrm>
          <a:prstGeom prst="rect">
            <a:avLst/>
          </a:prstGeom>
          <a:noFill/>
          <a:ln/>
        </p:spPr>
        <p:txBody>
          <a:bodyPr wrap="square" rtlCol="0" anchor="ctr"/>
          <a:lstStyle/>
          <a:p>
            <a:pPr marL="0" indent="0">
              <a:buNone/>
            </a:pPr>
            <a:r>
              <a:rPr lang="en-US" sz="1450" dirty="0">
                <a:solidFill>
                  <a:srgbClr val="1B2A4A"/>
                </a:solidFill>
                <a:latin typeface="Noto Sans CJK KR" pitchFamily="34" charset="0"/>
                <a:ea typeface="Noto Sans CJK KR" pitchFamily="34" charset="-122"/>
                <a:cs typeface="Noto Sans CJK KR" pitchFamily="34" charset="-120"/>
              </a:rPr>
              <a:t>나는 Orange3로 오늘 진행한 정제·분류 과정을 반복 가능한 워크플로우로 조립해봤다.</a:t>
            </a:r>
            <a:endParaRPr lang="en-US" sz="1450" dirty="0"/>
          </a:p>
        </p:txBody>
      </p:sp>
      <p:sp>
        <p:nvSpPr>
          <p:cNvPr id="15" name="Shape 12"/>
          <p:cNvSpPr/>
          <p:nvPr/>
        </p:nvSpPr>
        <p:spPr>
          <a:xfrm>
            <a:off x="548640" y="4789261"/>
            <a:ext cx="384048" cy="384048"/>
          </a:xfrm>
          <a:prstGeom prst="roundRect">
            <a:avLst>
              <a:gd name="adj" fmla="val 14286"/>
            </a:avLst>
          </a:prstGeom>
          <a:solidFill>
            <a:srgbClr val="FFFFFF"/>
          </a:solidFill>
          <a:ln w="19050">
            <a:solidFill>
              <a:srgbClr val="1B2A4A"/>
            </a:solidFill>
            <a:prstDash val="solid"/>
          </a:ln>
        </p:spPr>
        <p:txBody>
          <a:bodyPr/>
          <a:lstStyle/>
          <a:p>
            <a:endParaRPr lang="ko-KR" altLang="en-US"/>
          </a:p>
        </p:txBody>
      </p:sp>
      <p:sp>
        <p:nvSpPr>
          <p:cNvPr id="16" name="Text 13"/>
          <p:cNvSpPr/>
          <p:nvPr/>
        </p:nvSpPr>
        <p:spPr>
          <a:xfrm>
            <a:off x="1097280" y="4736592"/>
            <a:ext cx="10545775" cy="658368"/>
          </a:xfrm>
          <a:prstGeom prst="rect">
            <a:avLst/>
          </a:prstGeom>
          <a:noFill/>
          <a:ln/>
        </p:spPr>
        <p:txBody>
          <a:bodyPr wrap="square" rtlCol="0" anchor="ctr"/>
          <a:lstStyle/>
          <a:p>
            <a:pPr marL="0" indent="0">
              <a:buNone/>
            </a:pPr>
            <a:r>
              <a:rPr lang="en-US" sz="1450" dirty="0">
                <a:solidFill>
                  <a:srgbClr val="1B2A4A"/>
                </a:solidFill>
                <a:latin typeface="Noto Sans CJK KR" pitchFamily="34" charset="0"/>
                <a:ea typeface="Noto Sans CJK KR" pitchFamily="34" charset="-122"/>
                <a:cs typeface="Noto Sans CJK KR" pitchFamily="34" charset="-120"/>
              </a:rPr>
              <a:t>나는 오늘 만든 마스터 데이터셋이 3일차 실습에 어떻게 이어지는지 설명할 수 있다.</a:t>
            </a:r>
            <a:endParaRPr lang="en-US" sz="1450" dirty="0"/>
          </a:p>
        </p:txBody>
      </p:sp>
      <p:sp>
        <p:nvSpPr>
          <p:cNvPr id="17" name="Text 14"/>
          <p:cNvSpPr/>
          <p:nvPr/>
        </p:nvSpPr>
        <p:spPr>
          <a:xfrm>
            <a:off x="548640" y="6446520"/>
            <a:ext cx="11094415" cy="548640"/>
          </a:xfrm>
          <a:prstGeom prst="rect">
            <a:avLst/>
          </a:prstGeom>
          <a:noFill/>
          <a:ln/>
        </p:spPr>
        <p:txBody>
          <a:bodyPr wrap="square" rtlCol="0" anchor="ctr"/>
          <a:lstStyle/>
          <a:p>
            <a:pPr marL="0" indent="0">
              <a:buNone/>
            </a:pPr>
            <a:r>
              <a:rPr lang="en-US" sz="1250" i="1" dirty="0">
                <a:solidFill>
                  <a:srgbClr val="6B7A93"/>
                </a:solidFill>
                <a:latin typeface="Noto Sans CJK KR" pitchFamily="34" charset="0"/>
                <a:ea typeface="Noto Sans CJK KR" pitchFamily="34" charset="-122"/>
                <a:cs typeface="Noto Sans CJK KR" pitchFamily="34" charset="-120"/>
              </a:rPr>
              <a:t>3일차 예고 — 오늘 만든 마스터 데이터셋을 기반으로, 상품 설명 텍스트에서 HS Code를 자동 매핑하고 ESG 위반 가능성을 예측하는 AI 분류 모델 실습으로 이어간다.</a:t>
            </a:r>
            <a:endParaRPr lang="en-US" sz="1250" dirty="0"/>
          </a:p>
        </p:txBody>
      </p:sp>
      <p:sp>
        <p:nvSpPr>
          <p:cNvPr id="18" name="Text 15"/>
          <p:cNvSpPr/>
          <p:nvPr/>
        </p:nvSpPr>
        <p:spPr>
          <a:xfrm>
            <a:off x="548640" y="6473952"/>
            <a:ext cx="8686800" cy="274320"/>
          </a:xfrm>
          <a:prstGeom prst="rect">
            <a:avLst/>
          </a:prstGeom>
          <a:noFill/>
          <a:ln/>
        </p:spPr>
        <p:txBody>
          <a:bodyPr wrap="square" rtlCol="0" anchor="ctr"/>
          <a:lstStyle/>
          <a:p>
            <a:pPr marL="0" indent="0">
              <a:buNone/>
            </a:pPr>
            <a:r>
              <a:rPr lang="en-US" sz="900" dirty="0">
                <a:solidFill>
                  <a:srgbClr val="6B7A93"/>
                </a:solidFill>
                <a:latin typeface="Noto Sans CJK KR" pitchFamily="34" charset="0"/>
                <a:ea typeface="Noto Sans CJK KR" pitchFamily="34" charset="-122"/>
                <a:cs typeface="Noto Sans CJK KR" pitchFamily="34" charset="-120"/>
              </a:rPr>
              <a:t>생성형 AI 기반 무역 컴플라이언스 및 관세·ESG 리스크 최적화 과정  ·  2일차</a:t>
            </a:r>
            <a:endParaRPr lang="en-US" sz="900" dirty="0"/>
          </a:p>
        </p:txBody>
      </p:sp>
      <p:sp>
        <p:nvSpPr>
          <p:cNvPr id="19" name="Text 16"/>
          <p:cNvSpPr/>
          <p:nvPr/>
        </p:nvSpPr>
        <p:spPr>
          <a:xfrm>
            <a:off x="11094415" y="6473952"/>
            <a:ext cx="548640" cy="274320"/>
          </a:xfrm>
          <a:prstGeom prst="rect">
            <a:avLst/>
          </a:prstGeom>
          <a:noFill/>
          <a:ln/>
        </p:spPr>
        <p:txBody>
          <a:bodyPr wrap="square" rtlCol="0" anchor="ctr"/>
          <a:lstStyle/>
          <a:p>
            <a:pPr marL="0" indent="0" algn="r">
              <a:buNone/>
            </a:pPr>
            <a:r>
              <a:rPr lang="en-US" sz="900" dirty="0">
                <a:solidFill>
                  <a:srgbClr val="6B7A93"/>
                </a:solidFill>
                <a:latin typeface="Noto Sans CJK KR" pitchFamily="34" charset="0"/>
                <a:ea typeface="Noto Sans CJK KR" pitchFamily="34" charset="-122"/>
                <a:cs typeface="Noto Sans CJK KR"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48495" y="-1280160"/>
            <a:ext cx="3474720" cy="3474720"/>
          </a:xfrm>
          <a:prstGeom prst="ellipse">
            <a:avLst/>
          </a:prstGeom>
          <a:solidFill>
            <a:srgbClr val="13203A"/>
          </a:solidFill>
          <a:ln/>
        </p:spPr>
        <p:txBody>
          <a:bodyPr/>
          <a:lstStyle/>
          <a:p>
            <a:endParaRPr lang="ko-KR" altLang="en-US"/>
          </a:p>
        </p:txBody>
      </p:sp>
      <p:sp>
        <p:nvSpPr>
          <p:cNvPr id="3" name="Shape 1"/>
          <p:cNvSpPr/>
          <p:nvPr/>
        </p:nvSpPr>
        <p:spPr>
          <a:xfrm>
            <a:off x="-1280160" y="4846320"/>
            <a:ext cx="3108960" cy="3108960"/>
          </a:xfrm>
          <a:prstGeom prst="ellipse">
            <a:avLst/>
          </a:prstGeom>
          <a:solidFill>
            <a:srgbClr val="3E5C86">
              <a:alpha val="45000"/>
            </a:srgbClr>
          </a:solidFill>
          <a:ln/>
        </p:spPr>
        <p:txBody>
          <a:bodyPr/>
          <a:lstStyle/>
          <a:p>
            <a:endParaRPr lang="ko-KR" altLang="en-US"/>
          </a:p>
        </p:txBody>
      </p:sp>
      <p:sp>
        <p:nvSpPr>
          <p:cNvPr id="4" name="Text 2"/>
          <p:cNvSpPr/>
          <p:nvPr/>
        </p:nvSpPr>
        <p:spPr>
          <a:xfrm>
            <a:off x="548640" y="2286000"/>
            <a:ext cx="10515600" cy="1097280"/>
          </a:xfrm>
          <a:prstGeom prst="rect">
            <a:avLst/>
          </a:prstGeom>
          <a:noFill/>
          <a:ln/>
        </p:spPr>
        <p:txBody>
          <a:bodyPr wrap="square" rtlCol="0" anchor="ctr"/>
          <a:lstStyle/>
          <a:p>
            <a:pPr marL="0" indent="0">
              <a:buNone/>
            </a:pPr>
            <a:r>
              <a:rPr lang="en-US" sz="3400" b="1" dirty="0">
                <a:solidFill>
                  <a:srgbClr val="FFFFFF"/>
                </a:solidFill>
                <a:latin typeface="Noto Sans CJK KR" pitchFamily="34" charset="0"/>
                <a:ea typeface="Noto Sans CJK KR" pitchFamily="34" charset="-122"/>
                <a:cs typeface="Noto Sans CJK KR" pitchFamily="34" charset="-120"/>
              </a:rPr>
              <a:t>2일차를 마칩니다</a:t>
            </a:r>
            <a:endParaRPr lang="en-US" sz="3400" dirty="0"/>
          </a:p>
        </p:txBody>
      </p:sp>
      <p:sp>
        <p:nvSpPr>
          <p:cNvPr id="5" name="Text 3"/>
          <p:cNvSpPr/>
          <p:nvPr/>
        </p:nvSpPr>
        <p:spPr>
          <a:xfrm>
            <a:off x="548640" y="3246120"/>
            <a:ext cx="10058400" cy="822960"/>
          </a:xfrm>
          <a:prstGeom prst="rect">
            <a:avLst/>
          </a:prstGeom>
          <a:noFill/>
          <a:ln/>
        </p:spPr>
        <p:txBody>
          <a:bodyPr wrap="square" rtlCol="0" anchor="ctr"/>
          <a:lstStyle/>
          <a:p>
            <a:pPr marL="0" indent="0">
              <a:lnSpc>
                <a:spcPct val="120000"/>
              </a:lnSpc>
              <a:buNone/>
            </a:pPr>
            <a:r>
              <a:rPr lang="en-US" sz="1700" dirty="0">
                <a:solidFill>
                  <a:srgbClr val="E8EEF7"/>
                </a:solidFill>
                <a:latin typeface="Noto Sans CJK KR" pitchFamily="34" charset="0"/>
                <a:ea typeface="Noto Sans CJK KR" pitchFamily="34" charset="-122"/>
                <a:cs typeface="Noto Sans CJK KR" pitchFamily="34" charset="-120"/>
              </a:rPr>
              <a:t>오늘 만든 마스터 데이터셋과 Orange3 정제·분류 자동화 워크플로우는</a:t>
            </a:r>
            <a:endParaRPr lang="en-US" sz="1700" dirty="0"/>
          </a:p>
          <a:p>
            <a:pPr marL="0" indent="0">
              <a:lnSpc>
                <a:spcPct val="120000"/>
              </a:lnSpc>
              <a:buNone/>
            </a:pPr>
            <a:r>
              <a:rPr lang="en-US" sz="1700" dirty="0">
                <a:solidFill>
                  <a:srgbClr val="E8EEF7"/>
                </a:solidFill>
                <a:latin typeface="Noto Sans CJK KR" pitchFamily="34" charset="0"/>
                <a:ea typeface="Noto Sans CJK KR" pitchFamily="34" charset="-122"/>
                <a:cs typeface="Noto Sans CJK KR" pitchFamily="34" charset="-120"/>
              </a:rPr>
              <a:t>3일차 HS Code·ESG 리스크 예측 모델의 학습 데이터로 그대로 이어진다.</a:t>
            </a:r>
            <a:endParaRPr lang="en-US" sz="1700" dirty="0"/>
          </a:p>
        </p:txBody>
      </p:sp>
      <p:sp>
        <p:nvSpPr>
          <p:cNvPr id="6" name="Shape 4"/>
          <p:cNvSpPr/>
          <p:nvPr/>
        </p:nvSpPr>
        <p:spPr>
          <a:xfrm>
            <a:off x="548640" y="4434840"/>
            <a:ext cx="8686800" cy="777240"/>
          </a:xfrm>
          <a:prstGeom prst="roundRect">
            <a:avLst>
              <a:gd name="adj" fmla="val 9412"/>
            </a:avLst>
          </a:prstGeom>
          <a:solidFill>
            <a:srgbClr val="13203A"/>
          </a:solidFill>
          <a:ln/>
        </p:spPr>
        <p:txBody>
          <a:bodyPr/>
          <a:lstStyle/>
          <a:p>
            <a:endParaRPr lang="ko-KR" altLang="en-US"/>
          </a:p>
        </p:txBody>
      </p:sp>
      <p:sp>
        <p:nvSpPr>
          <p:cNvPr id="7" name="Shape 5"/>
          <p:cNvSpPr/>
          <p:nvPr/>
        </p:nvSpPr>
        <p:spPr>
          <a:xfrm>
            <a:off x="713232" y="4553712"/>
            <a:ext cx="548640" cy="548640"/>
          </a:xfrm>
          <a:prstGeom prst="ellipse">
            <a:avLst/>
          </a:prstGeom>
          <a:solidFill>
            <a:srgbClr val="D98E2B"/>
          </a:solidFill>
          <a:ln/>
        </p:spPr>
        <p:txBody>
          <a:bodyPr/>
          <a:lstStyle/>
          <a:p>
            <a:endParaRPr lang="ko-KR" altLang="en-US"/>
          </a:p>
        </p:txBody>
      </p:sp>
      <p:pic>
        <p:nvPicPr>
          <p:cNvPr id="8" name="Image 0" descr="/home/claude/day2_ppt/icons/trendingUp.png"/>
          <p:cNvPicPr>
            <a:picLocks noChangeAspect="1"/>
          </p:cNvPicPr>
          <p:nvPr/>
        </p:nvPicPr>
        <p:blipFill>
          <a:blip r:embed="rId3"/>
          <a:stretch>
            <a:fillRect/>
          </a:stretch>
        </p:blipFill>
        <p:spPr>
          <a:xfrm>
            <a:off x="784555" y="4625035"/>
            <a:ext cx="405994" cy="405994"/>
          </a:xfrm>
          <a:prstGeom prst="rect">
            <a:avLst/>
          </a:prstGeom>
        </p:spPr>
      </p:pic>
      <p:sp>
        <p:nvSpPr>
          <p:cNvPr id="9" name="Text 6"/>
          <p:cNvSpPr/>
          <p:nvPr/>
        </p:nvSpPr>
        <p:spPr>
          <a:xfrm>
            <a:off x="1417320" y="4434840"/>
            <a:ext cx="7680960" cy="777240"/>
          </a:xfrm>
          <a:prstGeom prst="rect">
            <a:avLst/>
          </a:prstGeom>
          <a:noFill/>
          <a:ln/>
        </p:spPr>
        <p:txBody>
          <a:bodyPr wrap="square" rtlCol="0" anchor="ctr"/>
          <a:lstStyle/>
          <a:p>
            <a:pPr marL="0" indent="0">
              <a:buNone/>
            </a:pPr>
            <a:r>
              <a:rPr lang="en-US" sz="1350" dirty="0">
                <a:solidFill>
                  <a:srgbClr val="FFFFFF"/>
                </a:solidFill>
                <a:latin typeface="Noto Sans CJK KR" pitchFamily="34" charset="0"/>
                <a:ea typeface="Noto Sans CJK KR" pitchFamily="34" charset="-122"/>
                <a:cs typeface="Noto Sans CJK KR" pitchFamily="34" charset="-120"/>
              </a:rPr>
              <a:t>3일차 예고 — AI 기반 HS Code 자동매핑 및 ESG 위험도 예측(지도학습, Precision/Recall)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7566</Words>
  <Application>Microsoft Office PowerPoint</Application>
  <PresentationFormat>와이드스크린</PresentationFormat>
  <Paragraphs>812</Paragraphs>
  <Slides>63</Slides>
  <Notes>63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63</vt:i4>
      </vt:variant>
    </vt:vector>
  </HeadingPairs>
  <TitlesOfParts>
    <vt:vector size="66" baseType="lpstr">
      <vt:lpstr>Noto Sans CJK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찬우 윤</cp:lastModifiedBy>
  <cp:revision>1</cp:revision>
  <dcterms:created xsi:type="dcterms:W3CDTF">2026-09-14T13:11:21Z</dcterms:created>
  <dcterms:modified xsi:type="dcterms:W3CDTF">2026-09-16T04:36:01Z</dcterms:modified>
</cp:coreProperties>
</file>
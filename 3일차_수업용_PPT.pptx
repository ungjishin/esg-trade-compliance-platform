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p:spPr>
      </p:sp>
      <p:sp>
        <p:nvSpPr>
          <p:cNvPr id="3" name="Shape 1"/>
          <p:cNvSpPr/>
          <p:nvPr/>
        </p:nvSpPr>
        <p:spPr>
          <a:xfrm>
            <a:off x="9265615" y="-1463040"/>
            <a:ext cx="3840480" cy="3840480"/>
          </a:xfrm>
          <a:prstGeom prst="ellipse">
            <a:avLst/>
          </a:prstGeom>
          <a:solidFill>
            <a:srgbClr val="13203A"/>
          </a:solidFill>
          <a:ln/>
        </p:spPr>
      </p:sp>
      <p:sp>
        <p:nvSpPr>
          <p:cNvPr id="4" name="Shape 2"/>
          <p:cNvSpPr/>
          <p:nvPr/>
        </p:nvSpPr>
        <p:spPr>
          <a:xfrm>
            <a:off x="10728655" y="4663440"/>
            <a:ext cx="2743200" cy="2743200"/>
          </a:xfrm>
          <a:prstGeom prst="ellipse">
            <a:avLst/>
          </a:prstGeom>
          <a:solidFill>
            <a:srgbClr val="3E5C86">
              <a:alpha val="45000"/>
            </a:srgbClr>
          </a:solidFill>
          <a:ln/>
        </p:spPr>
      </p:sp>
      <p:sp>
        <p:nvSpPr>
          <p:cNvPr id="5" name="Text 3"/>
          <p:cNvSpPr/>
          <p:nvPr/>
        </p:nvSpPr>
        <p:spPr>
          <a:xfrm>
            <a:off x="548640" y="1371600"/>
            <a:ext cx="9144000" cy="365760"/>
          </a:xfrm>
          <a:prstGeom prst="rect">
            <a:avLst/>
          </a:prstGeom>
          <a:noFill/>
          <a:ln/>
        </p:spPr>
        <p:txBody>
          <a:bodyPr wrap="square" rtlCol="0" anchor="ctr"/>
          <a:lstStyle/>
          <a:p>
            <a:pPr indent="0" marL="0">
              <a:buNone/>
            </a:pPr>
            <a:r>
              <a:rPr lang="en-US" sz="1500" b="1" dirty="0">
                <a:solidFill>
                  <a:srgbClr val="D98E2B"/>
                </a:solidFill>
                <a:latin typeface="Noto Sans CJK KR" pitchFamily="34" charset="0"/>
                <a:ea typeface="Noto Sans CJK KR" pitchFamily="34" charset="-122"/>
                <a:cs typeface="Noto Sans CJK KR" pitchFamily="34" charset="-120"/>
              </a:rPr>
              <a:t>생성형 AI 기반 무역 컴플라이언스 및 관세·ESG 리스크 최적화 과정</a:t>
            </a:r>
            <a:endParaRPr lang="en-US" sz="1500" dirty="0"/>
          </a:p>
        </p:txBody>
      </p:sp>
      <p:sp>
        <p:nvSpPr>
          <p:cNvPr id="6" name="Text 4"/>
          <p:cNvSpPr/>
          <p:nvPr/>
        </p:nvSpPr>
        <p:spPr>
          <a:xfrm>
            <a:off x="548640" y="1783080"/>
            <a:ext cx="9875520" cy="1737360"/>
          </a:xfrm>
          <a:prstGeom prst="rect">
            <a:avLst/>
          </a:prstGeom>
          <a:noFill/>
          <a:ln/>
        </p:spPr>
        <p:txBody>
          <a:bodyPr wrap="square" rtlCol="0" anchor="ctr"/>
          <a:lstStyle/>
          <a:p>
            <a:pPr indent="0" marL="0">
              <a:lnSpc>
                <a:spcPct val="108000"/>
              </a:lnSpc>
              <a:buNone/>
            </a:pPr>
            <a:r>
              <a:rPr lang="en-US" sz="3800" b="1" dirty="0">
                <a:solidFill>
                  <a:srgbClr val="FFFFFF"/>
                </a:solidFill>
                <a:latin typeface="Noto Sans CJK KR" pitchFamily="34" charset="0"/>
                <a:ea typeface="Noto Sans CJK KR" pitchFamily="34" charset="-122"/>
                <a:cs typeface="Noto Sans CJK KR" pitchFamily="34" charset="-120"/>
              </a:rPr>
              <a:t>3일차. AI 기반 HS Code 및</a:t>
            </a:r>
            <a:endParaRPr lang="en-US" sz="3800" dirty="0"/>
          </a:p>
          <a:p>
            <a:pPr indent="0" marL="0">
              <a:lnSpc>
                <a:spcPct val="108000"/>
              </a:lnSpc>
              <a:buNone/>
            </a:pPr>
            <a:r>
              <a:rPr lang="en-US" sz="3800" b="1" dirty="0">
                <a:solidFill>
                  <a:srgbClr val="FFFFFF"/>
                </a:solidFill>
                <a:latin typeface="Noto Sans CJK KR" pitchFamily="34" charset="0"/>
                <a:ea typeface="Noto Sans CJK KR" pitchFamily="34" charset="-122"/>
                <a:cs typeface="Noto Sans CJK KR" pitchFamily="34" charset="-120"/>
              </a:rPr>
              <a:t>ESG 리스크 예측·분류</a:t>
            </a:r>
            <a:endParaRPr lang="en-US" sz="3800" dirty="0"/>
          </a:p>
        </p:txBody>
      </p:sp>
      <p:sp>
        <p:nvSpPr>
          <p:cNvPr id="7" name="Text 5"/>
          <p:cNvSpPr/>
          <p:nvPr/>
        </p:nvSpPr>
        <p:spPr>
          <a:xfrm>
            <a:off x="548640" y="3611880"/>
            <a:ext cx="9601200" cy="640080"/>
          </a:xfrm>
          <a:prstGeom prst="rect">
            <a:avLst/>
          </a:prstGeom>
          <a:noFill/>
          <a:ln/>
        </p:spPr>
        <p:txBody>
          <a:bodyPr wrap="square" rtlCol="0" anchor="ctr"/>
          <a:lstStyle/>
          <a:p>
            <a:pPr indent="0" marL="0">
              <a:buNone/>
            </a:pPr>
            <a:r>
              <a:rPr lang="en-US" sz="2000" dirty="0">
                <a:solidFill>
                  <a:srgbClr val="E8EEF7"/>
                </a:solidFill>
                <a:latin typeface="Noto Sans CJK KR" pitchFamily="34" charset="0"/>
                <a:ea typeface="Noto Sans CJK KR" pitchFamily="34" charset="-122"/>
                <a:cs typeface="Noto Sans CJK KR" pitchFamily="34" charset="-120"/>
              </a:rPr>
              <a:t>지도학습 분류 모델로 HS Code를 자동 추천하고, 공급망 ESG 위험도를 예측한다</a:t>
            </a:r>
            <a:endParaRPr lang="en-US" sz="2000" dirty="0"/>
          </a:p>
        </p:txBody>
      </p:sp>
      <p:sp>
        <p:nvSpPr>
          <p:cNvPr id="8" name="Text 6"/>
          <p:cNvSpPr/>
          <p:nvPr/>
        </p:nvSpPr>
        <p:spPr>
          <a:xfrm>
            <a:off x="548640" y="4709160"/>
            <a:ext cx="7315200" cy="365760"/>
          </a:xfrm>
          <a:prstGeom prst="rect">
            <a:avLst/>
          </a:prstGeom>
          <a:noFill/>
          <a:ln/>
        </p:spPr>
        <p:txBody>
          <a:bodyPr wrap="square" rtlCol="0" anchor="ctr"/>
          <a:lstStyle/>
          <a:p>
            <a:pPr indent="0" marL="0">
              <a:buNone/>
            </a:pPr>
            <a:r>
              <a:rPr lang="en-US" sz="1300" dirty="0">
                <a:solidFill>
                  <a:srgbClr val="D7E3F2"/>
                </a:solidFill>
                <a:latin typeface="Noto Sans CJK KR" pitchFamily="34" charset="0"/>
                <a:ea typeface="Noto Sans CJK KR" pitchFamily="34" charset="-122"/>
                <a:cs typeface="Noto Sans CJK KR" pitchFamily="34" charset="-120"/>
              </a:rPr>
              <a:t>이론 강의 + 실습 가이드 · 수업용</a:t>
            </a:r>
            <a:endParaRPr lang="en-US" sz="1300" dirty="0"/>
          </a:p>
        </p:txBody>
      </p:sp>
      <p:sp>
        <p:nvSpPr>
          <p:cNvPr id="9" name="Text 7"/>
          <p:cNvSpPr/>
          <p:nvPr/>
        </p:nvSpPr>
        <p:spPr>
          <a:xfrm>
            <a:off x="548640" y="6080760"/>
            <a:ext cx="7315200" cy="365760"/>
          </a:xfrm>
          <a:prstGeom prst="rect">
            <a:avLst/>
          </a:prstGeom>
          <a:noFill/>
          <a:ln/>
        </p:spPr>
        <p:txBody>
          <a:bodyPr wrap="square" rtlCol="0" anchor="ctr"/>
          <a:lstStyle/>
          <a:p>
            <a:pPr indent="0" marL="0">
              <a:buNone/>
            </a:pPr>
            <a:r>
              <a:rPr lang="en-US" sz="1200" dirty="0">
                <a:solidFill>
                  <a:srgbClr val="8FA3C4"/>
                </a:solidFill>
                <a:latin typeface="Noto Sans CJK KR" pitchFamily="34" charset="0"/>
                <a:ea typeface="Noto Sans CJK KR" pitchFamily="34" charset="-122"/>
                <a:cs typeface="Noto Sans CJK KR" pitchFamily="34" charset="-120"/>
              </a:rPr>
              <a:t>교 육 교 재  ·  수업용 강의자료(PPT)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flag.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3.1</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수업 개요</a:t>
            </a:r>
            <a:endParaRPr lang="en-US" sz="2600" dirty="0"/>
          </a:p>
        </p:txBody>
      </p:sp>
      <p:sp>
        <p:nvSpPr>
          <p:cNvPr id="6" name="Text 3"/>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수업목표</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자사 상품 사양 설명 텍스트로부터 최적의 HS Code를 자동 추천하고, 공급망 ESG 위반 가능성을 사전에 예측하는 AI 분류 모델을 구현할 수 있다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성취기준</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정밀도(Precision)·재현율(Recall) 등 정확도 평가 지표를 이해하고 임계값을 조정할 수 있다. 자사 데이터로 HS Code 매핑·ESG 위험도 예측 모델을 구현하고, 선적 서류 스크리닝을 자동화·고도화할 수 있다</a:t>
            </a:r>
            <a:endParaRPr lang="en-US" sz="1600" dirty="0"/>
          </a:p>
        </p:txBody>
      </p:sp>
      <p:sp>
        <p:nvSpPr>
          <p:cNvPr id="7" name="Shape 4"/>
          <p:cNvSpPr/>
          <p:nvPr/>
        </p:nvSpPr>
        <p:spPr>
          <a:xfrm>
            <a:off x="548640" y="5440680"/>
            <a:ext cx="11094415" cy="868680"/>
          </a:xfrm>
          <a:prstGeom prst="roundRect">
            <a:avLst>
              <a:gd name="adj" fmla="val 8421"/>
            </a:avLst>
          </a:prstGeom>
          <a:solidFill>
            <a:srgbClr val="FBEEDC"/>
          </a:solidFill>
          <a:ln/>
        </p:spPr>
      </p:sp>
      <p:sp>
        <p:nvSpPr>
          <p:cNvPr id="8" name="Shape 5"/>
          <p:cNvSpPr/>
          <p:nvPr/>
        </p:nvSpPr>
        <p:spPr>
          <a:xfrm>
            <a:off x="713232" y="5596128"/>
            <a:ext cx="548640" cy="548640"/>
          </a:xfrm>
          <a:prstGeom prst="ellipse">
            <a:avLst/>
          </a:prstGeom>
          <a:solidFill>
            <a:srgbClr val="D98E2B"/>
          </a:solidFill>
          <a:ln/>
        </p:spPr>
      </p:sp>
      <p:pic>
        <p:nvPicPr>
          <p:cNvPr id="9"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10" name="Text 6"/>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2일차가 '정해진 규칙·키워드 유사도로 분류'였다면, 오늘은 과거 데이터로부터 스스로 규칙을 학습하는 AI 분류 모델을 다룬다.</a:t>
            </a:r>
            <a:endParaRPr lang="en-US" sz="1300" dirty="0"/>
          </a:p>
        </p:txBody>
      </p:sp>
      <p:sp>
        <p:nvSpPr>
          <p:cNvPr id="11" name="Text 7"/>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2" name="Text 8"/>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bookOpen.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3.2</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사전 학습 — 오늘의 핵심 용어 (1/2)</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651760"/>
                <a:gridCol w="844265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용어</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설명</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지도학습(Supervised Learning)</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정답(레이블)이 붙은 데이터로 학습해, 새로운 입력의 정답을 예측하도록 훈련하는 방식</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레이블(Label)</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학습 데이터에 미리 달아둔 정답값(예: 이 상품의 HS Code, 이 협력사의 정상/위험 여부)</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분류(Classification)</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입력을 미리 정해진 카테고리(클래스) 중 하나로 나누는 문제 유형</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혼동행렬(Confusion Matrix)</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예측이 맞았는지·틀렸는지를 실제값·예측값 기준으로 표로 정리한 것</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7" name="Text 3"/>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8"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bookOpen.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3.2</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사전 학습 — 오늘의 핵심 용어 (2/2)</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651760"/>
                <a:gridCol w="844265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용어</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설명</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정밀도(Precision)</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AI가 '위험'이라고 예측한 것 중 실제로 위험이었던 비율</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재현율(Recall)</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실제 '위험'인 것 중 AI가 위험이라고 잡아낸 비율</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임계값(Threshold)</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AI의 확신도 점수를 '위험/정상'으로 가르는 기준선. 조정하면 Precision·Recall이 함께 바뀜</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하이퍼파라미터(Hyperparameter)</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모델을 학습시키기 전에 사람이 미리 설정해두는 값(예: 임계값). 학습 중 자동으로 바뀌지 않음</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7" name="Text 3"/>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8"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layers.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3.3</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이론 강의 — 1·2·3일차 접근의 차이</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194560"/>
                <a:gridCol w="3108960"/>
                <a:gridCol w="579089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구분</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핵심 질문</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오늘 실습에서의 예</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생성 (1일차)</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어떤 새 텍스트를 만들어낼까?</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규제 원문 요약본 생성</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유사도 매칭 (2일차)</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이미 정한 카테고리 중 무엇과 가장 비슷한가?</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리스크 키워드 → 4개 카테고리 매칭</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지도학습 분류 (3일차)</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과거 정답 데이터로부터 어떤 패턴을 배울 수 있는가?</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과거 상품명·HS Code → 신규 상품 HS Code 예측</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532120"/>
            <a:ext cx="11094415" cy="777240"/>
          </a:xfrm>
          <a:prstGeom prst="roundRect">
            <a:avLst>
              <a:gd name="adj" fmla="val 9412"/>
            </a:avLst>
          </a:prstGeom>
          <a:solidFill>
            <a:srgbClr val="FBEEDC"/>
          </a:solidFill>
          <a:ln/>
        </p:spPr>
      </p:sp>
      <p:sp>
        <p:nvSpPr>
          <p:cNvPr id="8" name="Shape 4"/>
          <p:cNvSpPr/>
          <p:nvPr/>
        </p:nvSpPr>
        <p:spPr>
          <a:xfrm>
            <a:off x="694944" y="5650992"/>
            <a:ext cx="502920" cy="502920"/>
          </a:xfrm>
          <a:prstGeom prst="ellipse">
            <a:avLst/>
          </a:prstGeom>
          <a:solidFill>
            <a:srgbClr val="D98E2B"/>
          </a:solidFill>
          <a:ln/>
        </p:spPr>
      </p:sp>
      <p:pic>
        <p:nvPicPr>
          <p:cNvPr id="9"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10" name="Text 5"/>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오늘 실습에서 쓰는 200~300행 마스터 데이터셋(2일차 정제분 포함)이 바로 '정답이 달린 학습 데이터'다 — 2일차의 정제 작업 품질이 오늘 실습 품질을 좌우한다.</a:t>
            </a:r>
            <a:endParaRPr lang="en-US" sz="1250" dirty="0"/>
          </a:p>
        </p:txBody>
      </p:sp>
      <p:sp>
        <p:nvSpPr>
          <p:cNvPr id="11"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2"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gitBran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AI 기초 개념 — 지도학습 vs 비지도학습</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828800"/>
                <a:gridCol w="1645920"/>
                <a:gridCol w="2377440"/>
                <a:gridCol w="524225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구분</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정답 데이터</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하는 일</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오늘 실습에서의 예</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지도학습</a:t>
                      </a:r>
                      <a:endParaRPr lang="en-US" sz="1300" dirty="0">
                        <a:latin typeface="Noto Sans CJK KR" charset="0"/>
                        <a:ea typeface="Noto Sans CJK KR" charset="0"/>
                        <a:cs typeface="Noto Sans CJK KR" charset="0"/>
                      </a:endParaRPr>
                    </a:p>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(Supervised)</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있음 — 과거에 이미 정답이 붙어있음</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정답 있는 데이터로 패턴을 배워, 새 데이터의 정답을 맞힘</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과거 상품명+HS Code 정답 → 신규 상품 HS Code 예측</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비지도학습</a:t>
                      </a:r>
                      <a:endParaRPr lang="en-US" sz="1300" dirty="0">
                        <a:latin typeface="Noto Sans CJK KR" charset="0"/>
                        <a:ea typeface="Noto Sans CJK KR" charset="0"/>
                        <a:cs typeface="Noto Sans CJK KR" charset="0"/>
                      </a:endParaRPr>
                    </a:p>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(Unsupervised)</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없음 — 정답 없이 데이터만 있음</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정답 없이 데이터끼리 비슷한 것끼리 스스로 묶음(군집화)</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(오늘은 사용 안 함) 예: 고객을 구매패턴별로 자동 그룹화</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sp>
      <p:sp>
        <p:nvSpPr>
          <p:cNvPr id="7" name="Shape 3"/>
          <p:cNvSpPr/>
          <p:nvPr/>
        </p:nvSpPr>
        <p:spPr>
          <a:xfrm>
            <a:off x="694944" y="5650992"/>
            <a:ext cx="502920" cy="50292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왜 오늘은 지도학습만 쓰는가 — HS Code·ESG 위험도 모두 '이미 정답(과거 신고 기록)'이 있는 데이터이기 때문이다. 정답이 있는데 그걸 안 쓰고 비지도학습으로 접근하면 오히려 정보를 낭비하는 셈이다. 비지도학습은 '애초에 정답을 모르는 문제'(예: 처음 보는 이상 거래 패턴 탐지)에 주로 쓰인다.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gitBran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AI 기초 개념 — 모델은 어떻게 학습·평가되는가</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103120"/>
                <a:gridCol w="3108960"/>
                <a:gridCol w="588233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단계</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하는 일</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오늘 실습 대응</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① 특징(Feature) 선정</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판단의 근거가 될 데이터 항목을 고른다</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상품명 텍스트, 협력사 환경·노동 점수</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② 학습(Training)</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특징-정답 짝을 반복 학습시켜 패턴을 찾는다</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Step3의 분류 모델 학습</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③ 평가(Test)</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학습에 쓰지 않은 데이터로 정확도를 확인한다</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Step4의 신규 상품 예측 테스트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④ 예측(Prediction)</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검증된 모델을 실제 신규 데이터에 적용한다</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Step8의 선적 서류 스크리닝</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6" name="Text 2"/>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7" name="Text 3"/>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arge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좋은 특징(Feature)을 고르는 법</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sp>
      <p:sp>
        <p:nvSpPr>
          <p:cNvPr id="6" name="Text 3"/>
          <p:cNvSpPr/>
          <p:nvPr/>
        </p:nvSpPr>
        <p:spPr>
          <a:xfrm>
            <a:off x="960120" y="1856232"/>
            <a:ext cx="10271455" cy="365760"/>
          </a:xfrm>
          <a:prstGeom prst="rect">
            <a:avLst/>
          </a:prstGeom>
          <a:noFill/>
          <a:ln/>
        </p:spPr>
        <p:txBody>
          <a:bodyPr wrap="square" rtlCol="0" anchor="ctr"/>
          <a:lstStyle/>
          <a:p>
            <a:pPr indent="0" marL="0">
              <a:buNone/>
            </a:pPr>
            <a:r>
              <a:rPr lang="en-US" sz="1400" b="1" dirty="0">
                <a:solidFill>
                  <a:srgbClr val="D98E2B"/>
                </a:solidFill>
                <a:latin typeface="Noto Sans CJK KR" pitchFamily="34" charset="0"/>
                <a:ea typeface="Noto Sans CJK KR" pitchFamily="34" charset="-122"/>
                <a:cs typeface="Noto Sans CJK KR" pitchFamily="34" charset="-120"/>
              </a:rPr>
              <a:t>심화 — Feature Engineering</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indent="0" marL="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모델의 정확도는 알고리즘보다 '무엇을 특징으로 넣었는가'가 더 크게 좌우하는 경우가 많다. 좋은 특징은 ① 정답과 실제로 관련이 있고 ② 새 데이터에서도 항상 구할 수 있는 값이어야 한다. 예를 들어 HS Code 예측에 '상품명'은 좋은 특징이지만, '담당자 이름'은 정답과 무관해 오히려 모델을 혼란스럽게 만드는 특징이다.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indent="0" marL="0">
              <a:buNone/>
            </a:pPr>
            <a:r>
              <a:rPr lang="en-US" sz="1400" dirty="0">
                <a:solidFill>
                  <a:srgbClr val="33415C"/>
                </a:solidFill>
                <a:latin typeface="Noto Sans CJK KR" pitchFamily="34" charset="0"/>
                <a:ea typeface="Noto Sans CJK KR" pitchFamily="34" charset="-122"/>
                <a:cs typeface="Noto Sans CJK KR" pitchFamily="34" charset="-120"/>
              </a:rPr>
              <a:t>오늘 실습 연결 — Step1-1에서 상품명 외에 '규격·재질' 같은 사양 정보까지 함께 결합하라고 한 이유가 이것이다. 앞서 본 '라면→수프 오분류' 사례도, 상품명 텍스트만 특징으로 썼다면 생겼을 오류다 — 성분·용도 같은 특징을 추가하면 구분력이 생긴다.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gitBran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AI 기초 개념 — 지도학습 알고리즘의 종류</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828800"/>
                <a:gridCol w="3291840"/>
                <a:gridCol w="597377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알고리즘</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판단 원리</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장단점</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Tree (의사결정나무)</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"직접배출 있음? → 예: 제조업 → 아니오: 유통업"처럼 질문을 계층적으로 던지며 좁혀감</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판단 과정이 사람 눈에 보여 설명하기 쉬움. 다만 질문 순서가 나쁘면 정확도가 떨어짐</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kNN (최근접 이웃)</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새 상품과 가장 비슷한(유사도가 높은) 과거 상품 k개를 찾아, 그들의 다수결로 정답을 정함</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직관적이고 학습이 빠름. 다만 데이터가 많아지면 매번 전체를 비교해야 해 느려짐</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sp>
      <p:sp>
        <p:nvSpPr>
          <p:cNvPr id="7" name="Shape 3"/>
          <p:cNvSpPr/>
          <p:nvPr/>
        </p:nvSpPr>
        <p:spPr>
          <a:xfrm>
            <a:off x="694944" y="5650992"/>
            <a:ext cx="502920" cy="50292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Orange3의 Tree·kNN 위젯이 바로 이 두 알고리즘이다 — 오늘 Step3에서 분류 모델을 고를 때 '어떤 원리로 판단하는지'가 다른 도구를 고르는 셈이다. 둘 다 3.8 예제5(다중 알고리즘 성능 비교)에서 다른 알고리즘들과 나란히 비교해본다.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alertCirc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학습 데이터와 평가 데이터를 반드시 나누는 이유</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sp>
      <p:sp>
        <p:nvSpPr>
          <p:cNvPr id="6" name="Text 3"/>
          <p:cNvSpPr/>
          <p:nvPr/>
        </p:nvSpPr>
        <p:spPr>
          <a:xfrm>
            <a:off x="960120" y="1856232"/>
            <a:ext cx="10271455" cy="365760"/>
          </a:xfrm>
          <a:prstGeom prst="rect">
            <a:avLst/>
          </a:prstGeom>
          <a:noFill/>
          <a:ln/>
        </p:spPr>
        <p:txBody>
          <a:bodyPr wrap="square" rtlCol="0" anchor="ctr"/>
          <a:lstStyle/>
          <a:p>
            <a:pPr indent="0" marL="0">
              <a:buNone/>
            </a:pPr>
            <a:r>
              <a:rPr lang="en-US" sz="1400" b="1" dirty="0">
                <a:solidFill>
                  <a:srgbClr val="D98E2B"/>
                </a:solidFill>
                <a:latin typeface="Noto Sans CJK KR" pitchFamily="34" charset="0"/>
                <a:ea typeface="Noto Sans CJK KR" pitchFamily="34" charset="-122"/>
                <a:cs typeface="Noto Sans CJK KR" pitchFamily="34" charset="-120"/>
              </a:rPr>
              <a:t>핵심 원리 — 과적합(Overfitting)</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indent="0" marL="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모델을 학습시킨 데이터로 그대로 정확도를 테스트하면 항상 높은 점수가 나온다 — 이미 답을 외운 문제를 다시 푸는 것과 같기 때문이다. 이런 현상을 과적합이라 하며, 실제로는 처음 보는 상품·협력사를 잘 맞히지 못하면서 학습 데이터에서만 점수가 높게 나오는 '착시'를 일으킨다. 전체 데이터 중 일부(20~30%)는 학습에 쓰지 않고 남겨두었다가 평가 단계에서만 쓰는 것이 표준 방식이다.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indent="0" marL="0">
              <a:buNone/>
            </a:pPr>
            <a:r>
              <a:rPr lang="en-US" sz="1400" dirty="0">
                <a:solidFill>
                  <a:srgbClr val="33415C"/>
                </a:solidFill>
                <a:latin typeface="Noto Sans CJK KR" pitchFamily="34" charset="0"/>
                <a:ea typeface="Noto Sans CJK KR" pitchFamily="34" charset="-122"/>
                <a:cs typeface="Noto Sans CJK KR" pitchFamily="34" charset="-120"/>
              </a:rPr>
              <a:t>실습 연결 — Step4·Step6에서 '학습에 쓰지 않은 신규 상품·검증용 데이터'로 테스트하는 이유가 바로 이 과적합을 피하기 위해서다.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alertCirc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과적합을 막는 3분할 — 학습·검증·테스트</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sp>
      <p:sp>
        <p:nvSpPr>
          <p:cNvPr id="6" name="Text 3"/>
          <p:cNvSpPr/>
          <p:nvPr/>
        </p:nvSpPr>
        <p:spPr>
          <a:xfrm>
            <a:off x="960120" y="1856232"/>
            <a:ext cx="10271455" cy="365760"/>
          </a:xfrm>
          <a:prstGeom prst="rect">
            <a:avLst/>
          </a:prstGeom>
          <a:noFill/>
          <a:ln/>
        </p:spPr>
        <p:txBody>
          <a:bodyPr wrap="square" rtlCol="0" anchor="ctr"/>
          <a:lstStyle/>
          <a:p>
            <a:pPr indent="0" marL="0">
              <a:buNone/>
            </a:pPr>
            <a:r>
              <a:rPr lang="en-US" sz="1400" b="1" dirty="0">
                <a:solidFill>
                  <a:srgbClr val="D98E2B"/>
                </a:solidFill>
                <a:latin typeface="Noto Sans CJK KR" pitchFamily="34" charset="0"/>
                <a:ea typeface="Noto Sans CJK KR" pitchFamily="34" charset="-122"/>
                <a:cs typeface="Noto Sans CJK KR" pitchFamily="34" charset="-120"/>
              </a:rPr>
              <a:t>심화 — 왜 2분할이 아니라 3분할인가</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indent="0" marL="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학습(Train)·테스트(Test) 2분할만으로는 또 다른 함정이 있다 — 모델을 테스트 점수가 잘 나올 때까지 계속 손보다 보면, 어느새 테스트 데이터에도 '은근히 맞춰진' 모델이 되어버린다. 그래서 실무에서는 학습 데이터로 모델을 만들고, 검증(Validation) 데이터로 이것저것 조정해보고, 마지막으로 한 번도 안 본 테스트 데이터로 최종 성적표만 확인하는 3단계 구조를 쓴다.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indent="0" marL="0">
              <a:buNone/>
            </a:pPr>
            <a:r>
              <a:rPr lang="en-US" sz="1400" dirty="0">
                <a:solidFill>
                  <a:srgbClr val="33415C"/>
                </a:solidFill>
                <a:latin typeface="Noto Sans CJK KR" pitchFamily="34" charset="0"/>
                <a:ea typeface="Noto Sans CJK KR" pitchFamily="34" charset="-122"/>
                <a:cs typeface="Noto Sans CJK KR" pitchFamily="34" charset="-120"/>
              </a:rPr>
              <a:t>비유 — 학습은 '문제집 풀기', 검증은 '모의고사로 공부 방법 점검', 테스트는 '진짜 수능'이다. 모의고사 점수를 보고 공부법을 계속 바꾸는 것까진 괜찮지만, 수능 문제를 미리 보고 공부하면 그 점수는 의미가 없어진다.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arge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관세율 오적용·통관 보류 차단을 위한 정확도 평가 지표 이해</a:t>
            </a:r>
            <a:endParaRPr lang="en-US" sz="2600" dirty="0"/>
          </a:p>
        </p:txBody>
      </p:sp>
      <p:sp>
        <p:nvSpPr>
          <p:cNvPr id="5" name="Text 2"/>
          <p:cNvSpPr/>
          <p:nvPr/>
        </p:nvSpPr>
        <p:spPr>
          <a:xfrm>
            <a:off x="548640" y="1536192"/>
            <a:ext cx="11094415" cy="448056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'정확도 95%'의 함정</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실제 위험 건이 100건 중 5건뿐인 데이터에서, 모델이 무조건 '정상'이라고만 답해도 정확도는 95%가 나온다 — 이 함정을 피하려면 Precision·Recall을 함께 봐야 한다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Precision</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낮으면 정상 건까지 위험으로 오탐지해 불필요한 재검토 업무가 늘어남</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Recall</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낮으면 진짜 위험 건을 놓쳐 과태료·통관 거부로 이어질 수 있음</a:t>
            </a:r>
            <a:endParaRPr lang="en-US" sz="1600" dirty="0"/>
          </a:p>
        </p:txBody>
      </p:sp>
      <p:sp>
        <p:nvSpPr>
          <p:cNvPr id="6" name="Text 3"/>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7"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alertTriang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'정확도 95%의 함정'을 숫자로 직접 확인</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377440"/>
                <a:gridCol w="1645920"/>
                <a:gridCol w="1645920"/>
                <a:gridCol w="542513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모델</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정확도</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Recall</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실제 의미</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항상 '정상'만 답하는 모델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95%</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0%</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위험 건을 단 한 건도 못 잡아냄 — 있으나 마나 한 모델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실제로 판단하는 모델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88%</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80%</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정확도는 더 낮아 보이지만, 실제 위험 20건 중 16건을 잡아냄</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sp>
      <p:sp>
        <p:nvSpPr>
          <p:cNvPr id="7" name="Shape 3"/>
          <p:cNvSpPr/>
          <p:nvPr/>
        </p:nvSpPr>
        <p:spPr>
          <a:xfrm>
            <a:off x="694944" y="5650992"/>
            <a:ext cx="502920" cy="50292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정확도(Accuracy)만 보면 왼쪽 모델이 더 좋아 보이지만, 실무 가치는 정반대다 — 정확도 하나만으로 모델을 평가하면 안 되는 이유가 이 표에 그대로 드러난다. 이래서 3일차부터는 정확도 대신 Precision·Recall·Confusion Matrix를 기본 평가 지표로 쓴다.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shield.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Precision과 Recall의 상충 관계 — 임계값의 역할</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sp>
      <p:sp>
        <p:nvSpPr>
          <p:cNvPr id="6" name="Text 3"/>
          <p:cNvSpPr/>
          <p:nvPr/>
        </p:nvSpPr>
        <p:spPr>
          <a:xfrm>
            <a:off x="960120" y="1856232"/>
            <a:ext cx="10271455" cy="365760"/>
          </a:xfrm>
          <a:prstGeom prst="rect">
            <a:avLst/>
          </a:prstGeom>
          <a:noFill/>
          <a:ln/>
        </p:spPr>
        <p:txBody>
          <a:bodyPr wrap="square" rtlCol="0" anchor="ctr"/>
          <a:lstStyle/>
          <a:p>
            <a:pPr indent="0" marL="0">
              <a:buNone/>
            </a:pPr>
            <a:r>
              <a:rPr lang="en-US" sz="1400" b="1" dirty="0">
                <a:solidFill>
                  <a:srgbClr val="D98E2B"/>
                </a:solidFill>
                <a:latin typeface="Noto Sans CJK KR" pitchFamily="34" charset="0"/>
                <a:ea typeface="Noto Sans CJK KR" pitchFamily="34" charset="-122"/>
                <a:cs typeface="Noto Sans CJK KR" pitchFamily="34" charset="-120"/>
              </a:rPr>
              <a:t>핵심 원리</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indent="0" marL="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Precision과 Recall은 대체로 한쪽을 높이면 다른 쪽이 낮아지는 관계에 있다. 임계값을 낮추면 모델이 더 많은 건을 '위험'으로 판정하게 되어 Recall은 올라가지만 Precision은 내려간다. 통관 컴플라이언스처럼 '위험을 놓치는 것'이 '오탐지'보다 훨씬 치명적인 업무에서는, 다소 오탐지가 늘더라도 Recall을 우선하는 방향으로 임계값을 설정하는 경우가 많다.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indent="0" marL="0">
              <a:buNone/>
            </a:pPr>
            <a:r>
              <a:rPr lang="en-US" sz="1400" dirty="0">
                <a:solidFill>
                  <a:srgbClr val="33415C"/>
                </a:solidFill>
                <a:latin typeface="Noto Sans CJK KR" pitchFamily="34" charset="0"/>
                <a:ea typeface="Noto Sans CJK KR" pitchFamily="34" charset="-122"/>
                <a:cs typeface="Noto Sans CJK KR" pitchFamily="34" charset="-120"/>
              </a:rPr>
              <a:t>1.3.7 할루시네이션 검증 원칙과 연결 — 모델이 '정상'이라고 판정한 것도 100% 확신할 수 없으므로, 특히 임계값 경계 부근의 판정 결과는 사람이 한 번 더 확인하는 절차를 병행하는 것이 안전하다.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ab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Confusion Matrix로 직접 계산해보기</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011680"/>
                <a:gridCol w="2651760"/>
                <a:gridCol w="6430975"/>
              </a:tblGrid>
              <a:tr h="640080">
                <a:tc>
                  <a:txBody>
                    <a:bodyPr/>
                    <a:lstStyle/>
                    <a:p>
                      <a:pPr algn="l" indent="0" marL="0">
                        <a:buNone/>
                      </a:pP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실제: 위험</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실제: 정상</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예측: 위험</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16건 (TP)</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6건 (FP)</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예측: 정상</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4건 (FN)</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74건 (TN)</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sp>
      <p:sp>
        <p:nvSpPr>
          <p:cNvPr id="7" name="Shape 3"/>
          <p:cNvSpPr/>
          <p:nvPr/>
        </p:nvSpPr>
        <p:spPr>
          <a:xfrm>
            <a:off x="694944" y="5650992"/>
            <a:ext cx="502920" cy="50292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100건(실제 위험 20건·정상 80건) 기준 예시. Precision = TP÷(TP+FP) = 16÷22 ≈ 73% (위험이라 한 것 중 진짜 위험 비율). Recall = TP÷(TP+FN) = 16÷20 = 80% (진짜 위험 중 놓치지 않고 잡아낸 비율). Orange3의 Test &amp; Score가 자동 계산해주는 값이지만, 이렇게 직접 손으로 한 번 계산해보면 두 지표가 왜 다른지 체감된다.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alertTriang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AI 기반 HS Code 오분류 실제 사례 (1) — 라면을 수프로 오분류</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사례</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미국 수출 시 HS 1902(파스타류·라면)를 HS 2104(수프·브로스)로 잘못 신고해 FDA 사전 신고 단계에서 거절되는 사례가 반복적으로 발생 — 2024년 한 컨설팅사가 추적한 한국 식품 셀러 12건 중 5건이 이 오류였다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왜 헷갈리는가</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라면 제품 설명에 "건조 수프 분말 포함", "국물 요리"처럼 수프와 겹치는 단어가 많이 등장 — 텍스트 유사도만으로 분류하면 실제로 혼동하기 쉬운 조합</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결과</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FDA 사전 신고 거절 시 화물 입항 거부, 보세창고 보관료(1일 컨테이너당 150~300달러)·재반송 운임(4,000~8,000달러) 발생</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오늘 실습과의 연결 — Step2(텍스트 데이터 인코딩)에서 상품명뿐 아니라 성분·용도 같은 '사양 정보'까지 함께 학습시켜야 하는 이유가 바로 이 사례다. 상품명 텍스트만 보면 라면도 수프도 비슷한 단어를 쓴다.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alertTriang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AI 기반 HS Code 오분류 실제 사례 (2) — 열간압연·냉간압연 혼동</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사례</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한국 철강 수출기업이 인도로 철강을 수출하며 원산지증명서에 HS 7229호로 기재해 FTA 협정세율(CEPA)로 통관했으나, 인도 세관이 사후에 HS 7227호로 정정 신고를 요구</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왜 헷갈리는가</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7227호(열간압연)와 7229호(냉간압연)는 품목 설명이 매우 비슷하고, 실제 구분 기준은 제조 공정(가공 방식)이라 상품명 텍스트만으로는 구분이 거의 불가능</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결과</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HS Code가 바뀌면 원산지증명서 자체가 무효 처리되어, 이미 감면받은 협정세율만큼의 관세를 소급 추징당함</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오늘 실습과의 연결 — 텍스트만으로 분류하는 모델의 한계를 보여주는 사례. 이런 경우 확신도 점수가 낮게 나오도록 설계해, '확인 필요' 표시를 자동으로 붙이는 예제1(HS Code 자동추천 에이전트)의 설계 원칙과 직결된다.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sear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자사 상품 사양 기반 HS Code 자동 매핑 및 ESG 위험도 예측 모델</a:t>
            </a:r>
            <a:endParaRPr lang="en-US" sz="2600" dirty="0"/>
          </a:p>
        </p:txBody>
      </p:sp>
      <p:sp>
        <p:nvSpPr>
          <p:cNvPr id="5" name="Text 2"/>
          <p:cNvSpPr/>
          <p:nvPr/>
        </p:nvSpPr>
        <p:spPr>
          <a:xfrm>
            <a:off x="548640" y="1536192"/>
            <a:ext cx="11094415" cy="448056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HS Code 자동 매핑</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2일차의 임베딩·유사도 개념의 연장선이지만, 미리 정한 4개 카테고리가 아니라 수천 개 HS Code 후보 중 가장 유사한 코드를 찾아야 하므로 후보 규모가 크게 늘어남 — 상품명 텍스트만이 아니라 규격·재질 등 '사양 정보'까지 함께 학습</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ESG 위험도 예측</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텍스트가 아니라 협력사별 환경 위반 횟수, 노동 평가 점수 같은 '수치 데이터'를 특징(feature)으로 사용 — 같은 '분류 모델'이라도 입력 데이터 성격에 따라 텍스트 기반 매핑과 수치 기반 예측으로 나뉜다</a:t>
            </a:r>
            <a:endParaRPr lang="en-US" sz="1600" dirty="0"/>
          </a:p>
        </p:txBody>
      </p:sp>
      <p:sp>
        <p:nvSpPr>
          <p:cNvPr id="6" name="Text 3"/>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7"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glob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왜 ESG 위험도 '예측' 모델이 필요한가 — 해외 대기업의 대규모 협력사 실사</a:t>
            </a:r>
            <a:endParaRPr lang="en-US" sz="2600" dirty="0"/>
          </a:p>
        </p:txBody>
      </p:sp>
      <p:sp>
        <p:nvSpPr>
          <p:cNvPr id="5" name="Shape 2"/>
          <p:cNvSpPr/>
          <p:nvPr/>
        </p:nvSpPr>
        <p:spPr>
          <a:xfrm>
            <a:off x="548640" y="1691640"/>
            <a:ext cx="3515258" cy="2286000"/>
          </a:xfrm>
          <a:prstGeom prst="roundRect">
            <a:avLst>
              <a:gd name="adj" fmla="val 3200"/>
            </a:avLst>
          </a:prstGeom>
          <a:solidFill>
            <a:srgbClr val="1B2A4A"/>
          </a:solidFill>
          <a:ln/>
        </p:spPr>
      </p:sp>
      <p:sp>
        <p:nvSpPr>
          <p:cNvPr id="6" name="Text 3"/>
          <p:cNvSpPr/>
          <p:nvPr/>
        </p:nvSpPr>
        <p:spPr>
          <a:xfrm>
            <a:off x="685800" y="1920240"/>
            <a:ext cx="3240938" cy="914400"/>
          </a:xfrm>
          <a:prstGeom prst="rect">
            <a:avLst/>
          </a:prstGeom>
          <a:noFill/>
          <a:ln/>
        </p:spPr>
        <p:txBody>
          <a:bodyPr wrap="square" rtlCol="0" anchor="ctr"/>
          <a:lstStyle/>
          <a:p>
            <a:pPr algn="ctr" indent="0" marL="0">
              <a:buNone/>
            </a:pPr>
            <a:r>
              <a:rPr lang="en-US" sz="3000" b="1" dirty="0">
                <a:solidFill>
                  <a:srgbClr val="D98E2B"/>
                </a:solidFill>
                <a:latin typeface="Noto Sans CJK KR" pitchFamily="34" charset="0"/>
                <a:ea typeface="Noto Sans CJK KR" pitchFamily="34" charset="-122"/>
                <a:cs typeface="Noto Sans CJK KR" pitchFamily="34" charset="-120"/>
              </a:rPr>
              <a:t>약 2,300개</a:t>
            </a:r>
            <a:endParaRPr lang="en-US" sz="3000" dirty="0"/>
          </a:p>
        </p:txBody>
      </p:sp>
      <p:sp>
        <p:nvSpPr>
          <p:cNvPr id="7" name="Text 4"/>
          <p:cNvSpPr/>
          <p:nvPr/>
        </p:nvSpPr>
        <p:spPr>
          <a:xfrm>
            <a:off x="685800" y="2880360"/>
            <a:ext cx="3240938" cy="960120"/>
          </a:xfrm>
          <a:prstGeom prst="rect">
            <a:avLst/>
          </a:prstGeom>
          <a:noFill/>
          <a:ln/>
        </p:spPr>
        <p:txBody>
          <a:bodyPr wrap="square" rtlCol="0" anchor="t"/>
          <a:lstStyle/>
          <a:p>
            <a:pPr algn="ctr" indent="0" marL="0">
              <a:buNone/>
            </a:pPr>
            <a:r>
              <a:rPr lang="en-US" sz="1250" dirty="0">
                <a:solidFill>
                  <a:srgbClr val="FFFFFF"/>
                </a:solidFill>
                <a:latin typeface="Noto Sans CJK KR" pitchFamily="34" charset="0"/>
                <a:ea typeface="Noto Sans CJK KR" pitchFamily="34" charset="-122"/>
                <a:cs typeface="Noto Sans CJK KR" pitchFamily="34" charset="-120"/>
              </a:rPr>
              <a:t>BMW — 매년(3개년 평균) 협력사 대상 공급망 ESG 진단·실사 실시, 3개년 평균 150여 개 협력사와 계약 중단</a:t>
            </a:r>
            <a:endParaRPr lang="en-US" sz="1250" dirty="0"/>
          </a:p>
        </p:txBody>
      </p:sp>
      <p:sp>
        <p:nvSpPr>
          <p:cNvPr id="8" name="Shape 5"/>
          <p:cNvSpPr/>
          <p:nvPr/>
        </p:nvSpPr>
        <p:spPr>
          <a:xfrm>
            <a:off x="4338218" y="1691640"/>
            <a:ext cx="3515258" cy="2286000"/>
          </a:xfrm>
          <a:prstGeom prst="roundRect">
            <a:avLst>
              <a:gd name="adj" fmla="val 3200"/>
            </a:avLst>
          </a:prstGeom>
          <a:solidFill>
            <a:srgbClr val="E8EEF7"/>
          </a:solidFill>
          <a:ln/>
        </p:spPr>
      </p:sp>
      <p:sp>
        <p:nvSpPr>
          <p:cNvPr id="9" name="Text 6"/>
          <p:cNvSpPr/>
          <p:nvPr/>
        </p:nvSpPr>
        <p:spPr>
          <a:xfrm>
            <a:off x="4475378" y="1920240"/>
            <a:ext cx="3240938" cy="914400"/>
          </a:xfrm>
          <a:prstGeom prst="rect">
            <a:avLst/>
          </a:prstGeom>
          <a:noFill/>
          <a:ln/>
        </p:spPr>
        <p:txBody>
          <a:bodyPr wrap="square" rtlCol="0" anchor="ctr"/>
          <a:lstStyle/>
          <a:p>
            <a:pPr algn="ctr" indent="0" marL="0">
              <a:buNone/>
            </a:pPr>
            <a:r>
              <a:rPr lang="en-US" sz="3000" b="1" dirty="0">
                <a:solidFill>
                  <a:srgbClr val="1B2A4A"/>
                </a:solidFill>
                <a:latin typeface="Noto Sans CJK KR" pitchFamily="34" charset="0"/>
                <a:ea typeface="Noto Sans CJK KR" pitchFamily="34" charset="-122"/>
                <a:cs typeface="Noto Sans CJK KR" pitchFamily="34" charset="-120"/>
              </a:rPr>
              <a:t>약 1,200개</a:t>
            </a:r>
            <a:endParaRPr lang="en-US" sz="3000" dirty="0"/>
          </a:p>
        </p:txBody>
      </p:sp>
      <p:sp>
        <p:nvSpPr>
          <p:cNvPr id="10" name="Text 7"/>
          <p:cNvSpPr/>
          <p:nvPr/>
        </p:nvSpPr>
        <p:spPr>
          <a:xfrm>
            <a:off x="4475378" y="2880360"/>
            <a:ext cx="3240938" cy="960120"/>
          </a:xfrm>
          <a:prstGeom prst="rect">
            <a:avLst/>
          </a:prstGeom>
          <a:noFill/>
          <a:ln/>
        </p:spPr>
        <p:txBody>
          <a:bodyPr wrap="square" rtlCol="0" anchor="t"/>
          <a:lstStyle/>
          <a:p>
            <a:pPr algn="ctr" indent="0" marL="0">
              <a:buNone/>
            </a:pPr>
            <a:r>
              <a:rPr lang="en-US" sz="1250" dirty="0">
                <a:solidFill>
                  <a:srgbClr val="33415C"/>
                </a:solidFill>
                <a:latin typeface="Noto Sans CJK KR" pitchFamily="34" charset="0"/>
                <a:ea typeface="Noto Sans CJK KR" pitchFamily="34" charset="-122"/>
                <a:cs typeface="Noto Sans CJK KR" pitchFamily="34" charset="-120"/>
              </a:rPr>
              <a:t>General Electric — 매년 거래관계 협력사 대상 ESG 진단·실사, 2020년 기준 71개 협력사를 ESG 리스크 사유로 공급망에서 배제</a:t>
            </a:r>
            <a:endParaRPr lang="en-US" sz="1250" dirty="0"/>
          </a:p>
        </p:txBody>
      </p:sp>
      <p:sp>
        <p:nvSpPr>
          <p:cNvPr id="11" name="Shape 8"/>
          <p:cNvSpPr/>
          <p:nvPr/>
        </p:nvSpPr>
        <p:spPr>
          <a:xfrm>
            <a:off x="8127797" y="1691640"/>
            <a:ext cx="3515258" cy="2286000"/>
          </a:xfrm>
          <a:prstGeom prst="roundRect">
            <a:avLst>
              <a:gd name="adj" fmla="val 3200"/>
            </a:avLst>
          </a:prstGeom>
          <a:solidFill>
            <a:srgbClr val="E8EEF7"/>
          </a:solidFill>
          <a:ln/>
        </p:spPr>
      </p:sp>
      <p:sp>
        <p:nvSpPr>
          <p:cNvPr id="12" name="Text 9"/>
          <p:cNvSpPr/>
          <p:nvPr/>
        </p:nvSpPr>
        <p:spPr>
          <a:xfrm>
            <a:off x="8264957" y="1920240"/>
            <a:ext cx="3240938" cy="914400"/>
          </a:xfrm>
          <a:prstGeom prst="rect">
            <a:avLst/>
          </a:prstGeom>
          <a:noFill/>
          <a:ln/>
        </p:spPr>
        <p:txBody>
          <a:bodyPr wrap="square" rtlCol="0" anchor="ctr"/>
          <a:lstStyle/>
          <a:p>
            <a:pPr algn="ctr" indent="0" marL="0">
              <a:buNone/>
            </a:pPr>
            <a:r>
              <a:rPr lang="en-US" sz="3000" b="1" dirty="0">
                <a:solidFill>
                  <a:srgbClr val="1B2A4A"/>
                </a:solidFill>
                <a:latin typeface="Noto Sans CJK KR" pitchFamily="34" charset="0"/>
                <a:ea typeface="Noto Sans CJK KR" pitchFamily="34" charset="-122"/>
                <a:cs typeface="Noto Sans CJK KR" pitchFamily="34" charset="-120"/>
              </a:rPr>
              <a:t>5/7 · 6/12</a:t>
            </a:r>
            <a:endParaRPr lang="en-US" sz="3000" dirty="0"/>
          </a:p>
        </p:txBody>
      </p:sp>
      <p:sp>
        <p:nvSpPr>
          <p:cNvPr id="13" name="Text 10"/>
          <p:cNvSpPr/>
          <p:nvPr/>
        </p:nvSpPr>
        <p:spPr>
          <a:xfrm>
            <a:off x="8264957" y="2880360"/>
            <a:ext cx="3240938" cy="960120"/>
          </a:xfrm>
          <a:prstGeom prst="rect">
            <a:avLst/>
          </a:prstGeom>
          <a:noFill/>
          <a:ln/>
        </p:spPr>
        <p:txBody>
          <a:bodyPr wrap="square" rtlCol="0" anchor="t"/>
          <a:lstStyle/>
          <a:p>
            <a:pPr algn="ctr" indent="0" marL="0">
              <a:buNone/>
            </a:pPr>
            <a:r>
              <a:rPr lang="en-US" sz="1250" dirty="0">
                <a:solidFill>
                  <a:srgbClr val="33415C"/>
                </a:solidFill>
                <a:latin typeface="Noto Sans CJK KR" pitchFamily="34" charset="0"/>
                <a:ea typeface="Noto Sans CJK KR" pitchFamily="34" charset="-122"/>
                <a:cs typeface="Noto Sans CJK KR" pitchFamily="34" charset="-120"/>
              </a:rPr>
              <a:t>한국ESG기준원 — 2022년 2·3분기 ESG 등급 조정 기업 중, 조정 사유의 대다수가 '협력사 및 사업장 관련 사건·사고'였음</a:t>
            </a:r>
            <a:endParaRPr lang="en-US" sz="1250" dirty="0"/>
          </a:p>
        </p:txBody>
      </p:sp>
      <p:sp>
        <p:nvSpPr>
          <p:cNvPr id="14" name="Shape 11"/>
          <p:cNvSpPr/>
          <p:nvPr/>
        </p:nvSpPr>
        <p:spPr>
          <a:xfrm>
            <a:off x="548640" y="4297680"/>
            <a:ext cx="11094415" cy="1051560"/>
          </a:xfrm>
          <a:prstGeom prst="roundRect">
            <a:avLst>
              <a:gd name="adj" fmla="val 6957"/>
            </a:avLst>
          </a:prstGeom>
          <a:solidFill>
            <a:srgbClr val="FBEEDC"/>
          </a:solidFill>
          <a:ln/>
        </p:spPr>
      </p:sp>
      <p:sp>
        <p:nvSpPr>
          <p:cNvPr id="15" name="Shape 12"/>
          <p:cNvSpPr/>
          <p:nvPr/>
        </p:nvSpPr>
        <p:spPr>
          <a:xfrm>
            <a:off x="713232" y="4498848"/>
            <a:ext cx="566928" cy="566928"/>
          </a:xfrm>
          <a:prstGeom prst="ellipse">
            <a:avLst/>
          </a:prstGeom>
          <a:solidFill>
            <a:srgbClr val="D98E2B"/>
          </a:solidFill>
          <a:ln/>
        </p:spPr>
      </p:sp>
      <p:pic>
        <p:nvPicPr>
          <p:cNvPr id="16" name="Image 1" descr="/home/claude/day3_ppt/icons/alertCircle.png">    </p:cNvPr>
          <p:cNvPicPr>
            <a:picLocks noChangeAspect="1"/>
          </p:cNvPicPr>
          <p:nvPr/>
        </p:nvPicPr>
        <p:blipFill>
          <a:blip r:embed="rId2"/>
          <a:stretch>
            <a:fillRect/>
          </a:stretch>
        </p:blipFill>
        <p:spPr>
          <a:xfrm>
            <a:off x="786933" y="4572549"/>
            <a:ext cx="419527" cy="419527"/>
          </a:xfrm>
          <a:prstGeom prst="rect">
            <a:avLst/>
          </a:prstGeom>
        </p:spPr>
      </p:pic>
      <p:sp>
        <p:nvSpPr>
          <p:cNvPr id="17" name="Text 13"/>
          <p:cNvSpPr/>
          <p:nvPr/>
        </p:nvSpPr>
        <p:spPr>
          <a:xfrm>
            <a:off x="1444752" y="4389120"/>
            <a:ext cx="9997135" cy="868680"/>
          </a:xfrm>
          <a:prstGeom prst="rect">
            <a:avLst/>
          </a:prstGeom>
          <a:noFill/>
          <a:ln/>
        </p:spPr>
        <p:txBody>
          <a:bodyPr wrap="square" rtlCol="0" anchor="ctr"/>
          <a:lstStyle/>
          <a:p>
            <a:pPr indent="0" marL="0">
              <a:buNone/>
            </a:pPr>
            <a:r>
              <a:rPr lang="en-US" sz="1300" dirty="0">
                <a:solidFill>
                  <a:srgbClr val="1B2A4A"/>
                </a:solidFill>
                <a:latin typeface="Noto Sans CJK KR" pitchFamily="34" charset="0"/>
                <a:ea typeface="Noto Sans CJK KR" pitchFamily="34" charset="-122"/>
                <a:cs typeface="Noto Sans CJK KR" pitchFamily="34" charset="-120"/>
              </a:rPr>
              <a:t>시사점 — 매년 1,000개 넘는 협력사를 전부 사람이 손으로 심사하는 것은 현실적으로 불가능하다. 오늘 만드는 ESG 위험도 예측 모델의 목적은 '전수 조사를 대체'하는 게 아니라, '먼저 봐야 할 고위험 협력사를 추려내 심사 자원을 집중'하는 것이다. 또한 ESG 등급 하락의 원인 대부분이 '협력사'에서 비롯된다는 점도, Scope 3(공급망 전체) 예측이 왜 중요한지를 뒷받침한다.</a:t>
            </a:r>
            <a:endParaRPr lang="en-US" sz="1300" dirty="0"/>
          </a:p>
        </p:txBody>
      </p:sp>
      <p:sp>
        <p:nvSpPr>
          <p:cNvPr id="18" name="Text 14"/>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9" name="Text 15"/>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rendingUp.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선적 서류 스크리닝 자동화 및 모델 정확도 고도화 튜닝</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HS Code 매핑 모델과 ESG 위험도 예측 모델이 준비되면, 이를 실제 선적 서류에 적용해 제재 대상·금지 품목 여부를 자동 스크리닝할 수 있다</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처음 만든 모델은 대체로 정확도가 기대에 못 미치므로, 임계값을 조정하거나 학습 데이터를 보강하며 반복적으로 튜닝하는 과정이 필요하다</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이 반복 개선 과정은 1일차 Round4(프롬프트 개선)와 원리가 같다 — 결과를 검증하고, 원인을 찾아 조정하고, 다시 실행하는 사이클이다.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463040" y="4480560"/>
            <a:ext cx="4023360" cy="4023360"/>
          </a:xfrm>
          <a:prstGeom prst="ellipse">
            <a:avLst/>
          </a:prstGeom>
          <a:solidFill>
            <a:srgbClr val="13203A"/>
          </a:solidFill>
          <a:ln/>
        </p:spPr>
      </p:sp>
      <p:sp>
        <p:nvSpPr>
          <p:cNvPr id="3" name="Shape 1"/>
          <p:cNvSpPr/>
          <p:nvPr/>
        </p:nvSpPr>
        <p:spPr>
          <a:xfrm>
            <a:off x="9997135" y="-1828800"/>
            <a:ext cx="3291840" cy="3291840"/>
          </a:xfrm>
          <a:prstGeom prst="ellipse">
            <a:avLst/>
          </a:prstGeom>
          <a:solidFill>
            <a:srgbClr val="3E5C86">
              <a:alpha val="45000"/>
            </a:srgbClr>
          </a:solidFill>
          <a:ln/>
        </p:spPr>
      </p:sp>
      <p:sp>
        <p:nvSpPr>
          <p:cNvPr id="4" name="Text 2"/>
          <p:cNvSpPr/>
          <p:nvPr/>
        </p:nvSpPr>
        <p:spPr>
          <a:xfrm>
            <a:off x="548640" y="2331720"/>
            <a:ext cx="5486400" cy="914400"/>
          </a:xfrm>
          <a:prstGeom prst="rect">
            <a:avLst/>
          </a:prstGeom>
          <a:noFill/>
          <a:ln/>
        </p:spPr>
        <p:txBody>
          <a:bodyPr wrap="square" rtlCol="0" anchor="ctr"/>
          <a:lstStyle/>
          <a:p>
            <a:pPr indent="0" marL="0">
              <a:buNone/>
            </a:pPr>
            <a:r>
              <a:rPr lang="en-US" sz="2200" b="1" dirty="0">
                <a:solidFill>
                  <a:srgbClr val="D98E2B"/>
                </a:solidFill>
                <a:latin typeface="Noto Sans CJK KR" pitchFamily="34" charset="0"/>
                <a:ea typeface="Noto Sans CJK KR" pitchFamily="34" charset="-122"/>
                <a:cs typeface="Noto Sans CJK KR" pitchFamily="34" charset="-120"/>
              </a:rPr>
              <a:t>3.4 ~ 3.10</a:t>
            </a:r>
            <a:endParaRPr lang="en-US" sz="2200" dirty="0"/>
          </a:p>
        </p:txBody>
      </p:sp>
      <p:sp>
        <p:nvSpPr>
          <p:cNvPr id="5" name="Text 3"/>
          <p:cNvSpPr/>
          <p:nvPr/>
        </p:nvSpPr>
        <p:spPr>
          <a:xfrm>
            <a:off x="548640" y="2880360"/>
            <a:ext cx="105156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Noto Sans CJK KR" pitchFamily="34" charset="0"/>
                <a:ea typeface="Noto Sans CJK KR" pitchFamily="34" charset="-122"/>
                <a:cs typeface="Noto Sans CJK KR" pitchFamily="34" charset="-120"/>
              </a:rPr>
              <a:t>실습 — HS Code 자동매핑과</a:t>
            </a:r>
            <a:endParaRPr lang="en-US" sz="3400" dirty="0"/>
          </a:p>
          <a:p>
            <a:pPr indent="0" marL="0">
              <a:lnSpc>
                <a:spcPct val="110000"/>
              </a:lnSpc>
              <a:buNone/>
            </a:pPr>
            <a:r>
              <a:rPr lang="en-US" sz="3400" b="1" dirty="0">
                <a:solidFill>
                  <a:srgbClr val="FFFFFF"/>
                </a:solidFill>
                <a:latin typeface="Noto Sans CJK KR" pitchFamily="34" charset="0"/>
                <a:ea typeface="Noto Sans CJK KR" pitchFamily="34" charset="-122"/>
                <a:cs typeface="Noto Sans CJK KR" pitchFamily="34" charset="-120"/>
              </a:rPr>
              <a:t>ESG 위험도 예측 모델 구축</a:t>
            </a:r>
            <a:endParaRPr lang="en-US" sz="3400" dirty="0"/>
          </a:p>
        </p:txBody>
      </p:sp>
      <p:sp>
        <p:nvSpPr>
          <p:cNvPr id="6" name="Text 4"/>
          <p:cNvSpPr/>
          <p:nvPr/>
        </p:nvSpPr>
        <p:spPr>
          <a:xfrm>
            <a:off x="548640" y="4160520"/>
            <a:ext cx="9875520" cy="731520"/>
          </a:xfrm>
          <a:prstGeom prst="rect">
            <a:avLst/>
          </a:prstGeom>
          <a:noFill/>
          <a:ln/>
        </p:spPr>
        <p:txBody>
          <a:bodyPr wrap="square" rtlCol="0" anchor="ctr"/>
          <a:lstStyle/>
          <a:p>
            <a:pPr indent="0" marL="0">
              <a:buNone/>
            </a:pPr>
            <a:r>
              <a:rPr lang="en-US" sz="1600" dirty="0">
                <a:solidFill>
                  <a:srgbClr val="E8EEF7"/>
                </a:solidFill>
                <a:latin typeface="Noto Sans CJK KR" pitchFamily="34" charset="0"/>
                <a:ea typeface="Noto Sans CJK KR" pitchFamily="34" charset="-122"/>
                <a:cs typeface="Noto Sans CJK KR" pitchFamily="34" charset="-120"/>
              </a:rPr>
              <a:t>블록 A(HS Code 모델) → 블록 B(ESG 모델·스크리닝) → 블록 C(Orange3 통합 에이전트) 순으로 진행</a:t>
            </a:r>
            <a:endParaRPr lang="en-US" sz="1600" dirty="0"/>
          </a:p>
        </p:txBody>
      </p:sp>
      <p:sp>
        <p:nvSpPr>
          <p:cNvPr id="7" name="Text 5"/>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8" name="Text 6"/>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arge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3.4</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실습 개요</a:t>
            </a:r>
            <a:endParaRPr lang="en-US" sz="2600" dirty="0"/>
          </a:p>
        </p:txBody>
      </p:sp>
      <p:sp>
        <p:nvSpPr>
          <p:cNvPr id="6" name="Text 3"/>
          <p:cNvSpPr/>
          <p:nvPr/>
        </p:nvSpPr>
        <p:spPr>
          <a:xfrm>
            <a:off x="548640" y="1536192"/>
            <a:ext cx="11094415" cy="448056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실습 배경</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품목분류(HS Code)를 잘못 기재하면 막대한 과태료나 통관 보류 리스크가 발생한다. 하위 협력사의 환경·노동 데이터가 기준에 안 맞으면 공급망 전체가 ESG 제재를 받을 수 있어 사전 예측 기술이 필요하다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실습 목표</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① 상품명·사양 텍스트를 AI가 인식 가능한 형태로 결합·인코딩 ② 노코드 툴로 HS Code 추천·ESG 위험 예측 모델 구축 ③ Precision·Recall 이해 및 임계값 조정</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실습 특징</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Orange3의 드래그앤드롭 방식으로 분류 모델을 직접 구성. 2일차에 정제한 마스터 데이터셋을 그대로 이어받아 학습 데이터로 재사용</a:t>
            </a:r>
            <a:endParaRPr lang="en-US" sz="1600" dirty="0"/>
          </a:p>
        </p:txBody>
      </p:sp>
      <p:sp>
        <p:nvSpPr>
          <p:cNvPr id="7" name="Text 4"/>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8" name="Text 5"/>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fileTex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3.5</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데이터 명세</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194560"/>
                <a:gridCol w="8899855"/>
              </a:tblGrid>
              <a:tr h="640080">
                <a:tc>
                  <a:txBody>
                    <a:bodyPr/>
                    <a:lstStyle/>
                    <a:p>
                      <a:pPr algn="l" indent="0" marL="0">
                        <a:buNone/>
                      </a:pPr>
                      <a:r>
                        <a:rPr lang="en-US" sz="1350" b="1" dirty="0">
                          <a:solidFill>
                            <a:srgbClr val="FFFFFF"/>
                          </a:solidFill>
                          <a:latin typeface="Noto Sans CJK KR" pitchFamily="34" charset="0"/>
                          <a:ea typeface="Noto Sans CJK KR" pitchFamily="34" charset="-122"/>
                          <a:cs typeface="Noto Sans CJK KR" pitchFamily="34" charset="-120"/>
                        </a:rPr>
                        <a:t>항목</a:t>
                      </a:r>
                      <a:endParaRPr lang="en-US" sz="13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350" b="1" dirty="0">
                          <a:solidFill>
                            <a:srgbClr val="FFFFFF"/>
                          </a:solidFill>
                          <a:latin typeface="Noto Sans CJK KR" pitchFamily="34" charset="0"/>
                          <a:ea typeface="Noto Sans CJK KR" pitchFamily="34" charset="-122"/>
                          <a:cs typeface="Noto Sans CJK KR" pitchFamily="34" charset="-120"/>
                        </a:rPr>
                        <a:t>내용</a:t>
                      </a:r>
                      <a:endParaRPr lang="en-US" sz="13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데이터명</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자사 물류 정보 상세 명세서 및 하위 협력사별 ESG(환경·노동) 실측 통합 데이터셋</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수집 방법</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자사 수출 카탈로그 영문 상품 설명 + 관세청 HS Code 마스터 테이블 결합, 공급망 실사 협력사 제출 환경·노동 평가 점수 수집</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데이터 규모</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정밀 정제된 200~300행 내외의 마스터 데이터셋</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파일 형태</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.xlsx/.csv(머신러닝 입력용), 데이터 분류 모델 평가 리포트 서식</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분석 대상 항목</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415C"/>
                          </a:solidFill>
                          <a:latin typeface="Noto Sans CJK KR" pitchFamily="34" charset="0"/>
                          <a:ea typeface="Noto Sans CJK KR" pitchFamily="34" charset="-122"/>
                          <a:cs typeface="Noto Sans CJK KR" pitchFamily="34" charset="-120"/>
                        </a:rPr>
                        <a:t>상품 영문명 텍스트, 제품 상세 사양 문자열, 협력사별 환경 기준 위반 횟수, 리스크 예측 타겟값(정상/위험)</a:t>
                      </a:r>
                      <a:endParaRPr lang="en-US" sz="125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8"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gitBran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3.6</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문제 해결 방안 설계</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645920"/>
                <a:gridCol w="4572000"/>
                <a:gridCol w="487649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단계</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내용</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목적</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① 학습 데이터 구축</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자사 상품의 영문명·핵심 사양·재질 데이터를 2일차 정제 통합 파일과 매칭해, 알고리즘이 분석하기 좋은 정형 학습 입력 데이터로 구축</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모델이 학습할 수 있는 정형 입력 데이터 준비</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② 모델 학습</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자연어 처리 원리로 상품 설명 문장을 코딩 없이 자동 분류하는 노코드 툴(Orange3 등)로 데이터를 학습</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HS Code 매핑·ESG 위험도 예측 모델 확보</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③ 예측·스크리닝 적용</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학습된 모델에 신규 상품명·협력사 데이터를 입력해 최적 HS Code를 자동 추천하고 ESG 위반 가능성을 사전 예측</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실제 업무에 바로 적용 가능한 스크리닝 흐름 완성</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532120"/>
            <a:ext cx="11094415" cy="777240"/>
          </a:xfrm>
          <a:prstGeom prst="roundRect">
            <a:avLst>
              <a:gd name="adj" fmla="val 9412"/>
            </a:avLst>
          </a:prstGeom>
          <a:solidFill>
            <a:srgbClr val="FBEEDC"/>
          </a:solidFill>
          <a:ln/>
        </p:spPr>
      </p:sp>
      <p:sp>
        <p:nvSpPr>
          <p:cNvPr id="8" name="Shape 4"/>
          <p:cNvSpPr/>
          <p:nvPr/>
        </p:nvSpPr>
        <p:spPr>
          <a:xfrm>
            <a:off x="694944" y="5650992"/>
            <a:ext cx="502920" cy="502920"/>
          </a:xfrm>
          <a:prstGeom prst="ellipse">
            <a:avLst/>
          </a:prstGeom>
          <a:solidFill>
            <a:srgbClr val="D98E2B"/>
          </a:solidFill>
          <a:ln/>
        </p:spPr>
      </p:sp>
      <p:pic>
        <p:nvPicPr>
          <p:cNvPr id="9"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10" name="Text 5"/>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3.7의 Step들이 이 3단계에 대응한다.</a:t>
            </a:r>
            <a:endParaRPr lang="en-US" sz="1250" dirty="0"/>
          </a:p>
        </p:txBody>
      </p:sp>
      <p:sp>
        <p:nvSpPr>
          <p:cNvPr id="11"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2"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ool.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참고 — Orange3 실행 화면 예시 및 파이썬·웹 UI 대안 경로</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'②모델 학습' 단계는 Orange3(노코드 툴)로 실습하도록 설계되어 있다. 다만 Orange3는 교육·프로토타이핑에는 적합하지만 실무 배포 도구로는 잘 쓰이지 않는다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세 가지 구현 경로</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① Orange3 노코드 워크플로우 ② AI에게 코드를 짜게 해서 파이썬(scikit-learn)으로 구현 ③ Streamlit 웹 UI로 구현 — 세 방식 모두 3.6의 로직(①학습데이터 구축→②모델학습→③예측·스크리닝)은 동일하게 유지된다</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실무에서는 Orange보다 파이썬·웹 UI 경로가 더 널리 쓰인다는 점을 함께 안내한다. 이후 각 Step·에이전트 예제에서 세 경로를 함께 제시한다.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edi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3.7 [블록 A]</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HS Code 추천 모델 구현 — Step 1~4</a:t>
            </a:r>
            <a:endParaRPr lang="en-US" sz="2600" dirty="0"/>
          </a:p>
        </p:txBody>
      </p:sp>
      <p:sp>
        <p:nvSpPr>
          <p:cNvPr id="6" name="Shape 3"/>
          <p:cNvSpPr/>
          <p:nvPr/>
        </p:nvSpPr>
        <p:spPr>
          <a:xfrm>
            <a:off x="548640" y="1828800"/>
            <a:ext cx="2602154" cy="2834640"/>
          </a:xfrm>
          <a:prstGeom prst="roundRect">
            <a:avLst>
              <a:gd name="adj" fmla="val 2811"/>
            </a:avLst>
          </a:prstGeom>
          <a:solidFill>
            <a:srgbClr val="E8EEF7"/>
          </a:solidFill>
          <a:ln/>
        </p:spPr>
      </p:sp>
      <p:sp>
        <p:nvSpPr>
          <p:cNvPr id="7" name="Shape 4"/>
          <p:cNvSpPr/>
          <p:nvPr/>
        </p:nvSpPr>
        <p:spPr>
          <a:xfrm>
            <a:off x="1593685" y="1572768"/>
            <a:ext cx="512064" cy="512064"/>
          </a:xfrm>
          <a:prstGeom prst="ellipse">
            <a:avLst/>
          </a:prstGeom>
          <a:solidFill>
            <a:srgbClr val="1B2A4A"/>
          </a:solidFill>
          <a:ln/>
        </p:spPr>
      </p:sp>
      <p:sp>
        <p:nvSpPr>
          <p:cNvPr id="8" name="Text 5"/>
          <p:cNvSpPr/>
          <p:nvPr/>
        </p:nvSpPr>
        <p:spPr>
          <a:xfrm>
            <a:off x="1593685"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1</a:t>
            </a:r>
            <a:endParaRPr lang="en-US" sz="1800" dirty="0"/>
          </a:p>
        </p:txBody>
      </p:sp>
      <p:sp>
        <p:nvSpPr>
          <p:cNvPr id="9" name="Text 6"/>
          <p:cNvSpPr/>
          <p:nvPr/>
        </p:nvSpPr>
        <p:spPr>
          <a:xfrm>
            <a:off x="676656"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1~1-1. 준비·데이터 결합</a:t>
            </a:r>
            <a:endParaRPr lang="en-US" sz="1400" dirty="0"/>
          </a:p>
        </p:txBody>
      </p:sp>
      <p:sp>
        <p:nvSpPr>
          <p:cNvPr id="10" name="Text 7"/>
          <p:cNvSpPr/>
          <p:nvPr/>
        </p:nvSpPr>
        <p:spPr>
          <a:xfrm>
            <a:off x="676656"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마스터 데이터셋 다운로드, 2일차 정제 파일과 열 구성 확인 → 자사 상품 영문명·사양 데이터를 2일차 통합 파일과 매칭해 결합(행=상품1개, 열=영문명·재질·사양·HS Code)</a:t>
            </a:r>
            <a:endParaRPr lang="en-US" sz="1150" dirty="0"/>
          </a:p>
        </p:txBody>
      </p:sp>
      <p:sp>
        <p:nvSpPr>
          <p:cNvPr id="11" name="Text 8"/>
          <p:cNvSpPr/>
          <p:nvPr/>
        </p:nvSpPr>
        <p:spPr>
          <a:xfrm>
            <a:off x="3150794" y="2926080"/>
            <a:ext cx="228600" cy="457200"/>
          </a:xfrm>
          <a:prstGeom prst="rect">
            <a:avLst/>
          </a:prstGeom>
          <a:noFill/>
          <a:ln/>
        </p:spPr>
        <p:txBody>
          <a:bodyPr wrap="square" rtlCol="0" anchor="ctr"/>
          <a:lstStyle/>
          <a:p>
            <a:pPr algn="ctr" indent="0" marL="0">
              <a:buNone/>
            </a:pPr>
            <a:r>
              <a:rPr lang="en-US" sz="2000" dirty="0">
                <a:solidFill>
                  <a:srgbClr val="6B7A93"/>
                </a:solidFill>
              </a:rPr>
              <a:t>→</a:t>
            </a:r>
            <a:endParaRPr lang="en-US" sz="2000" dirty="0"/>
          </a:p>
        </p:txBody>
      </p:sp>
      <p:sp>
        <p:nvSpPr>
          <p:cNvPr id="12" name="Shape 9"/>
          <p:cNvSpPr/>
          <p:nvPr/>
        </p:nvSpPr>
        <p:spPr>
          <a:xfrm>
            <a:off x="3379394" y="1828800"/>
            <a:ext cx="2602154" cy="2834640"/>
          </a:xfrm>
          <a:prstGeom prst="roundRect">
            <a:avLst>
              <a:gd name="adj" fmla="val 2811"/>
            </a:avLst>
          </a:prstGeom>
          <a:solidFill>
            <a:srgbClr val="E8EEF7"/>
          </a:solidFill>
          <a:ln/>
        </p:spPr>
      </p:sp>
      <p:sp>
        <p:nvSpPr>
          <p:cNvPr id="13" name="Shape 10"/>
          <p:cNvSpPr/>
          <p:nvPr/>
        </p:nvSpPr>
        <p:spPr>
          <a:xfrm>
            <a:off x="4424439" y="1572768"/>
            <a:ext cx="512064" cy="512064"/>
          </a:xfrm>
          <a:prstGeom prst="ellipse">
            <a:avLst/>
          </a:prstGeom>
          <a:solidFill>
            <a:srgbClr val="3E5C86"/>
          </a:solidFill>
          <a:ln/>
        </p:spPr>
      </p:sp>
      <p:sp>
        <p:nvSpPr>
          <p:cNvPr id="14" name="Text 11"/>
          <p:cNvSpPr/>
          <p:nvPr/>
        </p:nvSpPr>
        <p:spPr>
          <a:xfrm>
            <a:off x="4424439"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2</a:t>
            </a:r>
            <a:endParaRPr lang="en-US" sz="1800" dirty="0"/>
          </a:p>
        </p:txBody>
      </p:sp>
      <p:sp>
        <p:nvSpPr>
          <p:cNvPr id="15" name="Text 12"/>
          <p:cNvSpPr/>
          <p:nvPr/>
        </p:nvSpPr>
        <p:spPr>
          <a:xfrm>
            <a:off x="3507410"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2. 텍스트 데이터 인코딩</a:t>
            </a:r>
            <a:endParaRPr lang="en-US" sz="1400" dirty="0"/>
          </a:p>
        </p:txBody>
      </p:sp>
      <p:sp>
        <p:nvSpPr>
          <p:cNvPr id="16" name="Text 13"/>
          <p:cNvSpPr/>
          <p:nvPr/>
        </p:nvSpPr>
        <p:spPr>
          <a:xfrm>
            <a:off x="3507410"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상품명·사양 열을 Preprocess Text로 토큰화 → Bag of Words(또는 유사 임베딩)로 숫자 벡터 변환</a:t>
            </a:r>
            <a:endParaRPr lang="en-US" sz="1150" dirty="0"/>
          </a:p>
        </p:txBody>
      </p:sp>
      <p:sp>
        <p:nvSpPr>
          <p:cNvPr id="17" name="Text 14"/>
          <p:cNvSpPr/>
          <p:nvPr/>
        </p:nvSpPr>
        <p:spPr>
          <a:xfrm>
            <a:off x="5981548" y="2926080"/>
            <a:ext cx="228600" cy="457200"/>
          </a:xfrm>
          <a:prstGeom prst="rect">
            <a:avLst/>
          </a:prstGeom>
          <a:noFill/>
          <a:ln/>
        </p:spPr>
        <p:txBody>
          <a:bodyPr wrap="square" rtlCol="0" anchor="ctr"/>
          <a:lstStyle/>
          <a:p>
            <a:pPr algn="ctr" indent="0" marL="0">
              <a:buNone/>
            </a:pPr>
            <a:r>
              <a:rPr lang="en-US" sz="2000" dirty="0">
                <a:solidFill>
                  <a:srgbClr val="6B7A93"/>
                </a:solidFill>
              </a:rPr>
              <a:t>→</a:t>
            </a:r>
            <a:endParaRPr lang="en-US" sz="2000" dirty="0"/>
          </a:p>
        </p:txBody>
      </p:sp>
      <p:sp>
        <p:nvSpPr>
          <p:cNvPr id="18" name="Shape 15"/>
          <p:cNvSpPr/>
          <p:nvPr/>
        </p:nvSpPr>
        <p:spPr>
          <a:xfrm>
            <a:off x="6210148" y="1828800"/>
            <a:ext cx="2602154" cy="2834640"/>
          </a:xfrm>
          <a:prstGeom prst="roundRect">
            <a:avLst>
              <a:gd name="adj" fmla="val 2811"/>
            </a:avLst>
          </a:prstGeom>
          <a:solidFill>
            <a:srgbClr val="E8EEF7"/>
          </a:solidFill>
          <a:ln/>
        </p:spPr>
      </p:sp>
      <p:sp>
        <p:nvSpPr>
          <p:cNvPr id="19" name="Shape 16"/>
          <p:cNvSpPr/>
          <p:nvPr/>
        </p:nvSpPr>
        <p:spPr>
          <a:xfrm>
            <a:off x="7255193" y="1572768"/>
            <a:ext cx="512064" cy="512064"/>
          </a:xfrm>
          <a:prstGeom prst="ellipse">
            <a:avLst/>
          </a:prstGeom>
          <a:solidFill>
            <a:srgbClr val="1B2A4A"/>
          </a:solidFill>
          <a:ln/>
        </p:spPr>
      </p:sp>
      <p:sp>
        <p:nvSpPr>
          <p:cNvPr id="20" name="Text 17"/>
          <p:cNvSpPr/>
          <p:nvPr/>
        </p:nvSpPr>
        <p:spPr>
          <a:xfrm>
            <a:off x="7255193"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3</a:t>
            </a:r>
            <a:endParaRPr lang="en-US" sz="1800" dirty="0"/>
          </a:p>
        </p:txBody>
      </p:sp>
      <p:sp>
        <p:nvSpPr>
          <p:cNvPr id="21" name="Text 18"/>
          <p:cNvSpPr/>
          <p:nvPr/>
        </p:nvSpPr>
        <p:spPr>
          <a:xfrm>
            <a:off x="6338164"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3. HS Code 분류 모델 학습</a:t>
            </a:r>
            <a:endParaRPr lang="en-US" sz="1400" dirty="0"/>
          </a:p>
        </p:txBody>
      </p:sp>
      <p:sp>
        <p:nvSpPr>
          <p:cNvPr id="22" name="Text 19"/>
          <p:cNvSpPr/>
          <p:nvPr/>
        </p:nvSpPr>
        <p:spPr>
          <a:xfrm>
            <a:off x="6338164"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인코딩된 벡터+정답 HS Code를 분류 위젯(Tree, kNN 등)에 연결 → Test &amp; Score로 1차 정확도 확인</a:t>
            </a:r>
            <a:endParaRPr lang="en-US" sz="1150" dirty="0"/>
          </a:p>
        </p:txBody>
      </p:sp>
      <p:sp>
        <p:nvSpPr>
          <p:cNvPr id="23" name="Text 20"/>
          <p:cNvSpPr/>
          <p:nvPr/>
        </p:nvSpPr>
        <p:spPr>
          <a:xfrm>
            <a:off x="8812301" y="2926080"/>
            <a:ext cx="228600" cy="457200"/>
          </a:xfrm>
          <a:prstGeom prst="rect">
            <a:avLst/>
          </a:prstGeom>
          <a:noFill/>
          <a:ln/>
        </p:spPr>
        <p:txBody>
          <a:bodyPr wrap="square" rtlCol="0" anchor="ctr"/>
          <a:lstStyle/>
          <a:p>
            <a:pPr algn="ctr" indent="0" marL="0">
              <a:buNone/>
            </a:pPr>
            <a:r>
              <a:rPr lang="en-US" sz="2000" dirty="0">
                <a:solidFill>
                  <a:srgbClr val="6B7A93"/>
                </a:solidFill>
              </a:rPr>
              <a:t>→</a:t>
            </a:r>
            <a:endParaRPr lang="en-US" sz="2000" dirty="0"/>
          </a:p>
        </p:txBody>
      </p:sp>
      <p:sp>
        <p:nvSpPr>
          <p:cNvPr id="24" name="Shape 21"/>
          <p:cNvSpPr/>
          <p:nvPr/>
        </p:nvSpPr>
        <p:spPr>
          <a:xfrm>
            <a:off x="9040901" y="1828800"/>
            <a:ext cx="2602154" cy="2834640"/>
          </a:xfrm>
          <a:prstGeom prst="roundRect">
            <a:avLst>
              <a:gd name="adj" fmla="val 2811"/>
            </a:avLst>
          </a:prstGeom>
          <a:solidFill>
            <a:srgbClr val="E8EEF7"/>
          </a:solidFill>
          <a:ln/>
        </p:spPr>
      </p:sp>
      <p:sp>
        <p:nvSpPr>
          <p:cNvPr id="25" name="Shape 22"/>
          <p:cNvSpPr/>
          <p:nvPr/>
        </p:nvSpPr>
        <p:spPr>
          <a:xfrm>
            <a:off x="10085946" y="1572768"/>
            <a:ext cx="512064" cy="512064"/>
          </a:xfrm>
          <a:prstGeom prst="ellipse">
            <a:avLst/>
          </a:prstGeom>
          <a:solidFill>
            <a:srgbClr val="3E5C86"/>
          </a:solidFill>
          <a:ln/>
        </p:spPr>
      </p:sp>
      <p:sp>
        <p:nvSpPr>
          <p:cNvPr id="26" name="Text 23"/>
          <p:cNvSpPr/>
          <p:nvPr/>
        </p:nvSpPr>
        <p:spPr>
          <a:xfrm>
            <a:off x="10085946"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4</a:t>
            </a:r>
            <a:endParaRPr lang="en-US" sz="1800" dirty="0"/>
          </a:p>
        </p:txBody>
      </p:sp>
      <p:sp>
        <p:nvSpPr>
          <p:cNvPr id="27" name="Text 24"/>
          <p:cNvSpPr/>
          <p:nvPr/>
        </p:nvSpPr>
        <p:spPr>
          <a:xfrm>
            <a:off x="9168917"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4. 신규 상품 예측 테스트</a:t>
            </a:r>
            <a:endParaRPr lang="en-US" sz="1400" dirty="0"/>
          </a:p>
        </p:txBody>
      </p:sp>
      <p:sp>
        <p:nvSpPr>
          <p:cNvPr id="28" name="Text 25"/>
          <p:cNvSpPr/>
          <p:nvPr/>
        </p:nvSpPr>
        <p:spPr>
          <a:xfrm>
            <a:off x="9168917"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학습에 안 쓴 신규 상품명 3~5건 입력 → 추천 HS Code를 실제 관세사 자문(또는 정답)과 비교</a:t>
            </a:r>
            <a:endParaRPr lang="en-US" sz="1150" dirty="0"/>
          </a:p>
        </p:txBody>
      </p:sp>
      <p:sp>
        <p:nvSpPr>
          <p:cNvPr id="29" name="Shape 26"/>
          <p:cNvSpPr/>
          <p:nvPr/>
        </p:nvSpPr>
        <p:spPr>
          <a:xfrm>
            <a:off x="548640" y="4937760"/>
            <a:ext cx="11094415" cy="777240"/>
          </a:xfrm>
          <a:prstGeom prst="roundRect">
            <a:avLst>
              <a:gd name="adj" fmla="val 9412"/>
            </a:avLst>
          </a:prstGeom>
          <a:solidFill>
            <a:srgbClr val="FBEEDC"/>
          </a:solidFill>
          <a:ln/>
        </p:spPr>
      </p:sp>
      <p:sp>
        <p:nvSpPr>
          <p:cNvPr id="30" name="Shape 27"/>
          <p:cNvSpPr/>
          <p:nvPr/>
        </p:nvSpPr>
        <p:spPr>
          <a:xfrm>
            <a:off x="694944" y="5056632"/>
            <a:ext cx="502920" cy="502920"/>
          </a:xfrm>
          <a:prstGeom prst="ellipse">
            <a:avLst/>
          </a:prstGeom>
          <a:solidFill>
            <a:srgbClr val="D98E2B"/>
          </a:solidFill>
          <a:ln/>
        </p:spPr>
      </p:sp>
      <p:pic>
        <p:nvPicPr>
          <p:cNvPr id="31" name="Image 1" descr="/home/claude/day3_ppt/icons/checkCircle.png">    </p:cNvPr>
          <p:cNvPicPr>
            <a:picLocks noChangeAspect="1"/>
          </p:cNvPicPr>
          <p:nvPr/>
        </p:nvPicPr>
        <p:blipFill>
          <a:blip r:embed="rId2"/>
          <a:stretch>
            <a:fillRect/>
          </a:stretch>
        </p:blipFill>
        <p:spPr>
          <a:xfrm>
            <a:off x="760324" y="5122012"/>
            <a:ext cx="372161" cy="372161"/>
          </a:xfrm>
          <a:prstGeom prst="rect">
            <a:avLst/>
          </a:prstGeom>
        </p:spPr>
      </p:pic>
      <p:sp>
        <p:nvSpPr>
          <p:cNvPr id="32" name="Text 28"/>
          <p:cNvSpPr/>
          <p:nvPr/>
        </p:nvSpPr>
        <p:spPr>
          <a:xfrm>
            <a:off x="1325880" y="4983480"/>
            <a:ext cx="10134295" cy="685800"/>
          </a:xfrm>
          <a:prstGeom prst="rect">
            <a:avLst/>
          </a:prstGeom>
          <a:noFill/>
          <a:ln/>
        </p:spPr>
        <p:txBody>
          <a:bodyPr wrap="square" rtlCol="0" anchor="ctr"/>
          <a:lstStyle/>
          <a:p>
            <a:pPr indent="0" marL="0">
              <a:buNone/>
            </a:pPr>
            <a:r>
              <a:rPr lang="en-US" sz="1250" dirty="0">
                <a:solidFill>
                  <a:srgbClr val="1B2A4A"/>
                </a:solidFill>
                <a:latin typeface="Noto Sans CJK KR" pitchFamily="34" charset="0"/>
                <a:ea typeface="Noto Sans CJK KR" pitchFamily="34" charset="-122"/>
                <a:cs typeface="Noto Sans CJK KR" pitchFamily="34" charset="-120"/>
              </a:rPr>
              <a:t>매칭이 부정확하면(품명 표기 차이로 매칭 누락) Step3의 모델 정확도 자체가 낮아질 수 있어, Step1-1의 결합 결과를 꼼꼼히 확인하는 것이 중요하다.</a:t>
            </a:r>
            <a:endParaRPr lang="en-US" sz="1250" dirty="0"/>
          </a:p>
        </p:txBody>
      </p:sp>
      <p:sp>
        <p:nvSpPr>
          <p:cNvPr id="33" name="Text 29"/>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34" name="Text 30"/>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sear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3.7 [블록 B]</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ESG 위험도 예측·스크리닝 — Step 5~8</a:t>
            </a:r>
            <a:endParaRPr lang="en-US" sz="2600" dirty="0"/>
          </a:p>
        </p:txBody>
      </p:sp>
      <p:sp>
        <p:nvSpPr>
          <p:cNvPr id="6" name="Shape 3"/>
          <p:cNvSpPr/>
          <p:nvPr/>
        </p:nvSpPr>
        <p:spPr>
          <a:xfrm>
            <a:off x="548640" y="1828800"/>
            <a:ext cx="2602154" cy="2834640"/>
          </a:xfrm>
          <a:prstGeom prst="roundRect">
            <a:avLst>
              <a:gd name="adj" fmla="val 2811"/>
            </a:avLst>
          </a:prstGeom>
          <a:solidFill>
            <a:srgbClr val="E8EEF7"/>
          </a:solidFill>
          <a:ln/>
        </p:spPr>
      </p:sp>
      <p:sp>
        <p:nvSpPr>
          <p:cNvPr id="7" name="Shape 4"/>
          <p:cNvSpPr/>
          <p:nvPr/>
        </p:nvSpPr>
        <p:spPr>
          <a:xfrm>
            <a:off x="1593685" y="1572768"/>
            <a:ext cx="512064" cy="512064"/>
          </a:xfrm>
          <a:prstGeom prst="ellipse">
            <a:avLst/>
          </a:prstGeom>
          <a:solidFill>
            <a:srgbClr val="1B2A4A"/>
          </a:solidFill>
          <a:ln/>
        </p:spPr>
      </p:sp>
      <p:sp>
        <p:nvSpPr>
          <p:cNvPr id="8" name="Text 5"/>
          <p:cNvSpPr/>
          <p:nvPr/>
        </p:nvSpPr>
        <p:spPr>
          <a:xfrm>
            <a:off x="1593685"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1</a:t>
            </a:r>
            <a:endParaRPr lang="en-US" sz="1800" dirty="0"/>
          </a:p>
        </p:txBody>
      </p:sp>
      <p:sp>
        <p:nvSpPr>
          <p:cNvPr id="9" name="Text 6"/>
          <p:cNvSpPr/>
          <p:nvPr/>
        </p:nvSpPr>
        <p:spPr>
          <a:xfrm>
            <a:off x="676656"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5. ESG 위험도 예측 모델 구성</a:t>
            </a:r>
            <a:endParaRPr lang="en-US" sz="1400" dirty="0"/>
          </a:p>
        </p:txBody>
      </p:sp>
      <p:sp>
        <p:nvSpPr>
          <p:cNvPr id="10" name="Text 7"/>
          <p:cNvSpPr/>
          <p:nvPr/>
        </p:nvSpPr>
        <p:spPr>
          <a:xfrm>
            <a:off x="676656"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협력사별 환경 위반 횟수·노동 평가 점수를 특징으로, 리스크 타겟값(정상/위험)을 정답으로 지정해 학습</a:t>
            </a:r>
            <a:endParaRPr lang="en-US" sz="1150" dirty="0"/>
          </a:p>
        </p:txBody>
      </p:sp>
      <p:sp>
        <p:nvSpPr>
          <p:cNvPr id="11" name="Text 8"/>
          <p:cNvSpPr/>
          <p:nvPr/>
        </p:nvSpPr>
        <p:spPr>
          <a:xfrm>
            <a:off x="3150794" y="2926080"/>
            <a:ext cx="228600" cy="457200"/>
          </a:xfrm>
          <a:prstGeom prst="rect">
            <a:avLst/>
          </a:prstGeom>
          <a:noFill/>
          <a:ln/>
        </p:spPr>
        <p:txBody>
          <a:bodyPr wrap="square" rtlCol="0" anchor="ctr"/>
          <a:lstStyle/>
          <a:p>
            <a:pPr algn="ctr" indent="0" marL="0">
              <a:buNone/>
            </a:pPr>
            <a:r>
              <a:rPr lang="en-US" sz="2000" dirty="0">
                <a:solidFill>
                  <a:srgbClr val="6B7A93"/>
                </a:solidFill>
              </a:rPr>
              <a:t>→</a:t>
            </a:r>
            <a:endParaRPr lang="en-US" sz="2000" dirty="0"/>
          </a:p>
        </p:txBody>
      </p:sp>
      <p:sp>
        <p:nvSpPr>
          <p:cNvPr id="12" name="Shape 9"/>
          <p:cNvSpPr/>
          <p:nvPr/>
        </p:nvSpPr>
        <p:spPr>
          <a:xfrm>
            <a:off x="3379394" y="1828800"/>
            <a:ext cx="2602154" cy="2834640"/>
          </a:xfrm>
          <a:prstGeom prst="roundRect">
            <a:avLst>
              <a:gd name="adj" fmla="val 2811"/>
            </a:avLst>
          </a:prstGeom>
          <a:solidFill>
            <a:srgbClr val="E8EEF7"/>
          </a:solidFill>
          <a:ln/>
        </p:spPr>
      </p:sp>
      <p:sp>
        <p:nvSpPr>
          <p:cNvPr id="13" name="Shape 10"/>
          <p:cNvSpPr/>
          <p:nvPr/>
        </p:nvSpPr>
        <p:spPr>
          <a:xfrm>
            <a:off x="4424439" y="1572768"/>
            <a:ext cx="512064" cy="512064"/>
          </a:xfrm>
          <a:prstGeom prst="ellipse">
            <a:avLst/>
          </a:prstGeom>
          <a:solidFill>
            <a:srgbClr val="3E5C86"/>
          </a:solidFill>
          <a:ln/>
        </p:spPr>
      </p:sp>
      <p:sp>
        <p:nvSpPr>
          <p:cNvPr id="14" name="Text 11"/>
          <p:cNvSpPr/>
          <p:nvPr/>
        </p:nvSpPr>
        <p:spPr>
          <a:xfrm>
            <a:off x="4424439"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2</a:t>
            </a:r>
            <a:endParaRPr lang="en-US" sz="1800" dirty="0"/>
          </a:p>
        </p:txBody>
      </p:sp>
      <p:sp>
        <p:nvSpPr>
          <p:cNvPr id="15" name="Text 12"/>
          <p:cNvSpPr/>
          <p:nvPr/>
        </p:nvSpPr>
        <p:spPr>
          <a:xfrm>
            <a:off x="3507410"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6. 혼동행렬로 결과 확인</a:t>
            </a:r>
            <a:endParaRPr lang="en-US" sz="1400" dirty="0"/>
          </a:p>
        </p:txBody>
      </p:sp>
      <p:sp>
        <p:nvSpPr>
          <p:cNvPr id="16" name="Text 13"/>
          <p:cNvSpPr/>
          <p:nvPr/>
        </p:nvSpPr>
        <p:spPr>
          <a:xfrm>
            <a:off x="3507410"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Confusion Matrix로 실제값·예측값 확인 → Precision·Recall 직접 계산해 Test &amp; Score 값과 비교 검증</a:t>
            </a:r>
            <a:endParaRPr lang="en-US" sz="1150" dirty="0"/>
          </a:p>
        </p:txBody>
      </p:sp>
      <p:sp>
        <p:nvSpPr>
          <p:cNvPr id="17" name="Text 14"/>
          <p:cNvSpPr/>
          <p:nvPr/>
        </p:nvSpPr>
        <p:spPr>
          <a:xfrm>
            <a:off x="5981548" y="2926080"/>
            <a:ext cx="228600" cy="457200"/>
          </a:xfrm>
          <a:prstGeom prst="rect">
            <a:avLst/>
          </a:prstGeom>
          <a:noFill/>
          <a:ln/>
        </p:spPr>
        <p:txBody>
          <a:bodyPr wrap="square" rtlCol="0" anchor="ctr"/>
          <a:lstStyle/>
          <a:p>
            <a:pPr algn="ctr" indent="0" marL="0">
              <a:buNone/>
            </a:pPr>
            <a:r>
              <a:rPr lang="en-US" sz="2000" dirty="0">
                <a:solidFill>
                  <a:srgbClr val="6B7A93"/>
                </a:solidFill>
              </a:rPr>
              <a:t>→</a:t>
            </a:r>
            <a:endParaRPr lang="en-US" sz="2000" dirty="0"/>
          </a:p>
        </p:txBody>
      </p:sp>
      <p:sp>
        <p:nvSpPr>
          <p:cNvPr id="18" name="Shape 15"/>
          <p:cNvSpPr/>
          <p:nvPr/>
        </p:nvSpPr>
        <p:spPr>
          <a:xfrm>
            <a:off x="6210148" y="1828800"/>
            <a:ext cx="2602154" cy="2834640"/>
          </a:xfrm>
          <a:prstGeom prst="roundRect">
            <a:avLst>
              <a:gd name="adj" fmla="val 2811"/>
            </a:avLst>
          </a:prstGeom>
          <a:solidFill>
            <a:srgbClr val="E8EEF7"/>
          </a:solidFill>
          <a:ln/>
        </p:spPr>
      </p:sp>
      <p:sp>
        <p:nvSpPr>
          <p:cNvPr id="19" name="Shape 16"/>
          <p:cNvSpPr/>
          <p:nvPr/>
        </p:nvSpPr>
        <p:spPr>
          <a:xfrm>
            <a:off x="7255193" y="1572768"/>
            <a:ext cx="512064" cy="512064"/>
          </a:xfrm>
          <a:prstGeom prst="ellipse">
            <a:avLst/>
          </a:prstGeom>
          <a:solidFill>
            <a:srgbClr val="1B2A4A"/>
          </a:solidFill>
          <a:ln/>
        </p:spPr>
      </p:sp>
      <p:sp>
        <p:nvSpPr>
          <p:cNvPr id="20" name="Text 17"/>
          <p:cNvSpPr/>
          <p:nvPr/>
        </p:nvSpPr>
        <p:spPr>
          <a:xfrm>
            <a:off x="7255193"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3</a:t>
            </a:r>
            <a:endParaRPr lang="en-US" sz="1800" dirty="0"/>
          </a:p>
        </p:txBody>
      </p:sp>
      <p:sp>
        <p:nvSpPr>
          <p:cNvPr id="21" name="Text 18"/>
          <p:cNvSpPr/>
          <p:nvPr/>
        </p:nvSpPr>
        <p:spPr>
          <a:xfrm>
            <a:off x="6338164"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7. 임계값 조정 실습</a:t>
            </a:r>
            <a:endParaRPr lang="en-US" sz="1400" dirty="0"/>
          </a:p>
        </p:txBody>
      </p:sp>
      <p:sp>
        <p:nvSpPr>
          <p:cNvPr id="22" name="Text 19"/>
          <p:cNvSpPr/>
          <p:nvPr/>
        </p:nvSpPr>
        <p:spPr>
          <a:xfrm>
            <a:off x="6338164"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임계값을 0.7→0.5→0.3으로 낮춰가며 Precision·Recall 변화 관찰 → 우리 회사라면 어떤 임계값을 택할지 토론</a:t>
            </a:r>
            <a:endParaRPr lang="en-US" sz="1150" dirty="0"/>
          </a:p>
        </p:txBody>
      </p:sp>
      <p:sp>
        <p:nvSpPr>
          <p:cNvPr id="23" name="Text 20"/>
          <p:cNvSpPr/>
          <p:nvPr/>
        </p:nvSpPr>
        <p:spPr>
          <a:xfrm>
            <a:off x="8812301" y="2926080"/>
            <a:ext cx="228600" cy="457200"/>
          </a:xfrm>
          <a:prstGeom prst="rect">
            <a:avLst/>
          </a:prstGeom>
          <a:noFill/>
          <a:ln/>
        </p:spPr>
        <p:txBody>
          <a:bodyPr wrap="square" rtlCol="0" anchor="ctr"/>
          <a:lstStyle/>
          <a:p>
            <a:pPr algn="ctr" indent="0" marL="0">
              <a:buNone/>
            </a:pPr>
            <a:r>
              <a:rPr lang="en-US" sz="2000" dirty="0">
                <a:solidFill>
                  <a:srgbClr val="6B7A93"/>
                </a:solidFill>
              </a:rPr>
              <a:t>→</a:t>
            </a:r>
            <a:endParaRPr lang="en-US" sz="2000" dirty="0"/>
          </a:p>
        </p:txBody>
      </p:sp>
      <p:sp>
        <p:nvSpPr>
          <p:cNvPr id="24" name="Shape 21"/>
          <p:cNvSpPr/>
          <p:nvPr/>
        </p:nvSpPr>
        <p:spPr>
          <a:xfrm>
            <a:off x="9040901" y="1828800"/>
            <a:ext cx="2602154" cy="2834640"/>
          </a:xfrm>
          <a:prstGeom prst="roundRect">
            <a:avLst>
              <a:gd name="adj" fmla="val 2811"/>
            </a:avLst>
          </a:prstGeom>
          <a:solidFill>
            <a:srgbClr val="E8EEF7"/>
          </a:solidFill>
          <a:ln/>
        </p:spPr>
      </p:sp>
      <p:sp>
        <p:nvSpPr>
          <p:cNvPr id="25" name="Shape 22"/>
          <p:cNvSpPr/>
          <p:nvPr/>
        </p:nvSpPr>
        <p:spPr>
          <a:xfrm>
            <a:off x="10085946" y="1572768"/>
            <a:ext cx="512064" cy="512064"/>
          </a:xfrm>
          <a:prstGeom prst="ellipse">
            <a:avLst/>
          </a:prstGeom>
          <a:solidFill>
            <a:srgbClr val="3E5C86"/>
          </a:solidFill>
          <a:ln/>
        </p:spPr>
      </p:sp>
      <p:sp>
        <p:nvSpPr>
          <p:cNvPr id="26" name="Text 23"/>
          <p:cNvSpPr/>
          <p:nvPr/>
        </p:nvSpPr>
        <p:spPr>
          <a:xfrm>
            <a:off x="10085946" y="1572768"/>
            <a:ext cx="512064" cy="512064"/>
          </a:xfrm>
          <a:prstGeom prst="rect">
            <a:avLst/>
          </a:prstGeom>
          <a:noFill/>
          <a:ln/>
        </p:spPr>
        <p:txBody>
          <a:bodyPr wrap="square" rtlCol="0" anchor="ctr"/>
          <a:lstStyle/>
          <a:p>
            <a:pPr algn="ctr" indent="0" marL="0">
              <a:buNone/>
            </a:pPr>
            <a:r>
              <a:rPr lang="en-US" sz="1800" b="1" dirty="0">
                <a:solidFill>
                  <a:srgbClr val="FFFFFF"/>
                </a:solidFill>
                <a:latin typeface="Noto Sans CJK KR" pitchFamily="34" charset="0"/>
                <a:ea typeface="Noto Sans CJK KR" pitchFamily="34" charset="-122"/>
                <a:cs typeface="Noto Sans CJK KR" pitchFamily="34" charset="-120"/>
              </a:rPr>
              <a:t>4</a:t>
            </a:r>
            <a:endParaRPr lang="en-US" sz="1800" dirty="0"/>
          </a:p>
        </p:txBody>
      </p:sp>
      <p:sp>
        <p:nvSpPr>
          <p:cNvPr id="27" name="Text 24"/>
          <p:cNvSpPr/>
          <p:nvPr/>
        </p:nvSpPr>
        <p:spPr>
          <a:xfrm>
            <a:off x="9168917" y="2212848"/>
            <a:ext cx="2346122" cy="685800"/>
          </a:xfrm>
          <a:prstGeom prst="rect">
            <a:avLst/>
          </a:prstGeom>
          <a:noFill/>
          <a:ln/>
        </p:spPr>
        <p:txBody>
          <a:bodyPr wrap="square" rtlCol="0" anchor="t"/>
          <a:lstStyle/>
          <a:p>
            <a:pPr indent="0" marL="0">
              <a:buNone/>
            </a:pPr>
            <a:r>
              <a:rPr lang="en-US" sz="1400" b="1" dirty="0">
                <a:solidFill>
                  <a:srgbClr val="1B2A4A"/>
                </a:solidFill>
                <a:latin typeface="Noto Sans CJK KR" pitchFamily="34" charset="0"/>
                <a:ea typeface="Noto Sans CJK KR" pitchFamily="34" charset="-122"/>
                <a:cs typeface="Noto Sans CJK KR" pitchFamily="34" charset="-120"/>
              </a:rPr>
              <a:t>Step 8. 스크리닝 자동 적용 및 정리</a:t>
            </a:r>
            <a:endParaRPr lang="en-US" sz="1400" dirty="0"/>
          </a:p>
        </p:txBody>
      </p:sp>
      <p:sp>
        <p:nvSpPr>
          <p:cNvPr id="28" name="Text 25"/>
          <p:cNvSpPr/>
          <p:nvPr/>
        </p:nvSpPr>
        <p:spPr>
          <a:xfrm>
            <a:off x="9168917" y="2907792"/>
            <a:ext cx="2346122" cy="1627632"/>
          </a:xfrm>
          <a:prstGeom prst="rect">
            <a:avLst/>
          </a:prstGeom>
          <a:noFill/>
          <a:ln/>
        </p:spPr>
        <p:txBody>
          <a:bodyPr wrap="square" rtlCol="0" anchor="t"/>
          <a:lstStyle/>
          <a:p>
            <a:pPr indent="0" marL="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완성된 두 모델을 신규 선적 서류 샘플에 적용 → 제재 대상·금지 품목 스크리닝 결과를 제출 양식에 정리</a:t>
            </a:r>
            <a:endParaRPr lang="en-US" sz="1150" dirty="0"/>
          </a:p>
        </p:txBody>
      </p:sp>
      <p:sp>
        <p:nvSpPr>
          <p:cNvPr id="29" name="Shape 26"/>
          <p:cNvSpPr/>
          <p:nvPr/>
        </p:nvSpPr>
        <p:spPr>
          <a:xfrm>
            <a:off x="548640" y="4937760"/>
            <a:ext cx="11094415" cy="777240"/>
          </a:xfrm>
          <a:prstGeom prst="roundRect">
            <a:avLst>
              <a:gd name="adj" fmla="val 9412"/>
            </a:avLst>
          </a:prstGeom>
          <a:solidFill>
            <a:srgbClr val="FBEEDC"/>
          </a:solidFill>
          <a:ln/>
        </p:spPr>
      </p:sp>
      <p:sp>
        <p:nvSpPr>
          <p:cNvPr id="30" name="Shape 27"/>
          <p:cNvSpPr/>
          <p:nvPr/>
        </p:nvSpPr>
        <p:spPr>
          <a:xfrm>
            <a:off x="694944" y="5056632"/>
            <a:ext cx="502920" cy="502920"/>
          </a:xfrm>
          <a:prstGeom prst="ellipse">
            <a:avLst/>
          </a:prstGeom>
          <a:solidFill>
            <a:srgbClr val="D98E2B"/>
          </a:solidFill>
          <a:ln/>
        </p:spPr>
      </p:sp>
      <p:pic>
        <p:nvPicPr>
          <p:cNvPr id="31" name="Image 1" descr="/home/claude/day3_ppt/icons/checkCircle.png">    </p:cNvPr>
          <p:cNvPicPr>
            <a:picLocks noChangeAspect="1"/>
          </p:cNvPicPr>
          <p:nvPr/>
        </p:nvPicPr>
        <p:blipFill>
          <a:blip r:embed="rId2"/>
          <a:stretch>
            <a:fillRect/>
          </a:stretch>
        </p:blipFill>
        <p:spPr>
          <a:xfrm>
            <a:off x="760324" y="5122012"/>
            <a:ext cx="372161" cy="372161"/>
          </a:xfrm>
          <a:prstGeom prst="rect">
            <a:avLst/>
          </a:prstGeom>
        </p:spPr>
      </p:pic>
      <p:sp>
        <p:nvSpPr>
          <p:cNvPr id="32" name="Text 28"/>
          <p:cNvSpPr/>
          <p:nvPr/>
        </p:nvSpPr>
        <p:spPr>
          <a:xfrm>
            <a:off x="1325880" y="4983480"/>
            <a:ext cx="10134295" cy="685800"/>
          </a:xfrm>
          <a:prstGeom prst="rect">
            <a:avLst/>
          </a:prstGeom>
          <a:noFill/>
          <a:ln/>
        </p:spPr>
        <p:txBody>
          <a:bodyPr wrap="square" rtlCol="0" anchor="ctr"/>
          <a:lstStyle/>
          <a:p>
            <a:pPr indent="0" marL="0">
              <a:buNone/>
            </a:pPr>
            <a:r>
              <a:rPr lang="en-US" sz="1250" dirty="0">
                <a:solidFill>
                  <a:srgbClr val="1B2A4A"/>
                </a:solidFill>
                <a:latin typeface="Noto Sans CJK KR" pitchFamily="34" charset="0"/>
                <a:ea typeface="Noto Sans CJK KR" pitchFamily="34" charset="-122"/>
                <a:cs typeface="Noto Sans CJK KR" pitchFamily="34" charset="-120"/>
              </a:rPr>
              <a:t>체크포인트 — Recall이 낮다면(실제 위험 건을 놓치는 비율이 높다면) 컴플라이언스 관점에서 특히 주의가 필요한 상태다.</a:t>
            </a:r>
            <a:endParaRPr lang="en-US" sz="1250" dirty="0"/>
          </a:p>
        </p:txBody>
      </p:sp>
      <p:sp>
        <p:nvSpPr>
          <p:cNvPr id="33" name="Text 29"/>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34" name="Text 30"/>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gitBran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3.7 [블록 C]</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Step 9. 통합 예측 파이프라인 에이전트 빌드</a:t>
            </a:r>
            <a:endParaRPr lang="en-US" sz="2600" dirty="0"/>
          </a:p>
        </p:txBody>
      </p:sp>
      <p:sp>
        <p:nvSpPr>
          <p:cNvPr id="6" name="Text 3"/>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Step1~8은 HS Code 모델과 ESG 위험도 모델을 각각 따로 실행했다 — Block C에서는 두 모델을 하나의 워크플로우로 묶어, 서류 하나를 입력하면 두 예측 결과가 동시에 나오는 통합 에이전트를 조립한다</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File 위젯으로 신규 선적 서류 데이터 로드 → HS Code 예측 모델과 ESG 위험도 예측 모델을 병렬 연결 → Merge 위젯으로 하나의 표로 통합</a:t>
            </a:r>
            <a:endParaRPr lang="en-US" sz="1600" dirty="0"/>
          </a:p>
        </p:txBody>
      </p:sp>
      <p:sp>
        <p:nvSpPr>
          <p:cNvPr id="7" name="Shape 4"/>
          <p:cNvSpPr/>
          <p:nvPr/>
        </p:nvSpPr>
        <p:spPr>
          <a:xfrm>
            <a:off x="548640" y="5440680"/>
            <a:ext cx="11094415" cy="868680"/>
          </a:xfrm>
          <a:prstGeom prst="roundRect">
            <a:avLst>
              <a:gd name="adj" fmla="val 8421"/>
            </a:avLst>
          </a:prstGeom>
          <a:solidFill>
            <a:srgbClr val="FBEEDC"/>
          </a:solidFill>
          <a:ln/>
        </p:spPr>
      </p:sp>
      <p:sp>
        <p:nvSpPr>
          <p:cNvPr id="8" name="Shape 5"/>
          <p:cNvSpPr/>
          <p:nvPr/>
        </p:nvSpPr>
        <p:spPr>
          <a:xfrm>
            <a:off x="713232" y="5596128"/>
            <a:ext cx="548640" cy="548640"/>
          </a:xfrm>
          <a:prstGeom prst="ellipse">
            <a:avLst/>
          </a:prstGeom>
          <a:solidFill>
            <a:srgbClr val="D98E2B"/>
          </a:solidFill>
          <a:ln/>
        </p:spPr>
      </p:sp>
      <p:pic>
        <p:nvPicPr>
          <p:cNvPr id="9"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10" name="Text 6"/>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트러블슈팅 — 두 모델의 출력 행 순서가 어긋나면 서류 고유번호(문서번호) 기준으로 병합하도록 Merge 위젯 설정을 확인한다.</a:t>
            </a:r>
            <a:endParaRPr lang="en-US" sz="1300" dirty="0"/>
          </a:p>
        </p:txBody>
      </p:sp>
      <p:sp>
        <p:nvSpPr>
          <p:cNvPr id="11" name="Text 7"/>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2" name="Text 8"/>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barChar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Step 10. 위험 신호 자동 정렬 리포트 에이전트 빌드</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Step9의 통합 출력 표에 Sort 위젯을 연결해 위험 예측 확률이 높은 순으로 자동 정렬</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Select Rows 위젯으로 Step7에서 정한 임계값을 넘는 건만 걸러내는 조건 추가</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'오늘 검토가 필요한 건'만 자동으로 상단에 모아 보여주는 리포트 완성</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핵심 포인트 — Step9·10을 거치면 내일부터는 서류를 워크플로우에 넣기만 해도 '검토가 필요한 건'만 자동으로 걸러진다. 이 통합 파이프라인은 5일차 통합 대응 대시보드의 예측 엔진으로 재사용된다. 완료 기준 — ①HS Code 정확도 확인 ②ESG Confusion Matrix 확인 ③임계값 조정 ④신규서류 스크리닝 테스트 ⑤통합 에이전트 빌드 ⑥위험신호 리포트 완성 ⑦조별발표, 총 7개 완료</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users.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3.7-1</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팀 프로젝트 버전 — 회사 시나리오 기반 통합 스크리닝 시스템 설계</a:t>
            </a:r>
            <a:endParaRPr lang="en-US" sz="2600" dirty="0"/>
          </a:p>
        </p:txBody>
      </p:sp>
      <p:sp>
        <p:nvSpPr>
          <p:cNvPr id="6" name="Text 3"/>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시간 여유가 있는 조는 Step1~10을 개별 실습으로 끝내지 않고, 가상 회사 시나리오에 적용해 '우리 회사 전용 통관·ESG 스크리닝 시스템'을 설계하는 팀 프로젝트로 확장할 수 있다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예시 — '그린텍스타일' 통합 스크리닝 시스템</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재생섬유 원단·아웃도어 부자재를 EU·미국에 수출하는 중견 섬유기업(가상). 협력사 6곳(국내3·동남아3)을 두고 있으며, EU 바이어들이 CSRD·CBAM 대응 명목으로 Scope3 데이터와 원산지 증빙을 계속 요구하는 상황</a:t>
            </a:r>
            <a:endParaRPr lang="en-US" sz="1600" dirty="0"/>
          </a:p>
        </p:txBody>
      </p:sp>
      <p:sp>
        <p:nvSpPr>
          <p:cNvPr id="7" name="Shape 4"/>
          <p:cNvSpPr/>
          <p:nvPr/>
        </p:nvSpPr>
        <p:spPr>
          <a:xfrm>
            <a:off x="548640" y="5440680"/>
            <a:ext cx="11094415" cy="868680"/>
          </a:xfrm>
          <a:prstGeom prst="roundRect">
            <a:avLst>
              <a:gd name="adj" fmla="val 8421"/>
            </a:avLst>
          </a:prstGeom>
          <a:solidFill>
            <a:srgbClr val="FBEEDC"/>
          </a:solidFill>
          <a:ln/>
        </p:spPr>
      </p:sp>
      <p:sp>
        <p:nvSpPr>
          <p:cNvPr id="8" name="Shape 5"/>
          <p:cNvSpPr/>
          <p:nvPr/>
        </p:nvSpPr>
        <p:spPr>
          <a:xfrm>
            <a:off x="713232" y="5596128"/>
            <a:ext cx="548640" cy="548640"/>
          </a:xfrm>
          <a:prstGeom prst="ellipse">
            <a:avLst/>
          </a:prstGeom>
          <a:solidFill>
            <a:srgbClr val="D98E2B"/>
          </a:solidFill>
          <a:ln/>
        </p:spPr>
      </p:sp>
      <p:pic>
        <p:nvPicPr>
          <p:cNvPr id="9"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10" name="Text 6"/>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문제 상황 카드 — "다음 분기 신규 원단 20종을 EU에 수출 예정. 관세사를 매번 거치지 않고 사내에서 1차로 HS Code를 추천하고 협력사 ESG 리스크를 스크리닝하는 시스템의 프로토타입을 만들고, 왜 이렇게 설계했는지 발표해야 한다."</a:t>
            </a:r>
            <a:endParaRPr lang="en-US" sz="1300" dirty="0"/>
          </a:p>
        </p:txBody>
      </p:sp>
      <p:sp>
        <p:nvSpPr>
          <p:cNvPr id="11" name="Text 7"/>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2" name="Text 8"/>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gitBran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팀이 따라가는 4단계 (Step 1~10과 대응)</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463040"/>
                <a:gridCol w="4572000"/>
                <a:gridCol w="505937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단계</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팀이 하는 일</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산출물</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① 데이터 준비</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'그린텍스타일 원단 20종' 상품명·사양 + 협력사 6곳 환경·노동 점수를 매칭·결합</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학습용 통합 데이터셋</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② HS Code 모델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섬유류(50~63류) 범위로 좁혀 텍스트 인코딩·분류 모델 학습</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HS Code 추천 정확도 리포트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③ ESG 리스크 모델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협력사 6곳의 과거 위반 이력으로 위험도 예측, 임계값 결정</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Precision·Recall 근거 문서</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④ 통합 발표</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두 모델을 합친 스크리닝 결과 + '왜 이 임계값을 골랐는지' 3분 발표</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팀별 미니 대시보드 캡처+발표</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sp>
      <p:sp>
        <p:nvSpPr>
          <p:cNvPr id="7" name="Shape 3"/>
          <p:cNvSpPr/>
          <p:nvPr/>
        </p:nvSpPr>
        <p:spPr>
          <a:xfrm>
            <a:off x="694944" y="5650992"/>
            <a:ext cx="502920" cy="50292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발표 시 반드시 답해야 하는 질문 — ① Recall·Precision 중 무엇을 우선했고 왜인가 ② 협력사 6곳 중 가장 리스크 높은 곳과 이유 ③ 실제로 쓴다면 사람이 반드시 재확인해야 할 지점은 어디인가</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clock.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3.7-2</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해커톤 버전 — 시간 압박형 통합 스크리닝 대응</a:t>
            </a:r>
            <a:endParaRPr lang="en-US" sz="2600" dirty="0"/>
          </a:p>
        </p:txBody>
      </p:sp>
      <p:sp>
        <p:nvSpPr>
          <p:cNvPr id="6" name="Text 3"/>
          <p:cNvSpPr/>
          <p:nvPr/>
        </p:nvSpPr>
        <p:spPr>
          <a:xfrm>
            <a:off x="548640" y="1536192"/>
            <a:ext cx="11094415" cy="448056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6일차 '위기카드 해커톤'과 같은 포맷을 3일차 실습 범위에 맞춰 축소 적용한 버전 — 팀 프로젝트(3.7-1)가 '설계 논리를 다듬는' 데 초점이라면, 해커톤은 '제한된 시간 안에서 우선순위를 빠르게 판단하는' 훈련에 초점</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위기 카드 예시</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"신규 거래처가 원산지 서류 없이 대량 발주 500건을 넣었다. 관세사 확인 없이는 통관이 불가능하지만, 담당자는 2시간 안에 HS Code 오분류 위험과 ESG 리스크가 높은 건부터 먼저 걸러내 세관에 우선 검토를 요청해야 한다."</a:t>
            </a:r>
            <a:endParaRPr lang="en-US" sz="1600" dirty="0"/>
          </a:p>
        </p:txBody>
      </p:sp>
      <p:sp>
        <p:nvSpPr>
          <p:cNvPr id="7" name="Text 4"/>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8" name="Text 5"/>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users.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해커톤 진행 방식 및 역할 분담</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194560"/>
                <a:gridCol w="3291840"/>
                <a:gridCol w="5608015"/>
              </a:tblGrid>
              <a:tr h="640080">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역할팀</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담당 Step</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산출물</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데이터 정제팀</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Step 1~1-1 (학습 데이터 매칭·결합)</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정제된 통합 데이터셋</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모델링팀</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Step 2~7 (HS Code·ESG 모델 학습, 임계값 결정)</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HS Code·위험도 예측 모델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640080">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스크리닝·리포트팀</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Step 8~10 (통합 스크리닝 적용, 리포트 작성)</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위험 건 우선순위 리포트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sp>
      <p:sp>
        <p:nvSpPr>
          <p:cNvPr id="7" name="Shape 3"/>
          <p:cNvSpPr/>
          <p:nvPr/>
        </p:nvSpPr>
        <p:spPr>
          <a:xfrm>
            <a:off x="694944" y="5650992"/>
            <a:ext cx="502920" cy="50292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제한 시간 4~5교시 전체(약 90~120분)를 하나의 카운트다운으로 운영. 모델링팀은 데이터 정제팀의 1차 결과물을 기다리지 않고 강사 제공 임시 샘플로 먼저 모델 구조를 잡아 병목을 줄인다.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zap.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3.8</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추가 에이전트 예제 (심화·선택) — 개관</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3657600"/>
                <a:gridCol w="2286000"/>
                <a:gridCol w="5150815"/>
              </a:tblGrid>
              <a:tr h="509451">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예제</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핵심 도구</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구현 경로</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예제 1. HS Code 자동 추천</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Orange3 Predictions</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Orange + 파이썬 + 웹UI</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예제 2. 협력사 ESG 리스크 상시 모니터링</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Orange3 Select Rows+Predictions</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Orange + 파이썬 + 웹UI</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예제 3. 선적 서류 일괄 스크리닝</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Orange3 배치 예측+정렬</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Orange + 파이썬 + 웹UI</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예제 4. 임계값 자동 추천</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반복 계산(Orange 한계 → Python Script)</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Orange + 파이썬 + 웹UI</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예제 5. 다중 알고리즘 성능 비교</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파이썬(scikit-learn)</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파이썬 + 웹UI (Orange 없음)</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예제 6. 불균형 데이터 보정(SMOTE)</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파이썬(imbalanced-learn)</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파이썬 + 웹UI (Orange 없음)</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7" name="Shape 3"/>
          <p:cNvSpPr/>
          <p:nvPr/>
        </p:nvSpPr>
        <p:spPr>
          <a:xfrm>
            <a:off x="548640" y="5532120"/>
            <a:ext cx="11094415" cy="777240"/>
          </a:xfrm>
          <a:prstGeom prst="roundRect">
            <a:avLst>
              <a:gd name="adj" fmla="val 9412"/>
            </a:avLst>
          </a:prstGeom>
          <a:solidFill>
            <a:srgbClr val="FBEEDC"/>
          </a:solidFill>
          <a:ln/>
        </p:spPr>
      </p:sp>
      <p:sp>
        <p:nvSpPr>
          <p:cNvPr id="8" name="Shape 4"/>
          <p:cNvSpPr/>
          <p:nvPr/>
        </p:nvSpPr>
        <p:spPr>
          <a:xfrm>
            <a:off x="694944" y="5650992"/>
            <a:ext cx="502920" cy="502920"/>
          </a:xfrm>
          <a:prstGeom prst="ellipse">
            <a:avLst/>
          </a:prstGeom>
          <a:solidFill>
            <a:srgbClr val="D98E2B"/>
          </a:solidFill>
          <a:ln/>
        </p:spPr>
      </p:sp>
      <p:pic>
        <p:nvPicPr>
          <p:cNvPr id="9"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10" name="Text 5"/>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오늘 만든 HS Code·ESG 예측 모델을 활용한 심화 예제. 시간 여유가 있는 조는 하나를 선택해 추가로 만들어보거나, 강사가 시연 중심으로 소개할 수 있다.</a:t>
            </a:r>
            <a:endParaRPr lang="en-US" sz="1250" dirty="0"/>
          </a:p>
        </p:txBody>
      </p:sp>
      <p:sp>
        <p:nvSpPr>
          <p:cNvPr id="11"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2"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search.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1 — 신규 상품 등록 시 HS Code 자동 추천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담당자가 신규 상품을 등록할 때마다 관세사에게 문의하지 않아도, 상품명을 입력하는 즉시 추천 HS Code와 확신도 점수가 함께 표시되는 흐름</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Step2 인코딩 위젯 → Step3에서 학습한 분류 모델 → 예측 결과와 확신도 점수를 함께 출력</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[입력 상품명 / 추천 HS Code / 확신도 점수 / 확인 필요 여부] 표</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확신도 점수가 낮은 건은 자동 추천을 그대로 쓰지 않고 사람이 재확인하도록 '확인 필요' 표시를 자동으로 붙인다. 파이썬 함수와 Streamlit 웹 UI(70% 미만 노란색/이상 초록색 카드)로도 구현해 실제 실행 화면까지 확보했다.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alertTriang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2 — 협력사 ESG 리스크 상시 모니터링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협력사 평가 데이터가 갱신될 때마다 담당자가 매번 재확인하지 않아도, 위험도가 기준을 넘는 협력사만 자동으로 걸러내 목록화</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Step5의 ESG 위험도 예측 모델에 갱신 데이터를 통과 → 위험 예측 확률이 임계값을 넘는 협력사만 필터링(Orange3 Select Rows+Predictions)</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[협력사명 / 위험 예측 확률 / 주요 위반 항목] 고위험 협력사 목록</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파이썬 스크립트와 Streamlit 웹 UI(임계값 슬라이더로 고위험 목록이 실시간 갱신, '신규 고위험 협력사 수' 지표 카드)로도 구현해 실행 화면을 확보했다.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ab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3 — 선적 서류 일괄 스크리닝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여러 건의 선적 서류를 한 건씩 개별 확인하는 대신, 다건을 한 번에 넣어 제재 대상·금지 품목 여부를 일괄 스크리닝</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서류 다건을 HS Code 추천 모델과 ESG 위험도 예측 모델에 동시 통과 → 위험 신호가 있는 건만 상단에 정렬(Orange3 배치 예측+정렬)</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위험도 순으로 정렬된 선적 서류 스크리닝 결과표</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파이썬 스크립트(실행 결과: SHIP-02·SHIP-04가 위험도 상단 정렬)와 Streamlit 웹 UI(위험 확률 0.5 이상 행 빨간 배경 강조, '이번 주 위험 건수/전체 건수' 지표 카드)로도 구현했다.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arge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4 — 임계값 자동 추천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Step7에서 사람이 직접 임계값을 바꿔보며 관찰했다면, 이 에이전트는 여러 임계값 후보를 자동 계산해 Precision·Recall 균형이 가장 좋은 지점을 추천</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임계값 0.1~0.9를 일정 간격으로 자동 반복 적용 → 각 임계값별 Precision·Recall 산출 → F1-Score 최대 지점 표시</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[임계값 / Precision / Recall / 균형 점수] 비교표 (실행 결과: 추천 임계값 0.6 산출)</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노코드의 한계 — Orange3 기본 위젯만으로는 '임계값을 자동으로 바꿔가며 반복 계산'하는 루프 기능이 없어, 실제로는 Python Script 위젯이 필요하다. Streamlit 웹 UI에서는 임계값별 Precision·Recall·F1을 꺾은선 그래프로 시각화했다. 이 예제는 5일차 통합 대시보드의 모델 자동 재튜닝 기능으로 이어진다.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terminal.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5 — 다중 알고리즘 성능 비교 에이전트 (Python)</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Step3는 Orange3의 Tree·kNN 등 정해진 노코드 알고리즘 중에서만 선택 가능했다 — 파이썬으로는 scikit-learn의 다양한 알고리즘(Random Forest, SVM, Gradient Boosting 등)을 한 번에 자동 학습·비교할 수 있다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AI에게 여러 분류 알고리즘을 각각 학습시키고 Precision·Recall·정확도를 비교하는 스크립트를 요청 → 코드 생성·실행 → 가장 성능 좋은 알고리즘을 Step4 예측 테스트에 재적용</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알고리즘별 Precision·Recall·정확도 비교표</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Orange3 위젯 목록에 없는 알고리즘까지 비교해야 해서 Orange 화면 목업이 없다 — 처음부터 파이썬으로 구현하는 예제다. Streamlit 웹 UI에서는 비교할 알고리즘을 체크박스로 선택하고 막대그래프로 비교했다.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alertTriang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6 — 불균형 데이터 보정 에이전트 (Python)</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위험 건수가 전체의 5%뿐인 데이터에서는 모델이 무조건 '정상'이라고만 답해도 정확도 95%로 나오는 착시가 생긴다 — 파이썬 오버샘플링(SMOTE)으로 위험 건 데이터를 인위적으로 늘려 균형 잡힌 학습 데이터를 만든다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AI에게 SMOTE로 위험 건 데이터를 늘려 균형 데이터를 만드는 스크립트 요청 → 실행 → 보정 전후 데이터 비율·Recall 비교</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indent="0" marL="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균형 보정된 학습 데이터셋 + 보정 전후 Recall 비교 (실행 결과: 보정 전 Recall 0.00 → 보정 후 0.75)</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sp>
      <p:sp>
        <p:nvSpPr>
          <p:cNvPr id="7" name="Shape 4"/>
          <p:cNvSpPr/>
          <p:nvPr/>
        </p:nvSpPr>
        <p:spPr>
          <a:xfrm>
            <a:off x="713232" y="5596128"/>
            <a:ext cx="548640" cy="548640"/>
          </a:xfrm>
          <a:prstGeom prst="ellipse">
            <a:avLst/>
          </a:prstGeom>
          <a:solidFill>
            <a:srgbClr val="D98E2B"/>
          </a:solidFill>
          <a:ln/>
        </p:spPr>
      </p:sp>
      <p:pic>
        <p:nvPicPr>
          <p:cNvPr id="8" name="Image 1" descr="/home/claude/day3_ppt/icons/alertCircle.png">    </p:cNvPr>
          <p:cNvPicPr>
            <a:picLocks noChangeAspect="1"/>
          </p:cNvPicPr>
          <p:nvPr/>
        </p:nvPicPr>
        <p:blipFill>
          <a:blip r:embed="rId2"/>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indent="0" marL="0">
              <a:buNone/>
            </a:pPr>
            <a:r>
              <a:rPr lang="en-US" sz="1300" i="1" dirty="0">
                <a:solidFill>
                  <a:srgbClr val="1B2A4A"/>
                </a:solidFill>
                <a:latin typeface="Noto Sans CJK KR" pitchFamily="34" charset="0"/>
                <a:ea typeface="Noto Sans CJK KR" pitchFamily="34" charset="-122"/>
                <a:cs typeface="Noto Sans CJK KR" pitchFamily="34" charset="-120"/>
              </a:rPr>
              <a:t>SMOTE 등 오버샘플링 기법은 Orange3 기본 위젯에 없어 처음부터 파이썬으로 구현한다. 3.3 이론의 '정확도 95%의 함정'을 실제로 해결하는 방법까지 다룬다는 점에서 이론-실습이 가장 직접적으로 연결되는 예제다. Streamlit 웹 UI에서는 보정 전/후 클래스 비율을 파이차트 2개로 비교했다.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fileText.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3.9</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실습 결과 제출 양식</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743200"/>
                <a:gridCol w="8351215"/>
              </a:tblGrid>
              <a:tr h="509451">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항목</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algn="l" indent="0" marL="0">
                        <a:buNone/>
                      </a:pPr>
                      <a:r>
                        <a:rPr lang="en-US" sz="1400" b="1" dirty="0">
                          <a:solidFill>
                            <a:srgbClr val="FFFFFF"/>
                          </a:solidFill>
                          <a:latin typeface="Noto Sans CJK KR" pitchFamily="34" charset="0"/>
                          <a:ea typeface="Noto Sans CJK KR" pitchFamily="34" charset="-122"/>
                          <a:cs typeface="Noto Sans CJK KR" pitchFamily="34" charset="-120"/>
                        </a:rPr>
                        <a:t>작성 내용</a:t>
                      </a:r>
                      <a:endParaRPr lang="en-US" sz="14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HS Code 예측 모델 1차 정확도</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 78%</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신규 상품 예측 테스트 결과</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5건 중 O건 일치</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ESG 위험도 예측 Confusion Matrix 요약</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TP/FP/FN/TN 건수</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선택한 임계값과 그 근거</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예: 0.4 — Recall 우선 원칙에 따라</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스크리닝에서 발견된 위험 건</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건수 및 사유</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r>
              <a:tr h="509451">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오늘 실습에서 느낀 인사이트</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algn="l" indent="0" marL="0">
                        <a:buNone/>
                      </a:pPr>
                      <a:r>
                        <a:rPr lang="en-US" sz="1300" dirty="0">
                          <a:solidFill>
                            <a:srgbClr val="33415C"/>
                          </a:solidFill>
                          <a:latin typeface="Noto Sans CJK KR" pitchFamily="34" charset="0"/>
                          <a:ea typeface="Noto Sans CJK KR" pitchFamily="34" charset="-122"/>
                          <a:cs typeface="Noto Sans CJK KR" pitchFamily="34" charset="-120"/>
                        </a:rPr>
                        <a:t>자유 서술 2~3문장</a:t>
                      </a:r>
                      <a:endParaRPr lang="en-US" sz="1300" dirty="0">
                        <a:latin typeface="Noto Sans CJK KR" charset="0"/>
                        <a:ea typeface="Noto Sans CJK KR" charset="0"/>
                        <a:cs typeface="Noto Sans CJK KR" charset="0"/>
                      </a:endParaRPr>
                    </a:p>
                  </a:txBody>
                  <a:tcPr marL="91440" marR="91440" marT="45720" marB="45720"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r>
            </a:tbl>
          </a:graphicData>
        </a:graphic>
      </p:graphicFrame>
      <p:sp>
        <p:nvSpPr>
          <p:cNvPr id="7" name="Shape 3"/>
          <p:cNvSpPr/>
          <p:nvPr/>
        </p:nvSpPr>
        <p:spPr>
          <a:xfrm>
            <a:off x="548640" y="5532120"/>
            <a:ext cx="11094415" cy="777240"/>
          </a:xfrm>
          <a:prstGeom prst="roundRect">
            <a:avLst>
              <a:gd name="adj" fmla="val 9412"/>
            </a:avLst>
          </a:prstGeom>
          <a:solidFill>
            <a:srgbClr val="FBEEDC"/>
          </a:solidFill>
          <a:ln/>
        </p:spPr>
      </p:sp>
      <p:sp>
        <p:nvSpPr>
          <p:cNvPr id="8" name="Shape 4"/>
          <p:cNvSpPr/>
          <p:nvPr/>
        </p:nvSpPr>
        <p:spPr>
          <a:xfrm>
            <a:off x="694944" y="5650992"/>
            <a:ext cx="502920" cy="502920"/>
          </a:xfrm>
          <a:prstGeom prst="ellipse">
            <a:avLst/>
          </a:prstGeom>
          <a:solidFill>
            <a:srgbClr val="D98E2B"/>
          </a:solidFill>
          <a:ln/>
        </p:spPr>
      </p:sp>
      <p:pic>
        <p:nvPicPr>
          <p:cNvPr id="9" name="Image 1" descr="/home/claude/day3_ppt/icons/alertCircle.png">    </p:cNvPr>
          <p:cNvPicPr>
            <a:picLocks noChangeAspect="1"/>
          </p:cNvPicPr>
          <p:nvPr/>
        </p:nvPicPr>
        <p:blipFill>
          <a:blip r:embed="rId2"/>
          <a:stretch>
            <a:fillRect/>
          </a:stretch>
        </p:blipFill>
        <p:spPr>
          <a:xfrm>
            <a:off x="760324" y="5716372"/>
            <a:ext cx="372161" cy="372161"/>
          </a:xfrm>
          <a:prstGeom prst="rect">
            <a:avLst/>
          </a:prstGeom>
        </p:spPr>
      </p:pic>
      <p:sp>
        <p:nvSpPr>
          <p:cNvPr id="10" name="Text 5"/>
          <p:cNvSpPr/>
          <p:nvPr/>
        </p:nvSpPr>
        <p:spPr>
          <a:xfrm>
            <a:off x="1325880" y="5586984"/>
            <a:ext cx="10134295" cy="685800"/>
          </a:xfrm>
          <a:prstGeom prst="rect">
            <a:avLst/>
          </a:prstGeom>
          <a:noFill/>
          <a:ln/>
        </p:spPr>
        <p:txBody>
          <a:bodyPr wrap="square" rtlCol="0" anchor="ctr"/>
          <a:lstStyle/>
          <a:p>
            <a:pPr indent="0" marL="0">
              <a:buNone/>
            </a:pPr>
            <a:r>
              <a:rPr lang="en-US" sz="1250" i="1" dirty="0">
                <a:solidFill>
                  <a:srgbClr val="1B2A4A"/>
                </a:solidFill>
                <a:latin typeface="Noto Sans CJK KR" pitchFamily="34" charset="0"/>
                <a:ea typeface="Noto Sans CJK KR" pitchFamily="34" charset="-122"/>
                <a:cs typeface="Noto Sans CJK KR" pitchFamily="34" charset="-120"/>
              </a:rPr>
              <a:t>파일명 규칙: 3일차_실습결과_성명.xlsx</a:t>
            </a:r>
            <a:endParaRPr lang="en-US" sz="1250" dirty="0"/>
          </a:p>
        </p:txBody>
      </p:sp>
      <p:sp>
        <p:nvSpPr>
          <p:cNvPr id="11" name="Text 6"/>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2"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sp>
      <p:pic>
        <p:nvPicPr>
          <p:cNvPr id="3" name="Image 0" descr="/home/claude/day3_ppt/icons/checkCircle.png">    </p:cNvPr>
          <p:cNvPicPr>
            <a:picLocks noChangeAspect="1"/>
          </p:cNvPicPr>
          <p:nvPr/>
        </p:nvPicPr>
        <p:blipFill>
          <a:blip r:embed="rId1"/>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indent="0" marL="0">
              <a:buNone/>
            </a:pPr>
            <a:r>
              <a:rPr lang="en-US" sz="1300" b="1" dirty="0">
                <a:solidFill>
                  <a:srgbClr val="D98E2B"/>
                </a:solidFill>
                <a:latin typeface="Noto Sans CJK KR" pitchFamily="34" charset="0"/>
                <a:ea typeface="Noto Sans CJK KR" pitchFamily="34" charset="-122"/>
                <a:cs typeface="Noto Sans CJK KR" pitchFamily="34" charset="-120"/>
              </a:rPr>
              <a:t>3.10</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indent="0" marL="0">
              <a:buNone/>
            </a:pPr>
            <a:r>
              <a:rPr lang="en-US" sz="2600" b="1" dirty="0">
                <a:solidFill>
                  <a:srgbClr val="1B2A4A"/>
                </a:solidFill>
                <a:latin typeface="Noto Sans CJK KR" pitchFamily="34" charset="0"/>
                <a:ea typeface="Noto Sans CJK KR" pitchFamily="34" charset="-122"/>
                <a:cs typeface="Noto Sans CJK KR" pitchFamily="34" charset="-120"/>
              </a:rPr>
              <a:t>정리 및 다음 날 연계 — 3일차 자가진단</a:t>
            </a:r>
            <a:endParaRPr lang="en-US" sz="2600" dirty="0"/>
          </a:p>
        </p:txBody>
      </p:sp>
      <p:sp>
        <p:nvSpPr>
          <p:cNvPr id="6" name="Text 3"/>
          <p:cNvSpPr/>
          <p:nvPr/>
        </p:nvSpPr>
        <p:spPr>
          <a:xfrm>
            <a:off x="548640" y="1600200"/>
            <a:ext cx="11094415" cy="457200"/>
          </a:xfrm>
          <a:prstGeom prst="rect">
            <a:avLst/>
          </a:prstGeom>
          <a:noFill/>
          <a:ln/>
        </p:spPr>
        <p:txBody>
          <a:bodyPr wrap="square" rtlCol="0" anchor="ctr"/>
          <a:lstStyle/>
          <a:p>
            <a:pPr indent="0" marL="0">
              <a:buNone/>
            </a:pPr>
            <a:r>
              <a:rPr lang="en-US" sz="1400" i="1" dirty="0">
                <a:solidFill>
                  <a:srgbClr val="33415C"/>
                </a:solidFill>
                <a:latin typeface="Noto Sans CJK KR" pitchFamily="34" charset="0"/>
                <a:ea typeface="Noto Sans CJK KR" pitchFamily="34" charset="-122"/>
                <a:cs typeface="Noto Sans CJK KR" pitchFamily="34" charset="-120"/>
              </a:rPr>
              <a:t>오늘은 과거 데이터로부터 패턴을 학습하는 지도학습 분류 모델의 원리를 이해하고, HS Code 자동 추천 모델과 공급망 ESG 위험도 예측 모델을 직접 구현했다. Precision·Recall·임계값 개념으로 모델의 판단을 검증·조정하는 방법도 익혔다.</a:t>
            </a:r>
            <a:endParaRPr lang="en-US" sz="1400" dirty="0"/>
          </a:p>
        </p:txBody>
      </p:sp>
      <p:sp>
        <p:nvSpPr>
          <p:cNvPr id="7" name="Shape 4"/>
          <p:cNvSpPr/>
          <p:nvPr/>
        </p:nvSpPr>
        <p:spPr>
          <a:xfrm>
            <a:off x="548640" y="2168957"/>
            <a:ext cx="384048" cy="384048"/>
          </a:xfrm>
          <a:prstGeom prst="roundRect">
            <a:avLst>
              <a:gd name="adj" fmla="val 14286"/>
            </a:avLst>
          </a:prstGeom>
          <a:solidFill>
            <a:srgbClr val="FFFFFF"/>
          </a:solidFill>
          <a:ln w="19050">
            <a:solidFill>
              <a:srgbClr val="1B2A4A"/>
            </a:solidFill>
            <a:prstDash val="solid"/>
          </a:ln>
        </p:spPr>
      </p:sp>
      <p:sp>
        <p:nvSpPr>
          <p:cNvPr id="8" name="Text 5"/>
          <p:cNvSpPr/>
          <p:nvPr/>
        </p:nvSpPr>
        <p:spPr>
          <a:xfrm>
            <a:off x="1097280" y="2103120"/>
            <a:ext cx="10545775" cy="822960"/>
          </a:xfrm>
          <a:prstGeom prst="rect">
            <a:avLst/>
          </a:prstGeom>
          <a:noFill/>
          <a:ln/>
        </p:spPr>
        <p:txBody>
          <a:bodyPr wrap="square" rtlCol="0" anchor="ctr"/>
          <a:lstStyle/>
          <a:p>
            <a:pPr indent="0" marL="0">
              <a:buNone/>
            </a:pPr>
            <a:r>
              <a:rPr lang="en-US" sz="1450" dirty="0">
                <a:solidFill>
                  <a:srgbClr val="1B2A4A"/>
                </a:solidFill>
                <a:latin typeface="Noto Sans CJK KR" pitchFamily="34" charset="0"/>
                <a:ea typeface="Noto Sans CJK KR" pitchFamily="34" charset="-122"/>
                <a:cs typeface="Noto Sans CJK KR" pitchFamily="34" charset="-120"/>
              </a:rPr>
              <a:t>나는 지도학습 분류 모델이 '과거 정답 데이터로부터 패턴을 배운다'는 원리를 설명할 수 있다.</a:t>
            </a:r>
            <a:endParaRPr lang="en-US" sz="1450" dirty="0"/>
          </a:p>
        </p:txBody>
      </p:sp>
      <p:sp>
        <p:nvSpPr>
          <p:cNvPr id="9" name="Shape 6"/>
          <p:cNvSpPr/>
          <p:nvPr/>
        </p:nvSpPr>
        <p:spPr>
          <a:xfrm>
            <a:off x="548640" y="2991917"/>
            <a:ext cx="384048" cy="384048"/>
          </a:xfrm>
          <a:prstGeom prst="roundRect">
            <a:avLst>
              <a:gd name="adj" fmla="val 14286"/>
            </a:avLst>
          </a:prstGeom>
          <a:solidFill>
            <a:srgbClr val="FFFFFF"/>
          </a:solidFill>
          <a:ln w="19050">
            <a:solidFill>
              <a:srgbClr val="1B2A4A"/>
            </a:solidFill>
            <a:prstDash val="solid"/>
          </a:ln>
        </p:spPr>
      </p:sp>
      <p:sp>
        <p:nvSpPr>
          <p:cNvPr id="10" name="Text 7"/>
          <p:cNvSpPr/>
          <p:nvPr/>
        </p:nvSpPr>
        <p:spPr>
          <a:xfrm>
            <a:off x="1097280" y="2926080"/>
            <a:ext cx="10545775" cy="822960"/>
          </a:xfrm>
          <a:prstGeom prst="rect">
            <a:avLst/>
          </a:prstGeom>
          <a:noFill/>
          <a:ln/>
        </p:spPr>
        <p:txBody>
          <a:bodyPr wrap="square" rtlCol="0" anchor="ctr"/>
          <a:lstStyle/>
          <a:p>
            <a:pPr indent="0" marL="0">
              <a:buNone/>
            </a:pPr>
            <a:r>
              <a:rPr lang="en-US" sz="1450" dirty="0">
                <a:solidFill>
                  <a:srgbClr val="1B2A4A"/>
                </a:solidFill>
                <a:latin typeface="Noto Sans CJK KR" pitchFamily="34" charset="0"/>
                <a:ea typeface="Noto Sans CJK KR" pitchFamily="34" charset="-122"/>
                <a:cs typeface="Noto Sans CJK KR" pitchFamily="34" charset="-120"/>
              </a:rPr>
              <a:t>나는 Precision과 Recall의 차이를 우리 업무 상황에 비추어 설명할 수 있다.</a:t>
            </a:r>
            <a:endParaRPr lang="en-US" sz="1450" dirty="0"/>
          </a:p>
        </p:txBody>
      </p:sp>
      <p:sp>
        <p:nvSpPr>
          <p:cNvPr id="11" name="Shape 8"/>
          <p:cNvSpPr/>
          <p:nvPr/>
        </p:nvSpPr>
        <p:spPr>
          <a:xfrm>
            <a:off x="548640" y="3814877"/>
            <a:ext cx="384048" cy="384048"/>
          </a:xfrm>
          <a:prstGeom prst="roundRect">
            <a:avLst>
              <a:gd name="adj" fmla="val 14286"/>
            </a:avLst>
          </a:prstGeom>
          <a:solidFill>
            <a:srgbClr val="FFFFFF"/>
          </a:solidFill>
          <a:ln w="19050">
            <a:solidFill>
              <a:srgbClr val="1B2A4A"/>
            </a:solidFill>
            <a:prstDash val="solid"/>
          </a:ln>
        </p:spPr>
      </p:sp>
      <p:sp>
        <p:nvSpPr>
          <p:cNvPr id="12" name="Text 9"/>
          <p:cNvSpPr/>
          <p:nvPr/>
        </p:nvSpPr>
        <p:spPr>
          <a:xfrm>
            <a:off x="1097280" y="3749040"/>
            <a:ext cx="10545775" cy="822960"/>
          </a:xfrm>
          <a:prstGeom prst="rect">
            <a:avLst/>
          </a:prstGeom>
          <a:noFill/>
          <a:ln/>
        </p:spPr>
        <p:txBody>
          <a:bodyPr wrap="square" rtlCol="0" anchor="ctr"/>
          <a:lstStyle/>
          <a:p>
            <a:pPr indent="0" marL="0">
              <a:buNone/>
            </a:pPr>
            <a:r>
              <a:rPr lang="en-US" sz="1450" dirty="0">
                <a:solidFill>
                  <a:srgbClr val="1B2A4A"/>
                </a:solidFill>
                <a:latin typeface="Noto Sans CJK KR" pitchFamily="34" charset="0"/>
                <a:ea typeface="Noto Sans CJK KR" pitchFamily="34" charset="-122"/>
                <a:cs typeface="Noto Sans CJK KR" pitchFamily="34" charset="-120"/>
              </a:rPr>
              <a:t>나는 임계값을 조정하면 Precision·Recall이 어떻게 바뀌는지 직접 관찰해봤다.</a:t>
            </a:r>
            <a:endParaRPr lang="en-US" sz="1450" dirty="0"/>
          </a:p>
        </p:txBody>
      </p:sp>
      <p:sp>
        <p:nvSpPr>
          <p:cNvPr id="13" name="Shape 10"/>
          <p:cNvSpPr/>
          <p:nvPr/>
        </p:nvSpPr>
        <p:spPr>
          <a:xfrm>
            <a:off x="548640" y="4637837"/>
            <a:ext cx="384048" cy="384048"/>
          </a:xfrm>
          <a:prstGeom prst="roundRect">
            <a:avLst>
              <a:gd name="adj" fmla="val 14286"/>
            </a:avLst>
          </a:prstGeom>
          <a:solidFill>
            <a:srgbClr val="FFFFFF"/>
          </a:solidFill>
          <a:ln w="19050">
            <a:solidFill>
              <a:srgbClr val="1B2A4A"/>
            </a:solidFill>
            <a:prstDash val="solid"/>
          </a:ln>
        </p:spPr>
      </p:sp>
      <p:sp>
        <p:nvSpPr>
          <p:cNvPr id="14" name="Text 11"/>
          <p:cNvSpPr/>
          <p:nvPr/>
        </p:nvSpPr>
        <p:spPr>
          <a:xfrm>
            <a:off x="1097280" y="4572000"/>
            <a:ext cx="10545775" cy="822960"/>
          </a:xfrm>
          <a:prstGeom prst="rect">
            <a:avLst/>
          </a:prstGeom>
          <a:noFill/>
          <a:ln/>
        </p:spPr>
        <p:txBody>
          <a:bodyPr wrap="square" rtlCol="0" anchor="ctr"/>
          <a:lstStyle/>
          <a:p>
            <a:pPr indent="0" marL="0">
              <a:buNone/>
            </a:pPr>
            <a:r>
              <a:rPr lang="en-US" sz="1450" dirty="0">
                <a:solidFill>
                  <a:srgbClr val="1B2A4A"/>
                </a:solidFill>
                <a:latin typeface="Noto Sans CJK KR" pitchFamily="34" charset="0"/>
                <a:ea typeface="Noto Sans CJK KR" pitchFamily="34" charset="-122"/>
                <a:cs typeface="Noto Sans CJK KR" pitchFamily="34" charset="-120"/>
              </a:rPr>
              <a:t>나는 오늘 만든 HS Code 추천·ESG 위험도 예측 모델을 실제 신규 상품·협력사 데이터에 적용할 수 있다.</a:t>
            </a:r>
            <a:endParaRPr lang="en-US" sz="1450" dirty="0"/>
          </a:p>
        </p:txBody>
      </p:sp>
      <p:sp>
        <p:nvSpPr>
          <p:cNvPr id="15" name="Text 12"/>
          <p:cNvSpPr/>
          <p:nvPr/>
        </p:nvSpPr>
        <p:spPr>
          <a:xfrm>
            <a:off x="548640" y="5532120"/>
            <a:ext cx="11094415" cy="548640"/>
          </a:xfrm>
          <a:prstGeom prst="rect">
            <a:avLst/>
          </a:prstGeom>
          <a:noFill/>
          <a:ln/>
        </p:spPr>
        <p:txBody>
          <a:bodyPr wrap="square" rtlCol="0" anchor="ctr"/>
          <a:lstStyle/>
          <a:p>
            <a:pPr indent="0" marL="0">
              <a:buNone/>
            </a:pPr>
            <a:r>
              <a:rPr lang="en-US" sz="1250" i="1" dirty="0">
                <a:solidFill>
                  <a:srgbClr val="6B7A93"/>
                </a:solidFill>
                <a:latin typeface="Noto Sans CJK KR" pitchFamily="34" charset="0"/>
                <a:ea typeface="Noto Sans CJK KR" pitchFamily="34" charset="-122"/>
                <a:cs typeface="Noto Sans CJK KR" pitchFamily="34" charset="-120"/>
              </a:rPr>
              <a:t>4일차 예고 — 오늘 만든 예측 모델의 결과를 규칙 기반 검증 로직과 결합해, 여러 서류 간 불일치를 교차 검증하고 글로벌 표준 ESG 실사 보고서 서식을 자동 생성하는 실습으로 이어간다.</a:t>
            </a:r>
            <a:endParaRPr lang="en-US" sz="1250" dirty="0"/>
          </a:p>
        </p:txBody>
      </p:sp>
      <p:sp>
        <p:nvSpPr>
          <p:cNvPr id="16" name="Text 13"/>
          <p:cNvSpPr/>
          <p:nvPr/>
        </p:nvSpPr>
        <p:spPr>
          <a:xfrm>
            <a:off x="548640" y="6473952"/>
            <a:ext cx="8686800" cy="274320"/>
          </a:xfrm>
          <a:prstGeom prst="rect">
            <a:avLst/>
          </a:prstGeom>
          <a:noFill/>
          <a:ln/>
        </p:spPr>
        <p:txBody>
          <a:bodyPr wrap="square" rtlCol="0" anchor="ctr"/>
          <a:lstStyle/>
          <a:p>
            <a:pPr indent="0" marL="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3일차</a:t>
            </a:r>
            <a:endParaRPr lang="en-US" sz="900" dirty="0"/>
          </a:p>
        </p:txBody>
      </p:sp>
      <p:sp>
        <p:nvSpPr>
          <p:cNvPr id="17" name="Text 1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6B7A93"/>
                </a:solidFill>
                <a:latin typeface="Noto Sans CJK KR" pitchFamily="34" charset="0"/>
                <a:ea typeface="Noto Sans CJK KR" pitchFamily="34" charset="-122"/>
                <a:cs typeface="Noto Sans CJK KR"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448495" y="-1280160"/>
            <a:ext cx="3474720" cy="3474720"/>
          </a:xfrm>
          <a:prstGeom prst="ellipse">
            <a:avLst/>
          </a:prstGeom>
          <a:solidFill>
            <a:srgbClr val="13203A"/>
          </a:solidFill>
          <a:ln/>
        </p:spPr>
      </p:sp>
      <p:sp>
        <p:nvSpPr>
          <p:cNvPr id="3" name="Shape 1"/>
          <p:cNvSpPr/>
          <p:nvPr/>
        </p:nvSpPr>
        <p:spPr>
          <a:xfrm>
            <a:off x="-1280160" y="4846320"/>
            <a:ext cx="3108960" cy="3108960"/>
          </a:xfrm>
          <a:prstGeom prst="ellipse">
            <a:avLst/>
          </a:prstGeom>
          <a:solidFill>
            <a:srgbClr val="3E5C86">
              <a:alpha val="45000"/>
            </a:srgbClr>
          </a:solidFill>
          <a:ln/>
        </p:spPr>
      </p:sp>
      <p:sp>
        <p:nvSpPr>
          <p:cNvPr id="4" name="Text 2"/>
          <p:cNvSpPr/>
          <p:nvPr/>
        </p:nvSpPr>
        <p:spPr>
          <a:xfrm>
            <a:off x="548640" y="2286000"/>
            <a:ext cx="10515600" cy="1097280"/>
          </a:xfrm>
          <a:prstGeom prst="rect">
            <a:avLst/>
          </a:prstGeom>
          <a:noFill/>
          <a:ln/>
        </p:spPr>
        <p:txBody>
          <a:bodyPr wrap="square" rtlCol="0" anchor="ctr"/>
          <a:lstStyle/>
          <a:p>
            <a:pPr indent="0" marL="0">
              <a:buNone/>
            </a:pPr>
            <a:r>
              <a:rPr lang="en-US" sz="3400" b="1" dirty="0">
                <a:solidFill>
                  <a:srgbClr val="FFFFFF"/>
                </a:solidFill>
                <a:latin typeface="Noto Sans CJK KR" pitchFamily="34" charset="0"/>
                <a:ea typeface="Noto Sans CJK KR" pitchFamily="34" charset="-122"/>
                <a:cs typeface="Noto Sans CJK KR" pitchFamily="34" charset="-120"/>
              </a:rPr>
              <a:t>3일차를 마칩니다</a:t>
            </a:r>
            <a:endParaRPr lang="en-US" sz="3400" dirty="0"/>
          </a:p>
        </p:txBody>
      </p:sp>
      <p:sp>
        <p:nvSpPr>
          <p:cNvPr id="5" name="Text 3"/>
          <p:cNvSpPr/>
          <p:nvPr/>
        </p:nvSpPr>
        <p:spPr>
          <a:xfrm>
            <a:off x="548640" y="3246120"/>
            <a:ext cx="10058400" cy="822960"/>
          </a:xfrm>
          <a:prstGeom prst="rect">
            <a:avLst/>
          </a:prstGeom>
          <a:noFill/>
          <a:ln/>
        </p:spPr>
        <p:txBody>
          <a:bodyPr wrap="square" rtlCol="0" anchor="ctr"/>
          <a:lstStyle/>
          <a:p>
            <a:pPr indent="0" marL="0">
              <a:lnSpc>
                <a:spcPct val="120000"/>
              </a:lnSpc>
              <a:buNone/>
            </a:pPr>
            <a:r>
              <a:rPr lang="en-US" sz="1700" dirty="0">
                <a:solidFill>
                  <a:srgbClr val="E8EEF7"/>
                </a:solidFill>
                <a:latin typeface="Noto Sans CJK KR" pitchFamily="34" charset="0"/>
                <a:ea typeface="Noto Sans CJK KR" pitchFamily="34" charset="-122"/>
                <a:cs typeface="Noto Sans CJK KR" pitchFamily="34" charset="-120"/>
              </a:rPr>
              <a:t>오늘 만든 HS Code 추천 모델과 ESG 위험도 예측 모델, 통합 예측 파이프라인은</a:t>
            </a:r>
            <a:endParaRPr lang="en-US" sz="1700" dirty="0"/>
          </a:p>
          <a:p>
            <a:pPr indent="0" marL="0">
              <a:lnSpc>
                <a:spcPct val="120000"/>
              </a:lnSpc>
              <a:buNone/>
            </a:pPr>
            <a:r>
              <a:rPr lang="en-US" sz="1700" dirty="0">
                <a:solidFill>
                  <a:srgbClr val="E8EEF7"/>
                </a:solidFill>
                <a:latin typeface="Noto Sans CJK KR" pitchFamily="34" charset="0"/>
                <a:ea typeface="Noto Sans CJK KR" pitchFamily="34" charset="-122"/>
                <a:cs typeface="Noto Sans CJK KR" pitchFamily="34" charset="-120"/>
              </a:rPr>
              <a:t>4일차 서류 교차검증과 5일차 통합 대시보드의 예측 엔진으로 그대로 이어진다.</a:t>
            </a:r>
            <a:endParaRPr lang="en-US" sz="1700" dirty="0"/>
          </a:p>
        </p:txBody>
      </p:sp>
      <p:sp>
        <p:nvSpPr>
          <p:cNvPr id="6" name="Shape 4"/>
          <p:cNvSpPr/>
          <p:nvPr/>
        </p:nvSpPr>
        <p:spPr>
          <a:xfrm>
            <a:off x="548640" y="4434840"/>
            <a:ext cx="8686800" cy="777240"/>
          </a:xfrm>
          <a:prstGeom prst="roundRect">
            <a:avLst>
              <a:gd name="adj" fmla="val 9412"/>
            </a:avLst>
          </a:prstGeom>
          <a:solidFill>
            <a:srgbClr val="13203A"/>
          </a:solidFill>
          <a:ln/>
        </p:spPr>
      </p:sp>
      <p:sp>
        <p:nvSpPr>
          <p:cNvPr id="7" name="Shape 5"/>
          <p:cNvSpPr/>
          <p:nvPr/>
        </p:nvSpPr>
        <p:spPr>
          <a:xfrm>
            <a:off x="713232" y="4553712"/>
            <a:ext cx="548640" cy="548640"/>
          </a:xfrm>
          <a:prstGeom prst="ellipse">
            <a:avLst/>
          </a:prstGeom>
          <a:solidFill>
            <a:srgbClr val="D98E2B"/>
          </a:solidFill>
          <a:ln/>
        </p:spPr>
      </p:sp>
      <p:pic>
        <p:nvPicPr>
          <p:cNvPr id="8" name="Image 0" descr="/home/claude/day3_ppt/icons/trendingUp.png">    </p:cNvPr>
          <p:cNvPicPr>
            <a:picLocks noChangeAspect="1"/>
          </p:cNvPicPr>
          <p:nvPr/>
        </p:nvPicPr>
        <p:blipFill>
          <a:blip r:embed="rId1"/>
          <a:stretch>
            <a:fillRect/>
          </a:stretch>
        </p:blipFill>
        <p:spPr>
          <a:xfrm>
            <a:off x="784555" y="4625035"/>
            <a:ext cx="405994" cy="405994"/>
          </a:xfrm>
          <a:prstGeom prst="rect">
            <a:avLst/>
          </a:prstGeom>
        </p:spPr>
      </p:pic>
      <p:sp>
        <p:nvSpPr>
          <p:cNvPr id="9" name="Text 6"/>
          <p:cNvSpPr/>
          <p:nvPr/>
        </p:nvSpPr>
        <p:spPr>
          <a:xfrm>
            <a:off x="1417320" y="4434840"/>
            <a:ext cx="7680960" cy="777240"/>
          </a:xfrm>
          <a:prstGeom prst="rect">
            <a:avLst/>
          </a:prstGeom>
          <a:noFill/>
          <a:ln/>
        </p:spPr>
        <p:txBody>
          <a:bodyPr wrap="square" rtlCol="0" anchor="ctr"/>
          <a:lstStyle/>
          <a:p>
            <a:pPr indent="0" marL="0">
              <a:buNone/>
            </a:pPr>
            <a:r>
              <a:rPr lang="en-US" sz="1350" dirty="0">
                <a:solidFill>
                  <a:srgbClr val="FFFFFF"/>
                </a:solidFill>
                <a:latin typeface="Noto Sans CJK KR" pitchFamily="34" charset="0"/>
                <a:ea typeface="Noto Sans CJK KR" pitchFamily="34" charset="-122"/>
                <a:cs typeface="Noto Sans CJK KR" pitchFamily="34" charset="-120"/>
              </a:rPr>
              <a:t>4일차 예고 — 규칙 기반 시스템과 프롬프트 엔지니어링을 결합한 서류 간 교차검증 및 ESG 보고서 자동 생성</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2026-09-14T13:14:29Z</dcterms:created>
  <dcterms:modified xsi:type="dcterms:W3CDTF">2026-09-14T13:14:29Z</dcterms:modified>
</cp:coreProperties>
</file>
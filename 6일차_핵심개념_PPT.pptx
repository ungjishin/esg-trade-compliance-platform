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찬우 윤" userId="dd58743bea86fe39" providerId="LiveId" clId="{B9AD6FE2-235B-4688-AE4E-4152D3D2DB21}"/>
    <pc:docChg chg="modSld">
      <pc:chgData name="찬우 윤" userId="dd58743bea86fe39" providerId="LiveId" clId="{B9AD6FE2-235B-4688-AE4E-4152D3D2DB21}" dt="2026-09-21T15:21:57.971" v="1" actId="20577"/>
      <pc:docMkLst>
        <pc:docMk/>
      </pc:docMkLst>
      <pc:sldChg chg="modSp mod">
        <pc:chgData name="찬우 윤" userId="dd58743bea86fe39" providerId="LiveId" clId="{B9AD6FE2-235B-4688-AE4E-4152D3D2DB21}" dt="2026-09-21T15:21:57.971" v="1" actId="20577"/>
        <pc:sldMkLst>
          <pc:docMk/>
          <pc:sldMk cId="0" sldId="256"/>
        </pc:sldMkLst>
        <pc:spChg chg="mod">
          <ac:chgData name="찬우 윤" userId="dd58743bea86fe39" providerId="LiveId" clId="{B9AD6FE2-235B-4688-AE4E-4152D3D2DB21}" dt="2026-09-21T15:21:57.971" v="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D33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F2D33"/>
                </a:solidFill>
                <a:latin typeface="맑은 고딕"/>
              </a:rPr>
              <a:t>평균 청크 글자 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청크 글자 수</c:v>
                </c:pt>
              </c:strCache>
            </c:strRef>
          </c:tx>
          <c:spPr>
            <a:solidFill>
              <a:srgbClr val="0E4D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D33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조항 1개씩</c:v>
                </c:pt>
                <c:pt idx="1">
                  <c:v>조항 2개씩</c:v>
                </c:pt>
                <c:pt idx="2">
                  <c:v>조항 5개씩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</c:v>
                </c:pt>
                <c:pt idx="1">
                  <c:v>218</c:v>
                </c:pt>
                <c:pt idx="2">
                  <c:v>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5B-4E88-BE6F-ABB3C068B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7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E3EA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078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66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5일차 이론 중 오늘 실습에서 직접 쓰이는 개념만 골라 정리한 자료입니다. 실습 전 10~15분 분량입니다.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ESG에는 전 세계 단일 기준이 없다는 점이 핵심입니다. 오늘은 CBAM 규정집과 ESG 가이드라인 두 문서만 쓰지만, 실제로는 EcoVadis 설문지나 ISO 체크리스트처럼 성격이 다른 문서도 들어옵니다.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RAG는 원문을 강제로 함께 보여 주는 구조이지만, 검색 단계가 틀리면 답도 틀립니다. 그래서 오늘 실습에서 근거 조항을 원문과 대조하는 습관을 계속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청크 크기의 정답은 없고 문서 구조에 따라 달라집니다. 다음 장에서 오늘 쓰는 두 문서로 구체적으로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문서를 같은 크기로 자르면 규정집은 조항 중간이 잘리고, ESG 문서는 문단의 조건 문장이 앞 문장과 분리됩니다.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TF-IDF 글자 2~4-gram 방식으로 계산한 참고값이며 구현에 따라 조금 달라질 수 있습니다. 학생이 예제 6을 직접 돌려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교안은 임베딩 벡터로 설명하지만 오늘 참고 대시보드는 API 키 없이 돌아가도록 TF-IDF를 씁니다. 임베딩 방식은 단어가 달라도 의미가 비슷하면 찾는다는 점이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화면 요소, 오른쪽이 그 요소의 출처가 되는 이전 일차 실습입니다. 오늘 새로 만드는 것은 알림 영역뿐입니다.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 규칙은 5일간 계속 써 온 위험=빨강, 정상=초록입니다. 예제마다 색이 바뀌면 사용자가 매번 다시 학습해야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API와 토큰 과금은 오늘 코드에서 직접 호출하지 않지만 예제 5와 6일차 ROI 분석에서 다시 나옵니다. 실제 발송 계정 정보는 강사가 별도로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6일차 핵심 개념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전에 알아둘 도메인 · RAG · 청크 · 대시보드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기반 무역 컴플라이언스 및 관세·ESG 리스크 최적화 과정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86600" y="868680"/>
            <a:ext cx="914400" cy="914400"/>
          </a:xfrm>
          <a:prstGeom prst="ellipse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2057400"/>
            <a:ext cx="914400" cy="914400"/>
          </a:xfrm>
          <a:prstGeom prst="ellipse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860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086600" y="3246120"/>
            <a:ext cx="914400" cy="914400"/>
          </a:xfrm>
          <a:prstGeom prst="ellipse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474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실습에서 개념이 쓰이는 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개념이 어느 Step에서 필요한지 먼저 확인합니다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21792" y="1728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84251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지식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계약서·바이어 메일이 규정에 위반되는지 판단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28032" y="1728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184251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1~2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PDF를 검색해 근거 조항과 함께 답변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21792" y="2871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2985516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2715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1 · 예제 6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3444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조항형·서술형 문서를 어떻게 나눌지 결정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606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28032" y="2871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332" y="298551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2715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유사도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2 · 4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결과의 순위가 정해지는 원리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749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21792" y="4014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412851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58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설계 원칙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3~4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23444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무엇을 어디에 놓을지 정하는 기준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63440" y="374904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4828032" y="4014216"/>
            <a:ext cx="457200" cy="45720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332" y="4128516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40680" y="3858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알림 · API · 토큰</a:t>
            </a: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Step 6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44068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알림 메일 초안과 비용·보안 상식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지식: ESG는 왜 하나가 아니라 여러 개일까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= AI 원리가 아니라 무역·ESG라는 업무 분야에서만 통하는 전문 지식(제도·인증·용어)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공시 표준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어떤 형식으로 보고할지 정한 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· SASB · TCFD · CSRD/ESRS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846320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평가·등급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제3자가 점수·등급을 매김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EcoVadis · KCGS · CDP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경영시스템 인증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심사를 거쳐 인증서를 발급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14001 · ISO 45001 · SA8000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4632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산업별 공급망 이니셔티브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대형 바이어가 만든 자체 기준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RBA(전자) · Responsible Steel(철강)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4261104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수출기업이 자주 받는 것  </a:t>
            </a: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EcoVadis · ISO 14001/45001 · RBA · CDP · KCGS · K-ESG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종류가 많아 다 외울 수 없다 → 필요할 때 규정을 찾아 주는 RAG 검색창이 필요한 이유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RAG: 먼저 검색하고, 그 근거로 답을 만든다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Retrieval-Augmented Generation (검색 증강 생성)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PDF를 청크로 나누고 검색할 수 있게 저장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PDF 업로드·청크 분할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2286000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384048" cy="384048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4747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가장 가까운 청크를 찾는다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"이 품목의 CBAM 적용 여부는?"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286000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2648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309360" y="1554480"/>
            <a:ext cx="384048" cy="384048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63093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812280" y="1554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30936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청크를 근거로 답하고 출처를 표시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3093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조항 번호와 함께 답변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611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40080" y="3703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쓰나
</a:t>
            </a: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최신 규정과 사내 문서를 학습하지 못했다. 원문 조각을 함께 보여 주어 지어내기(할루시네이션)를 줄인다.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663440" y="3611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4846320" y="3703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주의할 점
</a:t>
            </a: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엉뚱한 조각을 찾으면 답도 틀린다. 제시된 근거 조항이 질문과 실제로 관련 있는지 원문과 대조한다.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청크: 문서를 왜 쪼개서 검색할까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통째로 넘기면 느리고 비용이 커진다 → 필요한 조각만 골라 넘긴다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작게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단위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B8C7CA"/>
          </a:solidFill>
          <a:ln w="12700">
            <a:solidFill>
              <a:srgbClr val="B8C7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문맥이 끊겨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엉뚱하게 해석될 수 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47472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적당하게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1개 · 문단 1개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47472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정확하게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0936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크게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챕터 단위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2057400" cy="274320"/>
          </a:xfrm>
          <a:prstGeom prst="roundRect">
            <a:avLst>
              <a:gd name="adj" fmla="val 16667"/>
            </a:avLst>
          </a:prstGeom>
          <a:solidFill>
            <a:srgbClr val="B8C7CA"/>
          </a:solidFill>
          <a:ln w="12700">
            <a:solidFill>
              <a:srgbClr val="B8C7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30936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내용이 섞여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정확도가 떨어진다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오버랩  </a:t>
            </a: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잘린 경계에서 문맥이 끊기지 않도록 앞뒤 청크를 조금 겹쳐 자르는 것이 일반적이다.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트러블슈팅: 청크가 너무 크면 정확도가 떨어지고, 너무 작으면 문맥이 끊긴다 → 강사 권장값으로 시작한 뒤 조정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구조가 다르면 자르는 방법도 다르다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1에서 두 문서를 같은 환경에 올려 비교합니다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통관규정집 (조항형)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3쪽 · 7개 장 · 29개 조항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제○조 번호로 뚜렷함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432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단위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243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 1개 (약 100~300자)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540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540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0~10%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8386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표시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838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"제14조" 같은 조항 번호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1363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13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제14조(2)는 "제15~19조"를 가리켜 떼어 내면 뜻이 불완전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F3F1EA"/>
          </a:solidFill>
          <a:ln w="12700">
            <a:solidFill>
              <a:srgbClr val="F3F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가이드라인 (서술형)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2쪽 · 7개 절 · 16개 문단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없어 애매함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62432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단위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26243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1~2개 + 절 제목 (약 120~300자)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0540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30540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15~20%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48386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표시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34838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"5. 공급망 실사 절차" 같은 절 제목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91363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715000" y="3913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문단에 주제가 이어지고, 5절은 쪽 경계에서 문장이 끊김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시작값은 예시입니다. 문서가 짧아 크기가 작으며, 수백 쪽 규정집은 보통 300~800자에서 시작합니다. 강사 권장값이 있으면 우선합니다.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크기를 바꾸면 무엇이 달라질까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예제 6 참고값: 통관규정집 v1, 질의 10건, TF-IDF 검색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4805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463040"/>
          <a:ext cx="352044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청크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청크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3위 안에 정답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조항 1개씩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/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조항 2개씩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/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조항 5개씩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/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166360" y="32004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5349240" y="3273552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
</a:t>
            </a: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찾는 횟수는 비슷하지만, 청크가 커질수록 정답과 상관없는 조항이 함께 딸려 온다. 이것이 정밀도가 떨어진다는 뜻이다.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"의미가 가깝다"를 컴퓨터는 어떻게 계산할까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유사도 검색 (코사인 유사도)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0" cy="2743200"/>
          </a:xfrm>
          <a:prstGeom prst="line">
            <a:avLst/>
          </a:prstGeom>
          <a:noFill/>
          <a:ln w="12700">
            <a:solidFill>
              <a:srgbClr val="AFC0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3108960" cy="0"/>
          </a:xfrm>
          <a:prstGeom prst="line">
            <a:avLst/>
          </a:prstGeom>
          <a:noFill/>
          <a:ln w="12700">
            <a:solidFill>
              <a:srgbClr val="AFC0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914400" y="2194560"/>
            <a:ext cx="2377440" cy="210312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flipV="1">
            <a:off x="914400" y="2468880"/>
            <a:ext cx="2651760" cy="1828800"/>
          </a:xfrm>
          <a:prstGeom prst="line">
            <a:avLst/>
          </a:prstGeom>
          <a:noFill/>
          <a:ln w="38100">
            <a:solidFill>
              <a:srgbClr val="0E4D5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 flipV="1">
            <a:off x="914400" y="2011680"/>
            <a:ext cx="640080" cy="2286000"/>
          </a:xfrm>
          <a:prstGeom prst="line">
            <a:avLst/>
          </a:prstGeom>
          <a:noFill/>
          <a:ln w="38100">
            <a:solidFill>
              <a:srgbClr val="8FA1A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3774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876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제14조 청크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C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제28조 청크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비슷할수록 의미도 비슷하다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6634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청크를 숫자(벡터)로 바꾼다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039112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66344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039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얼마나 비슷한지 계산한다 (코사인 유사도)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660904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66344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6609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비슷한 청크 상위 3개를 결과로 보여 준다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3375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28032" y="3401568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보장하지는 않는다
</a:t>
            </a: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"순중량 차이는 어디까지 허용되나?"에서 1위가 제10조가 아니라 제8조로 나왔다. 정답은 2위였다. 1위만 믿지 말고 원문과 대조한다.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대시보드는 TF-IDF(글자 조각 빈도)로 같은 원리를 간단히 구현한다.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= 지금까지 만든 것을 한 화면에 연결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AI를 처음부터 만드는 것이 아니라, 이미 만든 프롬프트·모델·검증을 화면 버튼과 연결한다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93192" cy="393192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" y="1607058"/>
            <a:ext cx="196596" cy="1965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4173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검색창 (RAG)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591056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417320"/>
            <a:ext cx="3840480" cy="576072"/>
          </a:xfrm>
          <a:prstGeom prst="roundRect">
            <a:avLst>
              <a:gd name="adj" fmla="val 12698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029200" y="141732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1일차 CoT 프롬프트로 규제 원문 해석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10312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66928" y="2194560"/>
            <a:ext cx="393192" cy="393192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" y="2292858"/>
            <a:ext cx="196596" cy="1965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1031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서류 리스크 표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76856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46320" y="2103120"/>
            <a:ext cx="3840480" cy="576072"/>
          </a:xfrm>
          <a:prstGeom prst="roundRect">
            <a:avLst>
              <a:gd name="adj" fmla="val 12698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5029200" y="210312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2일차 리스크 키워드 분류 · 마스터 데이터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278892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566928" y="2880360"/>
            <a:ext cx="393192" cy="393192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" y="2978658"/>
            <a:ext cx="196596" cy="1965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27889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HS Code·ESG 위험도 예측 패널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962656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846320" y="2788920"/>
            <a:ext cx="3840480" cy="576072"/>
          </a:xfrm>
          <a:prstGeom prst="roundRect">
            <a:avLst>
              <a:gd name="adj" fmla="val 12698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5029200" y="278892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3일차 지도학습 분류 모델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347472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566928" y="3566160"/>
            <a:ext cx="393192" cy="393192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" y="3664458"/>
            <a:ext cx="196596" cy="19659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97280" y="34747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검증 결과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648456"/>
            <a:ext cx="228600" cy="2286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4846320" y="3474720"/>
            <a:ext cx="3840480" cy="576072"/>
          </a:xfrm>
          <a:prstGeom prst="roundRect">
            <a:avLst>
              <a:gd name="adj" fmla="val 12698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1"/>
          <p:cNvSpPr txBox="1"/>
          <p:nvPr/>
        </p:nvSpPr>
        <p:spPr>
          <a:xfrm>
            <a:off x="5029200" y="347472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4일차 규칙+AI 결합 검증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457200" y="416052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3"/>
          <p:cNvSpPr/>
          <p:nvPr/>
        </p:nvSpPr>
        <p:spPr>
          <a:xfrm>
            <a:off x="566928" y="4251960"/>
            <a:ext cx="393192" cy="393192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226" y="4350258"/>
            <a:ext cx="196596" cy="19659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97280" y="416052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알림 영역</a:t>
            </a:r>
            <a:endParaRPr lang="en-US" sz="13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334256"/>
            <a:ext cx="228600" cy="22860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846320" y="4160520"/>
            <a:ext cx="3840480" cy="576072"/>
          </a:xfrm>
          <a:prstGeom prst="roundRect">
            <a:avLst>
              <a:gd name="adj" fmla="val 12698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/>
          <p:cNvSpPr txBox="1"/>
          <p:nvPr/>
        </p:nvSpPr>
        <p:spPr>
          <a:xfrm>
            <a:off x="5029200" y="416052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새로 추가하는 기능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대시보드를 만드는 4가지 원칙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3에서 화면을 스케치한 뒤 이 기준으로 점검합니다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위계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정보를 위·왼쪽에 가장 크게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화면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위에 "알림 대상 · 고위험 · 검증 불일치" 카드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과부하 방지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화면의 덩어리는 5~7개 이하, 넘으면 탭으로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화면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4개로 나눔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성격의 정보는 같은 위치·같은 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화면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= 빨강, 정상 = 초록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365760" cy="365760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463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가능성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주기로 끝내지 않고 다음 행동 버튼까지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화면  </a:t>
            </a:r>
            <a:r>
              <a:rPr lang="en-US" sz="11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카드에서 담당자에게 보낼 초안 확인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431596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114800" y="4315968"/>
            <a:ext cx="182880" cy="1828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알림의 원리와 알아둘 상식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조건이 충족되면 → 정해진 동작을 실행한다 (규칙 기반 로직의 연장)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D5EAEA"/>
          </a:solidFill>
          <a:ln w="12700">
            <a:solidFill>
              <a:srgbClr val="D5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위험 확률이 기준값 이상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교차 검증 불일치 발견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993392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40" y="14173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4747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유형별 담당자에게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알림 메일 초안 생성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99339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14173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63093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DRY RUN: 초안만 화면에 표시,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발송은 하지 않음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40080" y="3154680"/>
            <a:ext cx="420624" cy="420624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32598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3154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프로그램끼리 요청·응답을 주고받는 약속. 식당 메뉴판에 비유한다.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91840" y="301752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3474720" y="3154680"/>
            <a:ext cx="420624" cy="420624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876" y="3259836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023360" y="3154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347472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요청하는 쪽이 내는 비밀번호. 코드나 프롬프트에 직접 적지 않는다.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126480" y="301752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6309360" y="3154680"/>
            <a:ext cx="420624" cy="420624"/>
          </a:xfrm>
          <a:prstGeom prst="ellipse">
            <a:avLst/>
          </a:prstGeom>
          <a:solidFill>
            <a:srgbClr val="0E4D5A"/>
          </a:solidFill>
          <a:ln w="12700">
            <a:solidFill>
              <a:srgbClr val="0E4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3259836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0" y="3154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과금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309360" y="37033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입력·출력 토큰만큼 비용. 호출 횟수가 늘면 비용도 커지고, RAG는 필요한 청크만 보내 줄여 준다.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전에 기억할 4가지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조항은 항상 원문과 대조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제시한 조항 번호가 실제로 있는지, 질문과 관련 있는지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92040" y="164592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1위만 믿지 않기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정답이 2·3위로 나오는 경우가 있다. 상위 결과를 함께 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91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유형의 문서를 넣으면 검색부터 확인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문서마다 구조가 달라 청크 기준도 달라진다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92040" y="333756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8920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291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키·비밀번호는 적지 않기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EA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코드, 화면, 프롬프트에 직접 넣지 않고 알림은 DRY RUN으로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화면 슬라이드 쇼(16:9)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5일차 핵심 개념</dc:title>
  <dc:subject>PptxGenJS Presentation</dc:subject>
  <dc:creator>PptxGenJS</dc:creator>
  <cp:lastModifiedBy>찬우 윤</cp:lastModifiedBy>
  <cp:revision>1</cp:revision>
  <dcterms:created xsi:type="dcterms:W3CDTF">2026-09-21T15:11:56Z</dcterms:created>
  <dcterms:modified xsi:type="dcterms:W3CDTF">2026-09-21T15:22:02Z</dcterms:modified>
</cp:coreProperties>
</file>